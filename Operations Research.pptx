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handoutMasterIdLst>
    <p:handoutMasterId r:id="rId19"/>
  </p:handoutMasterIdLst>
  <p:sldIdLst>
    <p:sldId id="257" r:id="rId2"/>
    <p:sldId id="258" r:id="rId3"/>
    <p:sldId id="259" r:id="rId4"/>
    <p:sldId id="265" r:id="rId5"/>
    <p:sldId id="266" r:id="rId6"/>
    <p:sldId id="267" r:id="rId7"/>
    <p:sldId id="268" r:id="rId8"/>
    <p:sldId id="269" r:id="rId9"/>
    <p:sldId id="270" r:id="rId10"/>
    <p:sldId id="271" r:id="rId11"/>
    <p:sldId id="272" r:id="rId12"/>
    <p:sldId id="273" r:id="rId13"/>
    <p:sldId id="274" r:id="rId14"/>
    <p:sldId id="275" r:id="rId15"/>
    <p:sldId id="276" r:id="rId16"/>
    <p:sldId id="263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art 0: Introduction" id="{53949132-1756-4C98-BA09-BA8FAFB6D166}">
          <p14:sldIdLst>
            <p14:sldId id="257"/>
            <p14:sldId id="258"/>
          </p14:sldIdLst>
        </p14:section>
        <p14:section name="Part 1: Problem Framing: Black-Box Simulation Optimization" id="{8683B296-63A4-44B3-A69A-6ED38BD2616A}">
          <p14:sldIdLst>
            <p14:sldId id="259"/>
            <p14:sldId id="265"/>
            <p14:sldId id="266"/>
          </p14:sldIdLst>
        </p14:section>
        <p14:section name="Part 2: Core OR challenge: optimizing under noise and limited budget" id="{83F3F71D-ACEB-462A-8F9B-DA73417E4CED}">
          <p14:sldIdLst>
            <p14:sldId id="267"/>
            <p14:sldId id="268"/>
            <p14:sldId id="269"/>
          </p14:sldIdLst>
        </p14:section>
        <p14:section name="Part 3: Demonstration: optimization through simulation" id="{9ECDE5F2-DEEC-4FFA-B398-3C0546F77280}">
          <p14:sldIdLst>
            <p14:sldId id="270"/>
            <p14:sldId id="271"/>
            <p14:sldId id="272"/>
          </p14:sldIdLst>
        </p14:section>
        <p14:section name="Part 4: Implications: applications and key takeaways" id="{9CCA7B6F-DCCF-42BE-9291-75CB4C7F03FA}">
          <p14:sldIdLst>
            <p14:sldId id="273"/>
            <p14:sldId id="274"/>
            <p14:sldId id="275"/>
            <p14:sldId id="276"/>
          </p14:sldIdLst>
        </p14:section>
        <p14:section name="Part 5: Thank you and questions" id="{0ABCD72E-AF0D-404B-9FED-13CEBBEBF61A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DEDED"/>
    <a:srgbClr val="D65D26"/>
    <a:srgbClr val="57A5A3"/>
    <a:srgbClr val="191970"/>
    <a:srgbClr val="36454F"/>
    <a:srgbClr val="383838"/>
    <a:srgbClr val="3C4142"/>
    <a:srgbClr val="5D575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29" autoAdjust="0"/>
    <p:restoredTop sz="94660"/>
  </p:normalViewPr>
  <p:slideViewPr>
    <p:cSldViewPr snapToGrid="0">
      <p:cViewPr varScale="1">
        <p:scale>
          <a:sx n="67" d="100"/>
          <a:sy n="67" d="100"/>
        </p:scale>
        <p:origin x="150" y="4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9E746A2C-2688-99F3-3BE5-70CD89246AB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DBE70CC-6D8D-435E-229A-1B8E504DACC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89A3F73-276D-4D06-A959-F6C1EBE6FB8D}" type="datetimeFigureOut">
              <a:rPr lang="en-US" smtClean="0"/>
              <a:t>23-Dec-25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4170F7C-2E76-BEF1-BE5C-CE8ED673F9A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271F03-30A1-C133-691C-19CBF8C0E9D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CB877BD-1EE3-4ADB-B91C-8DACBD66F5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65087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4A7B33-C2DF-4645-9AC7-920809017164}" type="datetimeFigureOut">
              <a:rPr lang="en-US" smtClean="0"/>
              <a:t>23-Dec-25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02EDDA-DB12-4862-9182-4C7198C3EF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99378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1FF1A4-C592-93C0-8134-EE659A2FCD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5480C6C-9A0D-C282-BB87-FCBC2502F4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1E4480-221E-BB12-3FD3-9A77B0DB69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B393B5-1469-4001-9C5D-FEE416E463A0}" type="datetimeFigureOut">
              <a:rPr lang="en-US" smtClean="0"/>
              <a:t>23-Dec-25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61BDEB-F856-B6B7-44A8-DD0CE51BA0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40D059-3FD4-F991-6490-59C0A37919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F6F2C9-A395-4D56-BDE2-190AB1915F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17510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1F79FE-8785-D176-41CB-E0969E302F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97BB9E-0C05-10DF-0C83-C7C73D093F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80FC4F-900A-F40F-6A30-FAC1855097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B393B5-1469-4001-9C5D-FEE416E463A0}" type="datetimeFigureOut">
              <a:rPr lang="en-US" smtClean="0"/>
              <a:t>23-Dec-25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2FA288-9F55-4155-4C30-66F0FA7108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9EFBA2-9668-B422-E5CD-9F76FB82BD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F6F2C9-A395-4D56-BDE2-190AB1915F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56701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3620BD-A6B9-F6A9-0926-A44CC73E34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8AED41-B243-3E80-AEF0-E90A2052A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5EFB01-F7FF-1CBB-1C9B-D56A0407F2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B393B5-1469-4001-9C5D-FEE416E463A0}" type="datetimeFigureOut">
              <a:rPr lang="en-US" smtClean="0"/>
              <a:t>23-Dec-25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2038E6-C552-B324-6AB4-818229D312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858AFC-CCFA-18E4-75F1-16F5C004A5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F6F2C9-A395-4D56-BDE2-190AB1915F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49275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CDE9A5-0F4B-C0F4-BE53-32A4305626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BDB13C-DE9A-D847-9636-AFF75694B9E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D1B30EB-26BE-DBB2-FF7D-9716629C4C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5155C6-2CAE-9B6D-F734-CED3505EC0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B393B5-1469-4001-9C5D-FEE416E463A0}" type="datetimeFigureOut">
              <a:rPr lang="en-US" smtClean="0"/>
              <a:t>23-Dec-25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B86988-4D84-3D4F-B0C9-9C0ACEF91B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D40C15-1838-0441-C020-5DC13D3B62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F6F2C9-A395-4D56-BDE2-190AB1915F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3180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2BABB3-45EE-4A79-CD64-F09B22FCF4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4AA654-F07B-5CA5-3D27-0928E74DA9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7A9AF6B-6E7E-AAC3-8D0E-DE290CF1D1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6B16C1B-820C-0419-E533-FB05433BACF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19EB55B-8C78-E7C6-5CE6-A9C7C056E06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088E546-B552-D1D6-340A-E7F627B18B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B393B5-1469-4001-9C5D-FEE416E463A0}" type="datetimeFigureOut">
              <a:rPr lang="en-US" smtClean="0"/>
              <a:t>23-Dec-25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78BA665-6A54-2CB0-BDEA-C2C7A72953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4A1D655-2CDF-B95B-B800-B6F373CC52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F6F2C9-A395-4D56-BDE2-190AB1915F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20178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83AA77-47AA-E6FD-4ED8-E7FBBE840D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0DCD7BD-1E03-6707-9AD5-58787A5008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B393B5-1469-4001-9C5D-FEE416E463A0}" type="datetimeFigureOut">
              <a:rPr lang="en-US" smtClean="0"/>
              <a:t>23-Dec-25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90C12E4-F8B6-A7F6-A583-D2FFA962E0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7DCA8C-718A-66F9-96B3-380FD61E01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F6F2C9-A395-4D56-BDE2-190AB1915F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3085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A63AABE-8597-A74C-DCF6-D004D1BED2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B393B5-1469-4001-9C5D-FEE416E463A0}" type="datetimeFigureOut">
              <a:rPr lang="en-US" smtClean="0"/>
              <a:t>23-Dec-25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719A4A0-93DF-54D4-FDDD-E72D8EE85F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07BA48-0DF5-5B68-1AC0-ABA755BDA1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F6F2C9-A395-4D56-BDE2-190AB1915F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44147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FC60E0-83C8-FAB6-E9F9-B2F84CA5B9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761797-A291-875E-54E1-0939DDDA2A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619906-18D9-9412-DCDA-6A7D6198A1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5A81E1-7E5E-AF53-8DFB-C9CE2DB058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B393B5-1469-4001-9C5D-FEE416E463A0}" type="datetimeFigureOut">
              <a:rPr lang="en-US" smtClean="0"/>
              <a:t>23-Dec-25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26765C-C52F-6AF1-CC1B-662EB1BF23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692435-D43E-E065-7DBC-4DFF700B2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F6F2C9-A395-4D56-BDE2-190AB1915F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34492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24344C-8E6F-207A-3FDE-4033CCC439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9C83868-A28C-B3D2-48FE-231AEB0FC4E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C3C4F5-81BE-1273-32D0-6695BD29C1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A8943C-4544-D640-00DF-0A382BAB2E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B393B5-1469-4001-9C5D-FEE416E463A0}" type="datetimeFigureOut">
              <a:rPr lang="en-US" smtClean="0"/>
              <a:t>23-Dec-25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E7D303-B820-9A78-AE9F-1EEE9C3F46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0490AD-1FEC-BA8A-33A8-B003DA4726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F6F2C9-A395-4D56-BDE2-190AB1915F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56498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4BF7C6-DA35-9259-6943-16A9DEC10E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128DAC5-313A-749A-4E22-766A1B272B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307635-194F-6341-8DAE-8612934AFB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B393B5-1469-4001-9C5D-FEE416E463A0}" type="datetimeFigureOut">
              <a:rPr lang="en-US" smtClean="0"/>
              <a:t>23-Dec-25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ED377E-2727-BC25-1D57-3BC2E87097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EFDDAE-8721-E1E4-0AA0-F9B0F20345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F6F2C9-A395-4D56-BDE2-190AB1915F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99828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D37C5B2-4172-3CAF-C9A9-C8FDD0643C0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B636DCE-6271-214C-DDB7-CC6D522621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4A50F6-A2FA-9289-63EE-2EEA43129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B393B5-1469-4001-9C5D-FEE416E463A0}" type="datetimeFigureOut">
              <a:rPr lang="en-US" smtClean="0"/>
              <a:t>23-Dec-25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FA8ADC-5C73-FB2C-2CA8-71E9F21103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39F0F0-4E2B-06F7-4C9C-0E1CDB4BA6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F6F2C9-A395-4D56-BDE2-190AB1915F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09320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91A8AAE-CE0F-9395-45E5-CABAFC850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5E79D2-F9C0-A74E-5F7B-46315AF994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6F3685-AA07-27A4-62E2-6A5516C086E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CB393B5-1469-4001-9C5D-FEE416E463A0}" type="datetimeFigureOut">
              <a:rPr lang="en-US" smtClean="0"/>
              <a:t>23-Dec-25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0A2E63-F6EC-3605-A46C-4AF86393E3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DF7864-42FB-985E-7A1F-340ECE286F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CF6F2C9-A395-4D56-BDE2-190AB1915F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11521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20000">
              <a:schemeClr val="bg1">
                <a:lumMod val="95000"/>
              </a:schemeClr>
            </a:gs>
            <a:gs pos="78000">
              <a:schemeClr val="tx1">
                <a:lumMod val="95000"/>
                <a:lumOff val="5000"/>
              </a:schemeClr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>
            <a:extLst>
              <a:ext uri="{FF2B5EF4-FFF2-40B4-BE49-F238E27FC236}">
                <a16:creationId xmlns:a16="http://schemas.microsoft.com/office/drawing/2014/main" id="{5BF78C5D-3F75-F715-16A8-F3C42641DB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417"/>
          <a:stretch>
            <a:fillRect/>
          </a:stretch>
        </p:blipFill>
        <p:spPr>
          <a:xfrm>
            <a:off x="4559473" y="-866155"/>
            <a:ext cx="7632527" cy="7724155"/>
          </a:xfrm>
          <a:custGeom>
            <a:avLst/>
            <a:gdLst>
              <a:gd name="connsiteX0" fmla="*/ 3656412 w 6776647"/>
              <a:gd name="connsiteY0" fmla="*/ 5054965 h 6858000"/>
              <a:gd name="connsiteX1" fmla="*/ 4113979 w 6776647"/>
              <a:gd name="connsiteY1" fmla="*/ 5244495 h 6858000"/>
              <a:gd name="connsiteX2" fmla="*/ 4131893 w 6776647"/>
              <a:gd name="connsiteY2" fmla="*/ 5262409 h 6858000"/>
              <a:gd name="connsiteX3" fmla="*/ 4131892 w 6776647"/>
              <a:gd name="connsiteY3" fmla="*/ 6177545 h 6858000"/>
              <a:gd name="connsiteX4" fmla="*/ 4043288 w 6776647"/>
              <a:gd name="connsiteY4" fmla="*/ 6266149 h 6858000"/>
              <a:gd name="connsiteX5" fmla="*/ 3128155 w 6776647"/>
              <a:gd name="connsiteY5" fmla="*/ 6266149 h 6858000"/>
              <a:gd name="connsiteX6" fmla="*/ 3110241 w 6776647"/>
              <a:gd name="connsiteY6" fmla="*/ 6248235 h 6858000"/>
              <a:gd name="connsiteX7" fmla="*/ 3110240 w 6776647"/>
              <a:gd name="connsiteY7" fmla="*/ 5333099 h 6858000"/>
              <a:gd name="connsiteX8" fmla="*/ 3198844 w 6776647"/>
              <a:gd name="connsiteY8" fmla="*/ 5244495 h 6858000"/>
              <a:gd name="connsiteX9" fmla="*/ 3656412 w 6776647"/>
              <a:gd name="connsiteY9" fmla="*/ 5054965 h 6858000"/>
              <a:gd name="connsiteX10" fmla="*/ 6776647 w 6776647"/>
              <a:gd name="connsiteY10" fmla="*/ 4307086 h 6858000"/>
              <a:gd name="connsiteX11" fmla="*/ 6776647 w 6776647"/>
              <a:gd name="connsiteY11" fmla="*/ 5306043 h 6858000"/>
              <a:gd name="connsiteX12" fmla="*/ 5224689 w 6776647"/>
              <a:gd name="connsiteY12" fmla="*/ 6858000 h 6858000"/>
              <a:gd name="connsiteX13" fmla="*/ 4225733 w 6776647"/>
              <a:gd name="connsiteY13" fmla="*/ 6858000 h 6858000"/>
              <a:gd name="connsiteX14" fmla="*/ 6776647 w 6776647"/>
              <a:gd name="connsiteY14" fmla="*/ 1775039 h 6858000"/>
              <a:gd name="connsiteX15" fmla="*/ 6776647 w 6776647"/>
              <a:gd name="connsiteY15" fmla="*/ 3615452 h 6858000"/>
              <a:gd name="connsiteX16" fmla="*/ 5493702 w 6776647"/>
              <a:gd name="connsiteY16" fmla="*/ 4898396 h 6858000"/>
              <a:gd name="connsiteX17" fmla="*/ 4578567 w 6776647"/>
              <a:gd name="connsiteY17" fmla="*/ 4898396 h 6858000"/>
              <a:gd name="connsiteX18" fmla="*/ 4560653 w 6776647"/>
              <a:gd name="connsiteY18" fmla="*/ 4880482 h 6858000"/>
              <a:gd name="connsiteX19" fmla="*/ 4560653 w 6776647"/>
              <a:gd name="connsiteY19" fmla="*/ 3965347 h 6858000"/>
              <a:gd name="connsiteX20" fmla="*/ 6660166 w 6776647"/>
              <a:gd name="connsiteY20" fmla="*/ 1865835 h 6858000"/>
              <a:gd name="connsiteX21" fmla="*/ 6761678 w 6776647"/>
              <a:gd name="connsiteY21" fmla="*/ 1782916 h 6858000"/>
              <a:gd name="connsiteX22" fmla="*/ 5881240 w 6776647"/>
              <a:gd name="connsiteY22" fmla="*/ 18786 h 6858000"/>
              <a:gd name="connsiteX23" fmla="*/ 6475267 w 6776647"/>
              <a:gd name="connsiteY23" fmla="*/ 264840 h 6858000"/>
              <a:gd name="connsiteX24" fmla="*/ 6498525 w 6776647"/>
              <a:gd name="connsiteY24" fmla="*/ 288097 h 6858000"/>
              <a:gd name="connsiteX25" fmla="*/ 6498525 w 6776647"/>
              <a:gd name="connsiteY25" fmla="*/ 1476151 h 6858000"/>
              <a:gd name="connsiteX26" fmla="*/ 2949108 w 6776647"/>
              <a:gd name="connsiteY26" fmla="*/ 5025568 h 6858000"/>
              <a:gd name="connsiteX27" fmla="*/ 1761054 w 6776647"/>
              <a:gd name="connsiteY27" fmla="*/ 5025568 h 6858000"/>
              <a:gd name="connsiteX28" fmla="*/ 1737797 w 6776647"/>
              <a:gd name="connsiteY28" fmla="*/ 5002311 h 6858000"/>
              <a:gd name="connsiteX29" fmla="*/ 1737797 w 6776647"/>
              <a:gd name="connsiteY29" fmla="*/ 3814257 h 6858000"/>
              <a:gd name="connsiteX30" fmla="*/ 5287213 w 6776647"/>
              <a:gd name="connsiteY30" fmla="*/ 264840 h 6858000"/>
              <a:gd name="connsiteX31" fmla="*/ 5881240 w 6776647"/>
              <a:gd name="connsiteY31" fmla="*/ 18786 h 6858000"/>
              <a:gd name="connsiteX32" fmla="*/ 3421136 w 6776647"/>
              <a:gd name="connsiteY32" fmla="*/ 0 h 6858000"/>
              <a:gd name="connsiteX33" fmla="*/ 5065590 w 6776647"/>
              <a:gd name="connsiteY33" fmla="*/ 0 h 6858000"/>
              <a:gd name="connsiteX34" fmla="*/ 5058235 w 6776647"/>
              <a:gd name="connsiteY34" fmla="*/ 13976 h 6858000"/>
              <a:gd name="connsiteX35" fmla="*/ 4984132 w 6776647"/>
              <a:gd name="connsiteY35" fmla="*/ 104695 h 6858000"/>
              <a:gd name="connsiteX36" fmla="*/ 1478980 w 6776647"/>
              <a:gd name="connsiteY36" fmla="*/ 3609848 h 6858000"/>
              <a:gd name="connsiteX37" fmla="*/ 661145 w 6776647"/>
              <a:gd name="connsiteY37" fmla="*/ 3609848 h 6858000"/>
              <a:gd name="connsiteX38" fmla="*/ 645135 w 6776647"/>
              <a:gd name="connsiteY38" fmla="*/ 3593837 h 6858000"/>
              <a:gd name="connsiteX39" fmla="*/ 645135 w 6776647"/>
              <a:gd name="connsiteY39" fmla="*/ 2776002 h 6858000"/>
              <a:gd name="connsiteX40" fmla="*/ 1313944 w 6776647"/>
              <a:gd name="connsiteY40" fmla="*/ 0 h 6858000"/>
              <a:gd name="connsiteX41" fmla="*/ 2570790 w 6776647"/>
              <a:gd name="connsiteY41" fmla="*/ 0 h 6858000"/>
              <a:gd name="connsiteX42" fmla="*/ 2582282 w 6776647"/>
              <a:gd name="connsiteY42" fmla="*/ 38778 h 6858000"/>
              <a:gd name="connsiteX43" fmla="*/ 2423489 w 6776647"/>
              <a:gd name="connsiteY43" fmla="*/ 558147 h 6858000"/>
              <a:gd name="connsiteX44" fmla="*/ 1003226 w 6776647"/>
              <a:gd name="connsiteY44" fmla="*/ 1978410 h 6858000"/>
              <a:gd name="connsiteX45" fmla="*/ 185390 w 6776647"/>
              <a:gd name="connsiteY45" fmla="*/ 1978410 h 6858000"/>
              <a:gd name="connsiteX46" fmla="*/ 169380 w 6776647"/>
              <a:gd name="connsiteY46" fmla="*/ 1962401 h 6858000"/>
              <a:gd name="connsiteX47" fmla="*/ 169380 w 6776647"/>
              <a:gd name="connsiteY47" fmla="*/ 114456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</a:cxnLst>
            <a:rect l="l" t="t" r="r" b="b"/>
            <a:pathLst>
              <a:path w="6776647" h="6858000">
                <a:moveTo>
                  <a:pt x="3656412" y="5054965"/>
                </a:moveTo>
                <a:cubicBezTo>
                  <a:pt x="3822019" y="5054965"/>
                  <a:pt x="3987625" y="5118142"/>
                  <a:pt x="4113979" y="5244495"/>
                </a:cubicBezTo>
                <a:lnTo>
                  <a:pt x="4131893" y="5262409"/>
                </a:lnTo>
                <a:cubicBezTo>
                  <a:pt x="4384601" y="5515117"/>
                  <a:pt x="4384601" y="5924838"/>
                  <a:pt x="4131892" y="6177545"/>
                </a:cubicBezTo>
                <a:lnTo>
                  <a:pt x="4043288" y="6266149"/>
                </a:lnTo>
                <a:cubicBezTo>
                  <a:pt x="3790582" y="6518855"/>
                  <a:pt x="3380861" y="6518855"/>
                  <a:pt x="3128155" y="6266149"/>
                </a:cubicBezTo>
                <a:lnTo>
                  <a:pt x="3110241" y="6248235"/>
                </a:lnTo>
                <a:cubicBezTo>
                  <a:pt x="2857533" y="5995527"/>
                  <a:pt x="2857533" y="5585807"/>
                  <a:pt x="3110240" y="5333099"/>
                </a:cubicBezTo>
                <a:lnTo>
                  <a:pt x="3198844" y="5244495"/>
                </a:lnTo>
                <a:cubicBezTo>
                  <a:pt x="3325198" y="5118143"/>
                  <a:pt x="3490804" y="5054965"/>
                  <a:pt x="3656412" y="5054965"/>
                </a:cubicBezTo>
                <a:close/>
                <a:moveTo>
                  <a:pt x="6776647" y="4307086"/>
                </a:moveTo>
                <a:lnTo>
                  <a:pt x="6776647" y="5306043"/>
                </a:lnTo>
                <a:lnTo>
                  <a:pt x="5224689" y="6858000"/>
                </a:lnTo>
                <a:lnTo>
                  <a:pt x="4225733" y="6858000"/>
                </a:lnTo>
                <a:close/>
                <a:moveTo>
                  <a:pt x="6776647" y="1775039"/>
                </a:moveTo>
                <a:lnTo>
                  <a:pt x="6776647" y="3615452"/>
                </a:lnTo>
                <a:lnTo>
                  <a:pt x="5493702" y="4898396"/>
                </a:lnTo>
                <a:cubicBezTo>
                  <a:pt x="5240995" y="5151104"/>
                  <a:pt x="4831276" y="5151103"/>
                  <a:pt x="4578567" y="4898396"/>
                </a:cubicBezTo>
                <a:lnTo>
                  <a:pt x="4560653" y="4880482"/>
                </a:lnTo>
                <a:cubicBezTo>
                  <a:pt x="4307946" y="4627775"/>
                  <a:pt x="4307946" y="4218054"/>
                  <a:pt x="4560653" y="3965347"/>
                </a:cubicBezTo>
                <a:lnTo>
                  <a:pt x="6660166" y="1865835"/>
                </a:lnTo>
                <a:cubicBezTo>
                  <a:pt x="6691755" y="1834247"/>
                  <a:pt x="6725796" y="1806607"/>
                  <a:pt x="6761678" y="1782916"/>
                </a:cubicBezTo>
                <a:close/>
                <a:moveTo>
                  <a:pt x="5881240" y="18786"/>
                </a:moveTo>
                <a:cubicBezTo>
                  <a:pt x="6096236" y="18786"/>
                  <a:pt x="6311231" y="100804"/>
                  <a:pt x="6475267" y="264840"/>
                </a:cubicBezTo>
                <a:lnTo>
                  <a:pt x="6498525" y="288097"/>
                </a:lnTo>
                <a:cubicBezTo>
                  <a:pt x="6826598" y="616169"/>
                  <a:pt x="6826598" y="1148079"/>
                  <a:pt x="6498525" y="1476151"/>
                </a:cubicBezTo>
                <a:lnTo>
                  <a:pt x="2949108" y="5025568"/>
                </a:lnTo>
                <a:cubicBezTo>
                  <a:pt x="2621036" y="5353640"/>
                  <a:pt x="2089127" y="5353640"/>
                  <a:pt x="1761054" y="5025568"/>
                </a:cubicBezTo>
                <a:lnTo>
                  <a:pt x="1737797" y="5002311"/>
                </a:lnTo>
                <a:cubicBezTo>
                  <a:pt x="1409725" y="4674239"/>
                  <a:pt x="1409725" y="4142329"/>
                  <a:pt x="1737797" y="3814257"/>
                </a:cubicBezTo>
                <a:lnTo>
                  <a:pt x="5287213" y="264840"/>
                </a:lnTo>
                <a:cubicBezTo>
                  <a:pt x="5451251" y="100804"/>
                  <a:pt x="5666245" y="18785"/>
                  <a:pt x="5881240" y="18786"/>
                </a:cubicBezTo>
                <a:close/>
                <a:moveTo>
                  <a:pt x="3421136" y="0"/>
                </a:moveTo>
                <a:lnTo>
                  <a:pt x="5065590" y="0"/>
                </a:lnTo>
                <a:lnTo>
                  <a:pt x="5058235" y="13976"/>
                </a:lnTo>
                <a:cubicBezTo>
                  <a:pt x="5037063" y="46043"/>
                  <a:pt x="5012362" y="76465"/>
                  <a:pt x="4984132" y="104695"/>
                </a:cubicBezTo>
                <a:lnTo>
                  <a:pt x="1478980" y="3609848"/>
                </a:lnTo>
                <a:cubicBezTo>
                  <a:pt x="1253141" y="3835687"/>
                  <a:pt x="886985" y="3835687"/>
                  <a:pt x="661145" y="3609848"/>
                </a:cubicBezTo>
                <a:lnTo>
                  <a:pt x="645135" y="3593837"/>
                </a:lnTo>
                <a:cubicBezTo>
                  <a:pt x="419295" y="3367998"/>
                  <a:pt x="419295" y="3001841"/>
                  <a:pt x="645135" y="2776002"/>
                </a:cubicBezTo>
                <a:close/>
                <a:moveTo>
                  <a:pt x="1313944" y="0"/>
                </a:moveTo>
                <a:lnTo>
                  <a:pt x="2570790" y="0"/>
                </a:lnTo>
                <a:lnTo>
                  <a:pt x="2582282" y="38778"/>
                </a:lnTo>
                <a:cubicBezTo>
                  <a:pt x="2617570" y="221036"/>
                  <a:pt x="2564639" y="416997"/>
                  <a:pt x="2423489" y="558147"/>
                </a:cubicBezTo>
                <a:lnTo>
                  <a:pt x="1003226" y="1978410"/>
                </a:lnTo>
                <a:cubicBezTo>
                  <a:pt x="777387" y="2204250"/>
                  <a:pt x="411230" y="2204250"/>
                  <a:pt x="185390" y="1978410"/>
                </a:cubicBezTo>
                <a:lnTo>
                  <a:pt x="169380" y="1962401"/>
                </a:lnTo>
                <a:cubicBezTo>
                  <a:pt x="-56460" y="1736561"/>
                  <a:pt x="-56460" y="1370404"/>
                  <a:pt x="169380" y="1144565"/>
                </a:cubicBezTo>
                <a:close/>
              </a:path>
            </a:pathLst>
          </a:custGeom>
          <a:effectLst>
            <a:innerShdw blurRad="63500" dist="50800" dir="16200000">
              <a:prstClr val="black">
                <a:alpha val="50000"/>
              </a:prstClr>
            </a:innerShdw>
          </a:effectLst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90A1ECC6-8360-1A20-B6E8-5B840B0796CE}"/>
              </a:ext>
            </a:extLst>
          </p:cNvPr>
          <p:cNvSpPr txBox="1"/>
          <p:nvPr/>
        </p:nvSpPr>
        <p:spPr>
          <a:xfrm>
            <a:off x="0" y="2118975"/>
            <a:ext cx="677664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D65D26"/>
                </a:solidFill>
                <a:latin typeface="Inter" panose="02000503000000020004" pitchFamily="2" charset="0"/>
                <a:ea typeface="Inter" panose="02000503000000020004" pitchFamily="2" charset="0"/>
              </a:rPr>
              <a:t>An introduction </a:t>
            </a:r>
            <a:r>
              <a:rPr lang="en-US" sz="3600" b="1" dirty="0">
                <a:solidFill>
                  <a:srgbClr val="EDEDED"/>
                </a:solidFill>
                <a:latin typeface="Inter" panose="02000503000000020004" pitchFamily="2" charset="0"/>
                <a:ea typeface="Inter" panose="02000503000000020004" pitchFamily="2" charset="0"/>
              </a:rPr>
              <a:t>to Black-Box Simulation Optimization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0212FF8-F556-C0ED-75E6-497AB418ECE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22128" y="-201933"/>
            <a:ext cx="2136272" cy="221638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B73EA27-6CAE-0260-4F7B-4704A67C351C}"/>
              </a:ext>
            </a:extLst>
          </p:cNvPr>
          <p:cNvSpPr txBox="1"/>
          <p:nvPr/>
        </p:nvSpPr>
        <p:spPr>
          <a:xfrm>
            <a:off x="179249" y="5392112"/>
            <a:ext cx="236741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EDEDED"/>
                </a:solidFill>
                <a:latin typeface="Montserrat" pitchFamily="2" charset="0"/>
              </a:rPr>
              <a:t>A project made for </a:t>
            </a:r>
            <a:r>
              <a:rPr lang="en-US" sz="1200" dirty="0">
                <a:solidFill>
                  <a:srgbClr val="D65D26"/>
                </a:solidFill>
                <a:latin typeface="Montserrat" pitchFamily="2" charset="0"/>
              </a:rPr>
              <a:t>Operations Research</a:t>
            </a:r>
          </a:p>
          <a:p>
            <a:endParaRPr lang="en-US" sz="1200" dirty="0">
              <a:solidFill>
                <a:srgbClr val="D65D26"/>
              </a:solidFill>
              <a:latin typeface="Montserrat" pitchFamily="2" charset="0"/>
            </a:endParaRPr>
          </a:p>
          <a:p>
            <a:r>
              <a:rPr lang="en-US" sz="1200" dirty="0">
                <a:solidFill>
                  <a:srgbClr val="EDEDED"/>
                </a:solidFill>
                <a:latin typeface="Montserrat" pitchFamily="2" charset="0"/>
              </a:rPr>
              <a:t>Supervised by Prof</a:t>
            </a:r>
            <a:r>
              <a:rPr lang="en-US" sz="1200" dirty="0">
                <a:solidFill>
                  <a:schemeClr val="bg1">
                    <a:lumMod val="85000"/>
                  </a:schemeClr>
                </a:solidFill>
                <a:latin typeface="Montserrat" pitchFamily="2" charset="0"/>
              </a:rPr>
              <a:t>. </a:t>
            </a:r>
            <a:r>
              <a:rPr lang="en-US" sz="1200" dirty="0">
                <a:solidFill>
                  <a:srgbClr val="D65D26"/>
                </a:solidFill>
                <a:latin typeface="Montserrat" pitchFamily="2" charset="0"/>
              </a:rPr>
              <a:t>Marwa Jaradat</a:t>
            </a:r>
          </a:p>
          <a:p>
            <a:endParaRPr lang="en-US" sz="1200" dirty="0">
              <a:solidFill>
                <a:srgbClr val="D65D26"/>
              </a:solidFill>
              <a:latin typeface="Montserrat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FE4A4E-50B6-D5A8-8A2B-9C0582788290}"/>
              </a:ext>
            </a:extLst>
          </p:cNvPr>
          <p:cNvSpPr txBox="1"/>
          <p:nvPr/>
        </p:nvSpPr>
        <p:spPr>
          <a:xfrm>
            <a:off x="87809" y="3755543"/>
            <a:ext cx="236741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EDEDED"/>
                </a:solidFill>
                <a:latin typeface="Montserrat" pitchFamily="2" charset="0"/>
              </a:rPr>
              <a:t>Project made by:</a:t>
            </a:r>
          </a:p>
          <a:p>
            <a:endParaRPr lang="en-US" sz="1200" dirty="0">
              <a:solidFill>
                <a:schemeClr val="bg1">
                  <a:lumMod val="85000"/>
                </a:schemeClr>
              </a:solidFill>
              <a:latin typeface="Montserrat" pitchFamily="2" charset="0"/>
            </a:endParaRPr>
          </a:p>
          <a:p>
            <a:pPr marL="228600" indent="-228600">
              <a:buAutoNum type="arabicPeriod"/>
            </a:pPr>
            <a:r>
              <a:rPr lang="en-US" sz="1200" dirty="0">
                <a:solidFill>
                  <a:srgbClr val="EDEDED"/>
                </a:solidFill>
                <a:latin typeface="Montserrat" pitchFamily="2" charset="0"/>
              </a:rPr>
              <a:t>Ahmad Zayed </a:t>
            </a:r>
            <a:r>
              <a:rPr lang="en-US" sz="1200" dirty="0">
                <a:solidFill>
                  <a:schemeClr val="bg1">
                    <a:lumMod val="85000"/>
                  </a:schemeClr>
                </a:solidFill>
                <a:latin typeface="Montserrat" pitchFamily="2" charset="0"/>
              </a:rPr>
              <a:t>(</a:t>
            </a:r>
            <a:r>
              <a:rPr lang="en-US" sz="1200" dirty="0">
                <a:solidFill>
                  <a:srgbClr val="D65D26"/>
                </a:solidFill>
                <a:latin typeface="Montserrat" pitchFamily="2" charset="0"/>
              </a:rPr>
              <a:t>221005</a:t>
            </a:r>
            <a:r>
              <a:rPr lang="en-US" sz="1200" dirty="0">
                <a:solidFill>
                  <a:schemeClr val="bg1">
                    <a:lumMod val="85000"/>
                  </a:schemeClr>
                </a:solidFill>
                <a:latin typeface="Montserrat" pitchFamily="2" charset="0"/>
              </a:rPr>
              <a:t>)</a:t>
            </a:r>
          </a:p>
          <a:p>
            <a:pPr marL="228600" indent="-228600">
              <a:buFontTx/>
              <a:buAutoNum type="arabicPeriod"/>
            </a:pPr>
            <a:r>
              <a:rPr lang="en-US" sz="1200" dirty="0">
                <a:solidFill>
                  <a:srgbClr val="EDEDED"/>
                </a:solidFill>
                <a:latin typeface="Montserrat" pitchFamily="2" charset="0"/>
              </a:rPr>
              <a:t>Tala Al-Akhras </a:t>
            </a:r>
            <a:r>
              <a:rPr lang="en-US" sz="1200" dirty="0">
                <a:solidFill>
                  <a:schemeClr val="bg1">
                    <a:lumMod val="85000"/>
                  </a:schemeClr>
                </a:solidFill>
                <a:latin typeface="Montserrat" pitchFamily="2" charset="0"/>
              </a:rPr>
              <a:t>(</a:t>
            </a:r>
            <a:r>
              <a:rPr lang="en-US" sz="1200" dirty="0">
                <a:solidFill>
                  <a:srgbClr val="D65D26"/>
                </a:solidFill>
                <a:latin typeface="Montserrat" pitchFamily="2" charset="0"/>
              </a:rPr>
              <a:t>231353</a:t>
            </a:r>
            <a:r>
              <a:rPr lang="en-US" sz="1200" dirty="0">
                <a:solidFill>
                  <a:schemeClr val="bg1">
                    <a:lumMod val="85000"/>
                  </a:schemeClr>
                </a:solidFill>
                <a:latin typeface="Montserrat" pitchFamily="2" charset="0"/>
              </a:rPr>
              <a:t>)</a:t>
            </a:r>
          </a:p>
          <a:p>
            <a:pPr marL="228600" indent="-228600">
              <a:buFontTx/>
              <a:buAutoNum type="arabicPeriod"/>
            </a:pPr>
            <a:r>
              <a:rPr lang="en-US" sz="1200" dirty="0">
                <a:solidFill>
                  <a:srgbClr val="EDEDED"/>
                </a:solidFill>
                <a:latin typeface="Montserrat" pitchFamily="2" charset="0"/>
              </a:rPr>
              <a:t>Leen Joudeh</a:t>
            </a:r>
            <a:r>
              <a:rPr lang="en-US" sz="1200" dirty="0">
                <a:solidFill>
                  <a:schemeClr val="bg1">
                    <a:lumMod val="85000"/>
                  </a:schemeClr>
                </a:solidFill>
                <a:latin typeface="Montserrat" pitchFamily="2" charset="0"/>
              </a:rPr>
              <a:t>(</a:t>
            </a:r>
            <a:r>
              <a:rPr lang="en-US" sz="1200" dirty="0">
                <a:solidFill>
                  <a:srgbClr val="D65D26"/>
                </a:solidFill>
                <a:latin typeface="Montserrat" pitchFamily="2" charset="0"/>
              </a:rPr>
              <a:t>221952</a:t>
            </a:r>
            <a:r>
              <a:rPr lang="en-US" sz="1200" dirty="0">
                <a:solidFill>
                  <a:schemeClr val="bg1">
                    <a:lumMod val="85000"/>
                  </a:schemeClr>
                </a:solidFill>
                <a:latin typeface="Montserrat" pitchFamily="2" charset="0"/>
              </a:rPr>
              <a:t>)</a:t>
            </a:r>
          </a:p>
          <a:p>
            <a:pPr marL="228600" indent="-228600">
              <a:buFontTx/>
              <a:buAutoNum type="arabicPeriod"/>
            </a:pPr>
            <a:r>
              <a:rPr lang="en-US" sz="1200" dirty="0">
                <a:solidFill>
                  <a:srgbClr val="EDEDED"/>
                </a:solidFill>
                <a:latin typeface="Montserrat" pitchFamily="2" charset="0"/>
              </a:rPr>
              <a:t>Faisal Naem </a:t>
            </a:r>
            <a:r>
              <a:rPr lang="en-US" sz="1200" dirty="0">
                <a:solidFill>
                  <a:schemeClr val="bg1">
                    <a:lumMod val="85000"/>
                  </a:schemeClr>
                </a:solidFill>
                <a:latin typeface="Montserrat" pitchFamily="2" charset="0"/>
              </a:rPr>
              <a:t>(</a:t>
            </a:r>
            <a:r>
              <a:rPr lang="en-US" sz="1200" dirty="0">
                <a:solidFill>
                  <a:srgbClr val="D65D26"/>
                </a:solidFill>
                <a:latin typeface="Montserrat" pitchFamily="2" charset="0"/>
              </a:rPr>
              <a:t>221983</a:t>
            </a:r>
            <a:r>
              <a:rPr lang="en-US" sz="1200" dirty="0">
                <a:solidFill>
                  <a:schemeClr val="bg1">
                    <a:lumMod val="85000"/>
                  </a:schemeClr>
                </a:solidFill>
                <a:latin typeface="Montserrat" pitchFamily="2" charset="0"/>
              </a:rPr>
              <a:t>)</a:t>
            </a:r>
          </a:p>
          <a:p>
            <a:pPr marL="228600" indent="-228600">
              <a:buFontTx/>
              <a:buAutoNum type="arabicPeriod"/>
            </a:pPr>
            <a:endParaRPr lang="en-US" sz="1200" dirty="0">
              <a:solidFill>
                <a:schemeClr val="bg1">
                  <a:lumMod val="85000"/>
                </a:schemeClr>
              </a:solidFill>
              <a:latin typeface="Montserrat" pitchFamily="2" charset="0"/>
            </a:endParaRPr>
          </a:p>
          <a:p>
            <a:endParaRPr lang="en-US" sz="1200" dirty="0">
              <a:solidFill>
                <a:srgbClr val="D65D26"/>
              </a:solidFill>
              <a:latin typeface="Montserrat" pitchFamily="2" charset="0"/>
            </a:endParaRPr>
          </a:p>
          <a:p>
            <a:endParaRPr lang="en-US" sz="1200" dirty="0">
              <a:solidFill>
                <a:srgbClr val="D65D26"/>
              </a:solidFill>
              <a:latin typeface="Montserrat" pitchFamily="2" charset="0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BE4D41FA-2288-862E-6D0C-4D91BF1B2223}"/>
              </a:ext>
            </a:extLst>
          </p:cNvPr>
          <p:cNvSpPr/>
          <p:nvPr/>
        </p:nvSpPr>
        <p:spPr>
          <a:xfrm>
            <a:off x="400368" y="7398011"/>
            <a:ext cx="2146300" cy="1975140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D65D26"/>
                </a:solidFill>
                <a:latin typeface="Montserrat" pitchFamily="2" charset="0"/>
              </a:rPr>
              <a:t>Part 1: </a:t>
            </a:r>
            <a:r>
              <a:rPr lang="en-US" sz="1400" dirty="0">
                <a:solidFill>
                  <a:srgbClr val="EDEDED"/>
                </a:solidFill>
                <a:latin typeface="Montserrat" pitchFamily="2" charset="0"/>
              </a:rPr>
              <a:t>Problem Framing: Black-Box Simulation Optimization 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843C43E5-B52F-CD3E-C911-C04D5B8F3EC4}"/>
              </a:ext>
            </a:extLst>
          </p:cNvPr>
          <p:cNvSpPr/>
          <p:nvPr/>
        </p:nvSpPr>
        <p:spPr>
          <a:xfrm>
            <a:off x="2864168" y="7398011"/>
            <a:ext cx="2247900" cy="1975140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D65D26"/>
                </a:solidFill>
                <a:latin typeface="Montserrat" pitchFamily="2" charset="0"/>
              </a:rPr>
              <a:t>Part 2: </a:t>
            </a:r>
            <a:r>
              <a:rPr lang="en-US" sz="1400" dirty="0">
                <a:solidFill>
                  <a:srgbClr val="EDEDED"/>
                </a:solidFill>
                <a:latin typeface="Montserrat" pitchFamily="2" charset="0"/>
              </a:rPr>
              <a:t>Core OR challenge: optimizing under noise and limited budget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BFA622D-290C-77D1-D93D-D75B73CB5E08}"/>
              </a:ext>
            </a:extLst>
          </p:cNvPr>
          <p:cNvSpPr/>
          <p:nvPr/>
        </p:nvSpPr>
        <p:spPr>
          <a:xfrm>
            <a:off x="456690" y="9479891"/>
            <a:ext cx="2242378" cy="2057971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D65D26"/>
                </a:solidFill>
                <a:latin typeface="Montserrat" pitchFamily="2" charset="0"/>
              </a:rPr>
              <a:t>Part 3: </a:t>
            </a:r>
            <a:r>
              <a:rPr lang="en-US" sz="1400" dirty="0">
                <a:solidFill>
                  <a:srgbClr val="EDEDED"/>
                </a:solidFill>
                <a:latin typeface="Montserrat" pitchFamily="2" charset="0"/>
              </a:rPr>
              <a:t>Implications,</a:t>
            </a:r>
          </a:p>
          <a:p>
            <a:pPr algn="ctr"/>
            <a:r>
              <a:rPr lang="en-US" sz="1400" dirty="0">
                <a:solidFill>
                  <a:srgbClr val="EDEDED"/>
                </a:solidFill>
                <a:latin typeface="Montserrat" pitchFamily="2" charset="0"/>
              </a:rPr>
              <a:t>Applications, and key takeaways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0F976F9-C8C8-C88B-5505-1C9C32E70F3A}"/>
              </a:ext>
            </a:extLst>
          </p:cNvPr>
          <p:cNvSpPr/>
          <p:nvPr/>
        </p:nvSpPr>
        <p:spPr>
          <a:xfrm>
            <a:off x="2869690" y="9479891"/>
            <a:ext cx="2242378" cy="2057971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D65D26"/>
                </a:solidFill>
                <a:latin typeface="Montserrat" pitchFamily="2" charset="0"/>
              </a:rPr>
              <a:t>Part 4: </a:t>
            </a:r>
            <a:r>
              <a:rPr lang="en-US" sz="1400" dirty="0">
                <a:solidFill>
                  <a:srgbClr val="EDEDED"/>
                </a:solidFill>
                <a:latin typeface="Montserrat" pitchFamily="2" charset="0"/>
              </a:rPr>
              <a:t>Demonstration:</a:t>
            </a:r>
          </a:p>
          <a:p>
            <a:pPr algn="ctr"/>
            <a:r>
              <a:rPr lang="en-US" sz="1400" dirty="0">
                <a:solidFill>
                  <a:srgbClr val="EDEDED"/>
                </a:solidFill>
                <a:latin typeface="Montserrat" pitchFamily="2" charset="0"/>
              </a:rPr>
              <a:t>optimization through simulation</a:t>
            </a:r>
          </a:p>
        </p:txBody>
      </p:sp>
    </p:spTree>
    <p:extLst>
      <p:ext uri="{BB962C8B-B14F-4D97-AF65-F5344CB8AC3E}">
        <p14:creationId xmlns:p14="http://schemas.microsoft.com/office/powerpoint/2010/main" val="16296253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20000">
              <a:schemeClr val="bg1">
                <a:lumMod val="95000"/>
              </a:schemeClr>
            </a:gs>
            <a:gs pos="78000">
              <a:schemeClr val="tx1">
                <a:lumMod val="95000"/>
                <a:lumOff val="5000"/>
              </a:schemeClr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33F697-EA32-8C84-20FE-B07A691386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>
            <a:extLst>
              <a:ext uri="{FF2B5EF4-FFF2-40B4-BE49-F238E27FC236}">
                <a16:creationId xmlns:a16="http://schemas.microsoft.com/office/drawing/2014/main" id="{ED53A0A2-9EC3-189A-13AC-3C1CDF3A62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417"/>
          <a:stretch>
            <a:fillRect/>
          </a:stretch>
        </p:blipFill>
        <p:spPr>
          <a:xfrm>
            <a:off x="4559473" y="-866155"/>
            <a:ext cx="7632527" cy="7724155"/>
          </a:xfrm>
          <a:custGeom>
            <a:avLst/>
            <a:gdLst>
              <a:gd name="connsiteX0" fmla="*/ 3656412 w 6776647"/>
              <a:gd name="connsiteY0" fmla="*/ 5054965 h 6858000"/>
              <a:gd name="connsiteX1" fmla="*/ 4113979 w 6776647"/>
              <a:gd name="connsiteY1" fmla="*/ 5244495 h 6858000"/>
              <a:gd name="connsiteX2" fmla="*/ 4131893 w 6776647"/>
              <a:gd name="connsiteY2" fmla="*/ 5262409 h 6858000"/>
              <a:gd name="connsiteX3" fmla="*/ 4131892 w 6776647"/>
              <a:gd name="connsiteY3" fmla="*/ 6177545 h 6858000"/>
              <a:gd name="connsiteX4" fmla="*/ 4043288 w 6776647"/>
              <a:gd name="connsiteY4" fmla="*/ 6266149 h 6858000"/>
              <a:gd name="connsiteX5" fmla="*/ 3128155 w 6776647"/>
              <a:gd name="connsiteY5" fmla="*/ 6266149 h 6858000"/>
              <a:gd name="connsiteX6" fmla="*/ 3110241 w 6776647"/>
              <a:gd name="connsiteY6" fmla="*/ 6248235 h 6858000"/>
              <a:gd name="connsiteX7" fmla="*/ 3110240 w 6776647"/>
              <a:gd name="connsiteY7" fmla="*/ 5333099 h 6858000"/>
              <a:gd name="connsiteX8" fmla="*/ 3198844 w 6776647"/>
              <a:gd name="connsiteY8" fmla="*/ 5244495 h 6858000"/>
              <a:gd name="connsiteX9" fmla="*/ 3656412 w 6776647"/>
              <a:gd name="connsiteY9" fmla="*/ 5054965 h 6858000"/>
              <a:gd name="connsiteX10" fmla="*/ 6776647 w 6776647"/>
              <a:gd name="connsiteY10" fmla="*/ 4307086 h 6858000"/>
              <a:gd name="connsiteX11" fmla="*/ 6776647 w 6776647"/>
              <a:gd name="connsiteY11" fmla="*/ 5306043 h 6858000"/>
              <a:gd name="connsiteX12" fmla="*/ 5224689 w 6776647"/>
              <a:gd name="connsiteY12" fmla="*/ 6858000 h 6858000"/>
              <a:gd name="connsiteX13" fmla="*/ 4225733 w 6776647"/>
              <a:gd name="connsiteY13" fmla="*/ 6858000 h 6858000"/>
              <a:gd name="connsiteX14" fmla="*/ 6776647 w 6776647"/>
              <a:gd name="connsiteY14" fmla="*/ 1775039 h 6858000"/>
              <a:gd name="connsiteX15" fmla="*/ 6776647 w 6776647"/>
              <a:gd name="connsiteY15" fmla="*/ 3615452 h 6858000"/>
              <a:gd name="connsiteX16" fmla="*/ 5493702 w 6776647"/>
              <a:gd name="connsiteY16" fmla="*/ 4898396 h 6858000"/>
              <a:gd name="connsiteX17" fmla="*/ 4578567 w 6776647"/>
              <a:gd name="connsiteY17" fmla="*/ 4898396 h 6858000"/>
              <a:gd name="connsiteX18" fmla="*/ 4560653 w 6776647"/>
              <a:gd name="connsiteY18" fmla="*/ 4880482 h 6858000"/>
              <a:gd name="connsiteX19" fmla="*/ 4560653 w 6776647"/>
              <a:gd name="connsiteY19" fmla="*/ 3965347 h 6858000"/>
              <a:gd name="connsiteX20" fmla="*/ 6660166 w 6776647"/>
              <a:gd name="connsiteY20" fmla="*/ 1865835 h 6858000"/>
              <a:gd name="connsiteX21" fmla="*/ 6761678 w 6776647"/>
              <a:gd name="connsiteY21" fmla="*/ 1782916 h 6858000"/>
              <a:gd name="connsiteX22" fmla="*/ 5881240 w 6776647"/>
              <a:gd name="connsiteY22" fmla="*/ 18786 h 6858000"/>
              <a:gd name="connsiteX23" fmla="*/ 6475267 w 6776647"/>
              <a:gd name="connsiteY23" fmla="*/ 264840 h 6858000"/>
              <a:gd name="connsiteX24" fmla="*/ 6498525 w 6776647"/>
              <a:gd name="connsiteY24" fmla="*/ 288097 h 6858000"/>
              <a:gd name="connsiteX25" fmla="*/ 6498525 w 6776647"/>
              <a:gd name="connsiteY25" fmla="*/ 1476151 h 6858000"/>
              <a:gd name="connsiteX26" fmla="*/ 2949108 w 6776647"/>
              <a:gd name="connsiteY26" fmla="*/ 5025568 h 6858000"/>
              <a:gd name="connsiteX27" fmla="*/ 1761054 w 6776647"/>
              <a:gd name="connsiteY27" fmla="*/ 5025568 h 6858000"/>
              <a:gd name="connsiteX28" fmla="*/ 1737797 w 6776647"/>
              <a:gd name="connsiteY28" fmla="*/ 5002311 h 6858000"/>
              <a:gd name="connsiteX29" fmla="*/ 1737797 w 6776647"/>
              <a:gd name="connsiteY29" fmla="*/ 3814257 h 6858000"/>
              <a:gd name="connsiteX30" fmla="*/ 5287213 w 6776647"/>
              <a:gd name="connsiteY30" fmla="*/ 264840 h 6858000"/>
              <a:gd name="connsiteX31" fmla="*/ 5881240 w 6776647"/>
              <a:gd name="connsiteY31" fmla="*/ 18786 h 6858000"/>
              <a:gd name="connsiteX32" fmla="*/ 3421136 w 6776647"/>
              <a:gd name="connsiteY32" fmla="*/ 0 h 6858000"/>
              <a:gd name="connsiteX33" fmla="*/ 5065590 w 6776647"/>
              <a:gd name="connsiteY33" fmla="*/ 0 h 6858000"/>
              <a:gd name="connsiteX34" fmla="*/ 5058235 w 6776647"/>
              <a:gd name="connsiteY34" fmla="*/ 13976 h 6858000"/>
              <a:gd name="connsiteX35" fmla="*/ 4984132 w 6776647"/>
              <a:gd name="connsiteY35" fmla="*/ 104695 h 6858000"/>
              <a:gd name="connsiteX36" fmla="*/ 1478980 w 6776647"/>
              <a:gd name="connsiteY36" fmla="*/ 3609848 h 6858000"/>
              <a:gd name="connsiteX37" fmla="*/ 661145 w 6776647"/>
              <a:gd name="connsiteY37" fmla="*/ 3609848 h 6858000"/>
              <a:gd name="connsiteX38" fmla="*/ 645135 w 6776647"/>
              <a:gd name="connsiteY38" fmla="*/ 3593837 h 6858000"/>
              <a:gd name="connsiteX39" fmla="*/ 645135 w 6776647"/>
              <a:gd name="connsiteY39" fmla="*/ 2776002 h 6858000"/>
              <a:gd name="connsiteX40" fmla="*/ 1313944 w 6776647"/>
              <a:gd name="connsiteY40" fmla="*/ 0 h 6858000"/>
              <a:gd name="connsiteX41" fmla="*/ 2570790 w 6776647"/>
              <a:gd name="connsiteY41" fmla="*/ 0 h 6858000"/>
              <a:gd name="connsiteX42" fmla="*/ 2582282 w 6776647"/>
              <a:gd name="connsiteY42" fmla="*/ 38778 h 6858000"/>
              <a:gd name="connsiteX43" fmla="*/ 2423489 w 6776647"/>
              <a:gd name="connsiteY43" fmla="*/ 558147 h 6858000"/>
              <a:gd name="connsiteX44" fmla="*/ 1003226 w 6776647"/>
              <a:gd name="connsiteY44" fmla="*/ 1978410 h 6858000"/>
              <a:gd name="connsiteX45" fmla="*/ 185390 w 6776647"/>
              <a:gd name="connsiteY45" fmla="*/ 1978410 h 6858000"/>
              <a:gd name="connsiteX46" fmla="*/ 169380 w 6776647"/>
              <a:gd name="connsiteY46" fmla="*/ 1962401 h 6858000"/>
              <a:gd name="connsiteX47" fmla="*/ 169380 w 6776647"/>
              <a:gd name="connsiteY47" fmla="*/ 114456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</a:cxnLst>
            <a:rect l="l" t="t" r="r" b="b"/>
            <a:pathLst>
              <a:path w="6776647" h="6858000">
                <a:moveTo>
                  <a:pt x="3656412" y="5054965"/>
                </a:moveTo>
                <a:cubicBezTo>
                  <a:pt x="3822019" y="5054965"/>
                  <a:pt x="3987625" y="5118142"/>
                  <a:pt x="4113979" y="5244495"/>
                </a:cubicBezTo>
                <a:lnTo>
                  <a:pt x="4131893" y="5262409"/>
                </a:lnTo>
                <a:cubicBezTo>
                  <a:pt x="4384601" y="5515117"/>
                  <a:pt x="4384601" y="5924838"/>
                  <a:pt x="4131892" y="6177545"/>
                </a:cubicBezTo>
                <a:lnTo>
                  <a:pt x="4043288" y="6266149"/>
                </a:lnTo>
                <a:cubicBezTo>
                  <a:pt x="3790582" y="6518855"/>
                  <a:pt x="3380861" y="6518855"/>
                  <a:pt x="3128155" y="6266149"/>
                </a:cubicBezTo>
                <a:lnTo>
                  <a:pt x="3110241" y="6248235"/>
                </a:lnTo>
                <a:cubicBezTo>
                  <a:pt x="2857533" y="5995527"/>
                  <a:pt x="2857533" y="5585807"/>
                  <a:pt x="3110240" y="5333099"/>
                </a:cubicBezTo>
                <a:lnTo>
                  <a:pt x="3198844" y="5244495"/>
                </a:lnTo>
                <a:cubicBezTo>
                  <a:pt x="3325198" y="5118143"/>
                  <a:pt x="3490804" y="5054965"/>
                  <a:pt x="3656412" y="5054965"/>
                </a:cubicBezTo>
                <a:close/>
                <a:moveTo>
                  <a:pt x="6776647" y="4307086"/>
                </a:moveTo>
                <a:lnTo>
                  <a:pt x="6776647" y="5306043"/>
                </a:lnTo>
                <a:lnTo>
                  <a:pt x="5224689" y="6858000"/>
                </a:lnTo>
                <a:lnTo>
                  <a:pt x="4225733" y="6858000"/>
                </a:lnTo>
                <a:close/>
                <a:moveTo>
                  <a:pt x="6776647" y="1775039"/>
                </a:moveTo>
                <a:lnTo>
                  <a:pt x="6776647" y="3615452"/>
                </a:lnTo>
                <a:lnTo>
                  <a:pt x="5493702" y="4898396"/>
                </a:lnTo>
                <a:cubicBezTo>
                  <a:pt x="5240995" y="5151104"/>
                  <a:pt x="4831276" y="5151103"/>
                  <a:pt x="4578567" y="4898396"/>
                </a:cubicBezTo>
                <a:lnTo>
                  <a:pt x="4560653" y="4880482"/>
                </a:lnTo>
                <a:cubicBezTo>
                  <a:pt x="4307946" y="4627775"/>
                  <a:pt x="4307946" y="4218054"/>
                  <a:pt x="4560653" y="3965347"/>
                </a:cubicBezTo>
                <a:lnTo>
                  <a:pt x="6660166" y="1865835"/>
                </a:lnTo>
                <a:cubicBezTo>
                  <a:pt x="6691755" y="1834247"/>
                  <a:pt x="6725796" y="1806607"/>
                  <a:pt x="6761678" y="1782916"/>
                </a:cubicBezTo>
                <a:close/>
                <a:moveTo>
                  <a:pt x="5881240" y="18786"/>
                </a:moveTo>
                <a:cubicBezTo>
                  <a:pt x="6096236" y="18786"/>
                  <a:pt x="6311231" y="100804"/>
                  <a:pt x="6475267" y="264840"/>
                </a:cubicBezTo>
                <a:lnTo>
                  <a:pt x="6498525" y="288097"/>
                </a:lnTo>
                <a:cubicBezTo>
                  <a:pt x="6826598" y="616169"/>
                  <a:pt x="6826598" y="1148079"/>
                  <a:pt x="6498525" y="1476151"/>
                </a:cubicBezTo>
                <a:lnTo>
                  <a:pt x="2949108" y="5025568"/>
                </a:lnTo>
                <a:cubicBezTo>
                  <a:pt x="2621036" y="5353640"/>
                  <a:pt x="2089127" y="5353640"/>
                  <a:pt x="1761054" y="5025568"/>
                </a:cubicBezTo>
                <a:lnTo>
                  <a:pt x="1737797" y="5002311"/>
                </a:lnTo>
                <a:cubicBezTo>
                  <a:pt x="1409725" y="4674239"/>
                  <a:pt x="1409725" y="4142329"/>
                  <a:pt x="1737797" y="3814257"/>
                </a:cubicBezTo>
                <a:lnTo>
                  <a:pt x="5287213" y="264840"/>
                </a:lnTo>
                <a:cubicBezTo>
                  <a:pt x="5451251" y="100804"/>
                  <a:pt x="5666245" y="18785"/>
                  <a:pt x="5881240" y="18786"/>
                </a:cubicBezTo>
                <a:close/>
                <a:moveTo>
                  <a:pt x="3421136" y="0"/>
                </a:moveTo>
                <a:lnTo>
                  <a:pt x="5065590" y="0"/>
                </a:lnTo>
                <a:lnTo>
                  <a:pt x="5058235" y="13976"/>
                </a:lnTo>
                <a:cubicBezTo>
                  <a:pt x="5037063" y="46043"/>
                  <a:pt x="5012362" y="76465"/>
                  <a:pt x="4984132" y="104695"/>
                </a:cubicBezTo>
                <a:lnTo>
                  <a:pt x="1478980" y="3609848"/>
                </a:lnTo>
                <a:cubicBezTo>
                  <a:pt x="1253141" y="3835687"/>
                  <a:pt x="886985" y="3835687"/>
                  <a:pt x="661145" y="3609848"/>
                </a:cubicBezTo>
                <a:lnTo>
                  <a:pt x="645135" y="3593837"/>
                </a:lnTo>
                <a:cubicBezTo>
                  <a:pt x="419295" y="3367998"/>
                  <a:pt x="419295" y="3001841"/>
                  <a:pt x="645135" y="2776002"/>
                </a:cubicBezTo>
                <a:close/>
                <a:moveTo>
                  <a:pt x="1313944" y="0"/>
                </a:moveTo>
                <a:lnTo>
                  <a:pt x="2570790" y="0"/>
                </a:lnTo>
                <a:lnTo>
                  <a:pt x="2582282" y="38778"/>
                </a:lnTo>
                <a:cubicBezTo>
                  <a:pt x="2617570" y="221036"/>
                  <a:pt x="2564639" y="416997"/>
                  <a:pt x="2423489" y="558147"/>
                </a:cubicBezTo>
                <a:lnTo>
                  <a:pt x="1003226" y="1978410"/>
                </a:lnTo>
                <a:cubicBezTo>
                  <a:pt x="777387" y="2204250"/>
                  <a:pt x="411230" y="2204250"/>
                  <a:pt x="185390" y="1978410"/>
                </a:cubicBezTo>
                <a:lnTo>
                  <a:pt x="169380" y="1962401"/>
                </a:lnTo>
                <a:cubicBezTo>
                  <a:pt x="-56460" y="1736561"/>
                  <a:pt x="-56460" y="1370404"/>
                  <a:pt x="169380" y="1144565"/>
                </a:cubicBezTo>
                <a:close/>
              </a:path>
            </a:pathLst>
          </a:custGeom>
          <a:effectLst>
            <a:innerShdw blurRad="63500" dist="50800" dir="16200000">
              <a:prstClr val="black">
                <a:alpha val="50000"/>
              </a:prstClr>
            </a:innerShdw>
          </a:effectLst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B3006616-36DE-DE0D-250A-A0F1569D8DCB}"/>
              </a:ext>
            </a:extLst>
          </p:cNvPr>
          <p:cNvSpPr txBox="1"/>
          <p:nvPr/>
        </p:nvSpPr>
        <p:spPr>
          <a:xfrm>
            <a:off x="-49048" y="332468"/>
            <a:ext cx="677664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D65D26"/>
                </a:solidFill>
                <a:latin typeface="Inter" panose="02000503000000020004" pitchFamily="2" charset="0"/>
                <a:ea typeface="Inter" panose="02000503000000020004" pitchFamily="2" charset="0"/>
              </a:rPr>
              <a:t>An introduction </a:t>
            </a:r>
            <a:r>
              <a:rPr lang="en-US" sz="3600" b="1" dirty="0">
                <a:solidFill>
                  <a:srgbClr val="EDEDED"/>
                </a:solidFill>
                <a:latin typeface="Inter" panose="02000503000000020004" pitchFamily="2" charset="0"/>
                <a:ea typeface="Inter" panose="02000503000000020004" pitchFamily="2" charset="0"/>
              </a:rPr>
              <a:t>to Black-Box Simulation Optimization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47079AD-0F79-D2A7-962A-0114B281A9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702747" y="-97408"/>
            <a:ext cx="2136272" cy="221638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86260EA-F671-205F-4033-66F045FFEEA9}"/>
              </a:ext>
            </a:extLst>
          </p:cNvPr>
          <p:cNvSpPr txBox="1"/>
          <p:nvPr/>
        </p:nvSpPr>
        <p:spPr>
          <a:xfrm>
            <a:off x="-3702747" y="5657671"/>
            <a:ext cx="236741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>
                    <a:lumMod val="85000"/>
                  </a:schemeClr>
                </a:solidFill>
                <a:latin typeface="Montserrat" pitchFamily="2" charset="0"/>
              </a:rPr>
              <a:t>A project made for </a:t>
            </a:r>
            <a:r>
              <a:rPr lang="en-US" sz="1200" dirty="0">
                <a:solidFill>
                  <a:srgbClr val="D65D26"/>
                </a:solidFill>
                <a:latin typeface="Montserrat" pitchFamily="2" charset="0"/>
              </a:rPr>
              <a:t>Operations Research</a:t>
            </a:r>
          </a:p>
          <a:p>
            <a:endParaRPr lang="en-US" sz="1200" dirty="0">
              <a:solidFill>
                <a:srgbClr val="D65D26"/>
              </a:solidFill>
              <a:latin typeface="Montserrat" pitchFamily="2" charset="0"/>
            </a:endParaRPr>
          </a:p>
          <a:p>
            <a:r>
              <a:rPr lang="en-US" sz="1200" dirty="0">
                <a:solidFill>
                  <a:schemeClr val="bg1">
                    <a:lumMod val="85000"/>
                  </a:schemeClr>
                </a:solidFill>
                <a:latin typeface="Montserrat" pitchFamily="2" charset="0"/>
              </a:rPr>
              <a:t>Supervised by Prof. </a:t>
            </a:r>
            <a:r>
              <a:rPr lang="en-US" sz="1200" dirty="0">
                <a:solidFill>
                  <a:srgbClr val="D65D26"/>
                </a:solidFill>
                <a:latin typeface="Montserrat" pitchFamily="2" charset="0"/>
              </a:rPr>
              <a:t>Marwa Jaradat</a:t>
            </a:r>
          </a:p>
          <a:p>
            <a:endParaRPr lang="en-US" sz="1200" dirty="0">
              <a:solidFill>
                <a:srgbClr val="D65D26"/>
              </a:solidFill>
              <a:latin typeface="Montserrat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14FF92C-D765-A31A-306D-0F0D964907C5}"/>
              </a:ext>
            </a:extLst>
          </p:cNvPr>
          <p:cNvSpPr txBox="1"/>
          <p:nvPr/>
        </p:nvSpPr>
        <p:spPr>
          <a:xfrm>
            <a:off x="-3702747" y="3429000"/>
            <a:ext cx="236741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>
                    <a:lumMod val="85000"/>
                  </a:schemeClr>
                </a:solidFill>
                <a:latin typeface="Montserrat" pitchFamily="2" charset="0"/>
              </a:rPr>
              <a:t>Project made by:</a:t>
            </a:r>
          </a:p>
          <a:p>
            <a:endParaRPr lang="en-US" sz="1200" dirty="0">
              <a:solidFill>
                <a:schemeClr val="bg1">
                  <a:lumMod val="85000"/>
                </a:schemeClr>
              </a:solidFill>
              <a:latin typeface="Montserrat" pitchFamily="2" charset="0"/>
            </a:endParaRPr>
          </a:p>
          <a:p>
            <a:pPr marL="228600" indent="-228600">
              <a:buAutoNum type="arabicPeriod"/>
            </a:pPr>
            <a:r>
              <a:rPr lang="en-US" sz="1200" dirty="0">
                <a:solidFill>
                  <a:schemeClr val="bg1">
                    <a:lumMod val="85000"/>
                  </a:schemeClr>
                </a:solidFill>
                <a:latin typeface="Montserrat" pitchFamily="2" charset="0"/>
              </a:rPr>
              <a:t>Ahmad Zayed (</a:t>
            </a:r>
            <a:r>
              <a:rPr lang="en-US" sz="1200" dirty="0">
                <a:solidFill>
                  <a:srgbClr val="D65D26"/>
                </a:solidFill>
                <a:latin typeface="Montserrat" pitchFamily="2" charset="0"/>
              </a:rPr>
              <a:t>221983</a:t>
            </a:r>
            <a:r>
              <a:rPr lang="en-US" sz="1200" dirty="0">
                <a:solidFill>
                  <a:schemeClr val="bg1">
                    <a:lumMod val="85000"/>
                  </a:schemeClr>
                </a:solidFill>
                <a:latin typeface="Montserrat" pitchFamily="2" charset="0"/>
              </a:rPr>
              <a:t>)</a:t>
            </a:r>
          </a:p>
          <a:p>
            <a:pPr marL="228600" indent="-228600">
              <a:buFontTx/>
              <a:buAutoNum type="arabicPeriod"/>
            </a:pPr>
            <a:r>
              <a:rPr lang="en-US" sz="1200" dirty="0">
                <a:solidFill>
                  <a:schemeClr val="bg1">
                    <a:lumMod val="85000"/>
                  </a:schemeClr>
                </a:solidFill>
                <a:latin typeface="Montserrat" pitchFamily="2" charset="0"/>
              </a:rPr>
              <a:t>Leen Joudeh(</a:t>
            </a:r>
            <a:r>
              <a:rPr lang="en-US" sz="1200" dirty="0">
                <a:solidFill>
                  <a:srgbClr val="D65D26"/>
                </a:solidFill>
                <a:latin typeface="Montserrat" pitchFamily="2" charset="0"/>
              </a:rPr>
              <a:t>221952</a:t>
            </a:r>
            <a:r>
              <a:rPr lang="en-US" sz="1200" dirty="0">
                <a:solidFill>
                  <a:schemeClr val="bg1">
                    <a:lumMod val="85000"/>
                  </a:schemeClr>
                </a:solidFill>
                <a:latin typeface="Montserrat" pitchFamily="2" charset="0"/>
              </a:rPr>
              <a:t>)</a:t>
            </a:r>
          </a:p>
          <a:p>
            <a:pPr marL="228600" indent="-228600">
              <a:buAutoNum type="arabicPeriod"/>
            </a:pPr>
            <a:r>
              <a:rPr lang="en-US" sz="1200" dirty="0">
                <a:solidFill>
                  <a:schemeClr val="bg1">
                    <a:lumMod val="85000"/>
                  </a:schemeClr>
                </a:solidFill>
                <a:latin typeface="Montserrat" pitchFamily="2" charset="0"/>
              </a:rPr>
              <a:t>Faisal Naem (</a:t>
            </a:r>
            <a:r>
              <a:rPr lang="en-US" sz="1200" dirty="0">
                <a:solidFill>
                  <a:srgbClr val="D65D26"/>
                </a:solidFill>
                <a:latin typeface="Montserrat" pitchFamily="2" charset="0"/>
              </a:rPr>
              <a:t>221983</a:t>
            </a:r>
            <a:r>
              <a:rPr lang="en-US" sz="1200" dirty="0">
                <a:solidFill>
                  <a:schemeClr val="bg1">
                    <a:lumMod val="85000"/>
                  </a:schemeClr>
                </a:solidFill>
                <a:latin typeface="Montserrat" pitchFamily="2" charset="0"/>
              </a:rPr>
              <a:t>)</a:t>
            </a:r>
          </a:p>
          <a:p>
            <a:pPr marL="228600" indent="-228600">
              <a:buAutoNum type="arabicPeriod"/>
            </a:pPr>
            <a:r>
              <a:rPr lang="en-US" sz="1200" dirty="0">
                <a:solidFill>
                  <a:schemeClr val="bg1">
                    <a:lumMod val="85000"/>
                  </a:schemeClr>
                </a:solidFill>
                <a:latin typeface="Montserrat" pitchFamily="2" charset="0"/>
              </a:rPr>
              <a:t>Tala Al-Akhras (</a:t>
            </a:r>
            <a:r>
              <a:rPr lang="en-US" sz="1200" dirty="0">
                <a:solidFill>
                  <a:srgbClr val="D65D26"/>
                </a:solidFill>
                <a:latin typeface="Montserrat" pitchFamily="2" charset="0"/>
              </a:rPr>
              <a:t>231353</a:t>
            </a:r>
            <a:r>
              <a:rPr lang="en-US" sz="1200" dirty="0">
                <a:solidFill>
                  <a:schemeClr val="bg1">
                    <a:lumMod val="85000"/>
                  </a:schemeClr>
                </a:solidFill>
                <a:latin typeface="Montserrat" pitchFamily="2" charset="0"/>
              </a:rPr>
              <a:t>)</a:t>
            </a:r>
          </a:p>
          <a:p>
            <a:endParaRPr lang="en-US" sz="1200" dirty="0">
              <a:solidFill>
                <a:srgbClr val="D65D26"/>
              </a:solidFill>
              <a:latin typeface="Montserrat" pitchFamily="2" charset="0"/>
            </a:endParaRPr>
          </a:p>
          <a:p>
            <a:endParaRPr lang="en-US" sz="1200" dirty="0">
              <a:solidFill>
                <a:srgbClr val="D65D26"/>
              </a:solidFill>
              <a:latin typeface="Montserrat" pitchFamily="2" charset="0"/>
            </a:endParaRP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0F2DF0FA-9BE9-D6B7-FF45-CBA1C3AEB8A0}"/>
              </a:ext>
            </a:extLst>
          </p:cNvPr>
          <p:cNvSpPr/>
          <p:nvPr/>
        </p:nvSpPr>
        <p:spPr>
          <a:xfrm>
            <a:off x="558800" y="2452020"/>
            <a:ext cx="2146300" cy="1975140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D65D26"/>
                </a:solidFill>
                <a:latin typeface="Montserrat" pitchFamily="2" charset="0"/>
              </a:rPr>
              <a:t>Part 1: </a:t>
            </a:r>
            <a:r>
              <a:rPr lang="en-US" sz="1400" dirty="0">
                <a:solidFill>
                  <a:srgbClr val="EDEDED"/>
                </a:solidFill>
                <a:latin typeface="Montserrat" pitchFamily="2" charset="0"/>
              </a:rPr>
              <a:t>Problem Framing: Black-Box Simulation Optimization 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9257D52-8D1C-69CA-B943-AA70EDEB9090}"/>
              </a:ext>
            </a:extLst>
          </p:cNvPr>
          <p:cNvSpPr/>
          <p:nvPr/>
        </p:nvSpPr>
        <p:spPr>
          <a:xfrm>
            <a:off x="3022600" y="2452020"/>
            <a:ext cx="2247900" cy="1975140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D65D26"/>
                </a:solidFill>
                <a:latin typeface="Montserrat" pitchFamily="2" charset="0"/>
              </a:rPr>
              <a:t>Part 2: </a:t>
            </a:r>
            <a:r>
              <a:rPr lang="en-US" sz="1400" dirty="0">
                <a:solidFill>
                  <a:srgbClr val="EDEDED"/>
                </a:solidFill>
                <a:latin typeface="Montserrat" pitchFamily="2" charset="0"/>
              </a:rPr>
              <a:t>Core OR challenge: optimizing under noise and limited budget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8A3FE18-768B-DA55-1E9F-672AEB1F663D}"/>
              </a:ext>
            </a:extLst>
          </p:cNvPr>
          <p:cNvSpPr/>
          <p:nvPr/>
        </p:nvSpPr>
        <p:spPr>
          <a:xfrm>
            <a:off x="615122" y="4533900"/>
            <a:ext cx="2242378" cy="2057971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D65D26"/>
                </a:solidFill>
                <a:latin typeface="Montserrat" pitchFamily="2" charset="0"/>
              </a:rPr>
              <a:t>Part 3: </a:t>
            </a:r>
            <a:r>
              <a:rPr lang="en-US" sz="1400" dirty="0">
                <a:solidFill>
                  <a:srgbClr val="EDEDED"/>
                </a:solidFill>
                <a:latin typeface="Montserrat" pitchFamily="2" charset="0"/>
              </a:rPr>
              <a:t>Implications,</a:t>
            </a:r>
          </a:p>
          <a:p>
            <a:pPr algn="ctr"/>
            <a:r>
              <a:rPr lang="en-US" sz="1400" dirty="0">
                <a:solidFill>
                  <a:srgbClr val="EDEDED"/>
                </a:solidFill>
                <a:latin typeface="Montserrat" pitchFamily="2" charset="0"/>
              </a:rPr>
              <a:t>Applications, and key takeaways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3C9FE931-A27B-CAD7-0837-72918D0BBB3A}"/>
              </a:ext>
            </a:extLst>
          </p:cNvPr>
          <p:cNvSpPr/>
          <p:nvPr/>
        </p:nvSpPr>
        <p:spPr>
          <a:xfrm>
            <a:off x="3028122" y="4533900"/>
            <a:ext cx="2242378" cy="2057971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D65D26"/>
                </a:solidFill>
                <a:latin typeface="Montserrat" pitchFamily="2" charset="0"/>
              </a:rPr>
              <a:t>Part 4: </a:t>
            </a:r>
            <a:r>
              <a:rPr lang="en-US" sz="1400" dirty="0">
                <a:solidFill>
                  <a:srgbClr val="EDEDED"/>
                </a:solidFill>
                <a:latin typeface="Montserrat" pitchFamily="2" charset="0"/>
              </a:rPr>
              <a:t>Demonstration:</a:t>
            </a:r>
          </a:p>
          <a:p>
            <a:pPr algn="ctr"/>
            <a:r>
              <a:rPr lang="en-US" sz="1400" dirty="0">
                <a:solidFill>
                  <a:srgbClr val="EDEDED"/>
                </a:solidFill>
                <a:latin typeface="Montserrat" pitchFamily="2" charset="0"/>
              </a:rPr>
              <a:t>optimization through simulation</a:t>
            </a:r>
          </a:p>
        </p:txBody>
      </p:sp>
    </p:spTree>
    <p:extLst>
      <p:ext uri="{BB962C8B-B14F-4D97-AF65-F5344CB8AC3E}">
        <p14:creationId xmlns:p14="http://schemas.microsoft.com/office/powerpoint/2010/main" val="13272620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20000">
              <a:schemeClr val="bg1"/>
            </a:gs>
            <a:gs pos="78000">
              <a:schemeClr val="tx1">
                <a:lumMod val="95000"/>
                <a:lumOff val="5000"/>
              </a:schemeClr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9FB8BF-6C59-E7DE-B5FF-BC2F51E847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>
            <a:extLst>
              <a:ext uri="{FF2B5EF4-FFF2-40B4-BE49-F238E27FC236}">
                <a16:creationId xmlns:a16="http://schemas.microsoft.com/office/drawing/2014/main" id="{40BC3011-C918-2796-0C7A-F36518FCE2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417"/>
          <a:stretch>
            <a:fillRect/>
          </a:stretch>
        </p:blipFill>
        <p:spPr>
          <a:xfrm>
            <a:off x="4559473" y="-866155"/>
            <a:ext cx="7632527" cy="7724155"/>
          </a:xfrm>
          <a:custGeom>
            <a:avLst/>
            <a:gdLst>
              <a:gd name="connsiteX0" fmla="*/ 3656412 w 6776647"/>
              <a:gd name="connsiteY0" fmla="*/ 5054965 h 6858000"/>
              <a:gd name="connsiteX1" fmla="*/ 4113979 w 6776647"/>
              <a:gd name="connsiteY1" fmla="*/ 5244495 h 6858000"/>
              <a:gd name="connsiteX2" fmla="*/ 4131893 w 6776647"/>
              <a:gd name="connsiteY2" fmla="*/ 5262409 h 6858000"/>
              <a:gd name="connsiteX3" fmla="*/ 4131892 w 6776647"/>
              <a:gd name="connsiteY3" fmla="*/ 6177545 h 6858000"/>
              <a:gd name="connsiteX4" fmla="*/ 4043288 w 6776647"/>
              <a:gd name="connsiteY4" fmla="*/ 6266149 h 6858000"/>
              <a:gd name="connsiteX5" fmla="*/ 3128155 w 6776647"/>
              <a:gd name="connsiteY5" fmla="*/ 6266149 h 6858000"/>
              <a:gd name="connsiteX6" fmla="*/ 3110241 w 6776647"/>
              <a:gd name="connsiteY6" fmla="*/ 6248235 h 6858000"/>
              <a:gd name="connsiteX7" fmla="*/ 3110240 w 6776647"/>
              <a:gd name="connsiteY7" fmla="*/ 5333099 h 6858000"/>
              <a:gd name="connsiteX8" fmla="*/ 3198844 w 6776647"/>
              <a:gd name="connsiteY8" fmla="*/ 5244495 h 6858000"/>
              <a:gd name="connsiteX9" fmla="*/ 3656412 w 6776647"/>
              <a:gd name="connsiteY9" fmla="*/ 5054965 h 6858000"/>
              <a:gd name="connsiteX10" fmla="*/ 6776647 w 6776647"/>
              <a:gd name="connsiteY10" fmla="*/ 4307086 h 6858000"/>
              <a:gd name="connsiteX11" fmla="*/ 6776647 w 6776647"/>
              <a:gd name="connsiteY11" fmla="*/ 5306043 h 6858000"/>
              <a:gd name="connsiteX12" fmla="*/ 5224689 w 6776647"/>
              <a:gd name="connsiteY12" fmla="*/ 6858000 h 6858000"/>
              <a:gd name="connsiteX13" fmla="*/ 4225733 w 6776647"/>
              <a:gd name="connsiteY13" fmla="*/ 6858000 h 6858000"/>
              <a:gd name="connsiteX14" fmla="*/ 6776647 w 6776647"/>
              <a:gd name="connsiteY14" fmla="*/ 1775039 h 6858000"/>
              <a:gd name="connsiteX15" fmla="*/ 6776647 w 6776647"/>
              <a:gd name="connsiteY15" fmla="*/ 3615452 h 6858000"/>
              <a:gd name="connsiteX16" fmla="*/ 5493702 w 6776647"/>
              <a:gd name="connsiteY16" fmla="*/ 4898396 h 6858000"/>
              <a:gd name="connsiteX17" fmla="*/ 4578567 w 6776647"/>
              <a:gd name="connsiteY17" fmla="*/ 4898396 h 6858000"/>
              <a:gd name="connsiteX18" fmla="*/ 4560653 w 6776647"/>
              <a:gd name="connsiteY18" fmla="*/ 4880482 h 6858000"/>
              <a:gd name="connsiteX19" fmla="*/ 4560653 w 6776647"/>
              <a:gd name="connsiteY19" fmla="*/ 3965347 h 6858000"/>
              <a:gd name="connsiteX20" fmla="*/ 6660166 w 6776647"/>
              <a:gd name="connsiteY20" fmla="*/ 1865835 h 6858000"/>
              <a:gd name="connsiteX21" fmla="*/ 6761678 w 6776647"/>
              <a:gd name="connsiteY21" fmla="*/ 1782916 h 6858000"/>
              <a:gd name="connsiteX22" fmla="*/ 5881240 w 6776647"/>
              <a:gd name="connsiteY22" fmla="*/ 18786 h 6858000"/>
              <a:gd name="connsiteX23" fmla="*/ 6475267 w 6776647"/>
              <a:gd name="connsiteY23" fmla="*/ 264840 h 6858000"/>
              <a:gd name="connsiteX24" fmla="*/ 6498525 w 6776647"/>
              <a:gd name="connsiteY24" fmla="*/ 288097 h 6858000"/>
              <a:gd name="connsiteX25" fmla="*/ 6498525 w 6776647"/>
              <a:gd name="connsiteY25" fmla="*/ 1476151 h 6858000"/>
              <a:gd name="connsiteX26" fmla="*/ 2949108 w 6776647"/>
              <a:gd name="connsiteY26" fmla="*/ 5025568 h 6858000"/>
              <a:gd name="connsiteX27" fmla="*/ 1761054 w 6776647"/>
              <a:gd name="connsiteY27" fmla="*/ 5025568 h 6858000"/>
              <a:gd name="connsiteX28" fmla="*/ 1737797 w 6776647"/>
              <a:gd name="connsiteY28" fmla="*/ 5002311 h 6858000"/>
              <a:gd name="connsiteX29" fmla="*/ 1737797 w 6776647"/>
              <a:gd name="connsiteY29" fmla="*/ 3814257 h 6858000"/>
              <a:gd name="connsiteX30" fmla="*/ 5287213 w 6776647"/>
              <a:gd name="connsiteY30" fmla="*/ 264840 h 6858000"/>
              <a:gd name="connsiteX31" fmla="*/ 5881240 w 6776647"/>
              <a:gd name="connsiteY31" fmla="*/ 18786 h 6858000"/>
              <a:gd name="connsiteX32" fmla="*/ 3421136 w 6776647"/>
              <a:gd name="connsiteY32" fmla="*/ 0 h 6858000"/>
              <a:gd name="connsiteX33" fmla="*/ 5065590 w 6776647"/>
              <a:gd name="connsiteY33" fmla="*/ 0 h 6858000"/>
              <a:gd name="connsiteX34" fmla="*/ 5058235 w 6776647"/>
              <a:gd name="connsiteY34" fmla="*/ 13976 h 6858000"/>
              <a:gd name="connsiteX35" fmla="*/ 4984132 w 6776647"/>
              <a:gd name="connsiteY35" fmla="*/ 104695 h 6858000"/>
              <a:gd name="connsiteX36" fmla="*/ 1478980 w 6776647"/>
              <a:gd name="connsiteY36" fmla="*/ 3609848 h 6858000"/>
              <a:gd name="connsiteX37" fmla="*/ 661145 w 6776647"/>
              <a:gd name="connsiteY37" fmla="*/ 3609848 h 6858000"/>
              <a:gd name="connsiteX38" fmla="*/ 645135 w 6776647"/>
              <a:gd name="connsiteY38" fmla="*/ 3593837 h 6858000"/>
              <a:gd name="connsiteX39" fmla="*/ 645135 w 6776647"/>
              <a:gd name="connsiteY39" fmla="*/ 2776002 h 6858000"/>
              <a:gd name="connsiteX40" fmla="*/ 1313944 w 6776647"/>
              <a:gd name="connsiteY40" fmla="*/ 0 h 6858000"/>
              <a:gd name="connsiteX41" fmla="*/ 2570790 w 6776647"/>
              <a:gd name="connsiteY41" fmla="*/ 0 h 6858000"/>
              <a:gd name="connsiteX42" fmla="*/ 2582282 w 6776647"/>
              <a:gd name="connsiteY42" fmla="*/ 38778 h 6858000"/>
              <a:gd name="connsiteX43" fmla="*/ 2423489 w 6776647"/>
              <a:gd name="connsiteY43" fmla="*/ 558147 h 6858000"/>
              <a:gd name="connsiteX44" fmla="*/ 1003226 w 6776647"/>
              <a:gd name="connsiteY44" fmla="*/ 1978410 h 6858000"/>
              <a:gd name="connsiteX45" fmla="*/ 185390 w 6776647"/>
              <a:gd name="connsiteY45" fmla="*/ 1978410 h 6858000"/>
              <a:gd name="connsiteX46" fmla="*/ 169380 w 6776647"/>
              <a:gd name="connsiteY46" fmla="*/ 1962401 h 6858000"/>
              <a:gd name="connsiteX47" fmla="*/ 169380 w 6776647"/>
              <a:gd name="connsiteY47" fmla="*/ 114456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</a:cxnLst>
            <a:rect l="l" t="t" r="r" b="b"/>
            <a:pathLst>
              <a:path w="6776647" h="6858000">
                <a:moveTo>
                  <a:pt x="3656412" y="5054965"/>
                </a:moveTo>
                <a:cubicBezTo>
                  <a:pt x="3822019" y="5054965"/>
                  <a:pt x="3987625" y="5118142"/>
                  <a:pt x="4113979" y="5244495"/>
                </a:cubicBezTo>
                <a:lnTo>
                  <a:pt x="4131893" y="5262409"/>
                </a:lnTo>
                <a:cubicBezTo>
                  <a:pt x="4384601" y="5515117"/>
                  <a:pt x="4384601" y="5924838"/>
                  <a:pt x="4131892" y="6177545"/>
                </a:cubicBezTo>
                <a:lnTo>
                  <a:pt x="4043288" y="6266149"/>
                </a:lnTo>
                <a:cubicBezTo>
                  <a:pt x="3790582" y="6518855"/>
                  <a:pt x="3380861" y="6518855"/>
                  <a:pt x="3128155" y="6266149"/>
                </a:cubicBezTo>
                <a:lnTo>
                  <a:pt x="3110241" y="6248235"/>
                </a:lnTo>
                <a:cubicBezTo>
                  <a:pt x="2857533" y="5995527"/>
                  <a:pt x="2857533" y="5585807"/>
                  <a:pt x="3110240" y="5333099"/>
                </a:cubicBezTo>
                <a:lnTo>
                  <a:pt x="3198844" y="5244495"/>
                </a:lnTo>
                <a:cubicBezTo>
                  <a:pt x="3325198" y="5118143"/>
                  <a:pt x="3490804" y="5054965"/>
                  <a:pt x="3656412" y="5054965"/>
                </a:cubicBezTo>
                <a:close/>
                <a:moveTo>
                  <a:pt x="6776647" y="4307086"/>
                </a:moveTo>
                <a:lnTo>
                  <a:pt x="6776647" y="5306043"/>
                </a:lnTo>
                <a:lnTo>
                  <a:pt x="5224689" y="6858000"/>
                </a:lnTo>
                <a:lnTo>
                  <a:pt x="4225733" y="6858000"/>
                </a:lnTo>
                <a:close/>
                <a:moveTo>
                  <a:pt x="6776647" y="1775039"/>
                </a:moveTo>
                <a:lnTo>
                  <a:pt x="6776647" y="3615452"/>
                </a:lnTo>
                <a:lnTo>
                  <a:pt x="5493702" y="4898396"/>
                </a:lnTo>
                <a:cubicBezTo>
                  <a:pt x="5240995" y="5151104"/>
                  <a:pt x="4831276" y="5151103"/>
                  <a:pt x="4578567" y="4898396"/>
                </a:cubicBezTo>
                <a:lnTo>
                  <a:pt x="4560653" y="4880482"/>
                </a:lnTo>
                <a:cubicBezTo>
                  <a:pt x="4307946" y="4627775"/>
                  <a:pt x="4307946" y="4218054"/>
                  <a:pt x="4560653" y="3965347"/>
                </a:cubicBezTo>
                <a:lnTo>
                  <a:pt x="6660166" y="1865835"/>
                </a:lnTo>
                <a:cubicBezTo>
                  <a:pt x="6691755" y="1834247"/>
                  <a:pt x="6725796" y="1806607"/>
                  <a:pt x="6761678" y="1782916"/>
                </a:cubicBezTo>
                <a:close/>
                <a:moveTo>
                  <a:pt x="5881240" y="18786"/>
                </a:moveTo>
                <a:cubicBezTo>
                  <a:pt x="6096236" y="18786"/>
                  <a:pt x="6311231" y="100804"/>
                  <a:pt x="6475267" y="264840"/>
                </a:cubicBezTo>
                <a:lnTo>
                  <a:pt x="6498525" y="288097"/>
                </a:lnTo>
                <a:cubicBezTo>
                  <a:pt x="6826598" y="616169"/>
                  <a:pt x="6826598" y="1148079"/>
                  <a:pt x="6498525" y="1476151"/>
                </a:cubicBezTo>
                <a:lnTo>
                  <a:pt x="2949108" y="5025568"/>
                </a:lnTo>
                <a:cubicBezTo>
                  <a:pt x="2621036" y="5353640"/>
                  <a:pt x="2089127" y="5353640"/>
                  <a:pt x="1761054" y="5025568"/>
                </a:cubicBezTo>
                <a:lnTo>
                  <a:pt x="1737797" y="5002311"/>
                </a:lnTo>
                <a:cubicBezTo>
                  <a:pt x="1409725" y="4674239"/>
                  <a:pt x="1409725" y="4142329"/>
                  <a:pt x="1737797" y="3814257"/>
                </a:cubicBezTo>
                <a:lnTo>
                  <a:pt x="5287213" y="264840"/>
                </a:lnTo>
                <a:cubicBezTo>
                  <a:pt x="5451251" y="100804"/>
                  <a:pt x="5666245" y="18785"/>
                  <a:pt x="5881240" y="18786"/>
                </a:cubicBezTo>
                <a:close/>
                <a:moveTo>
                  <a:pt x="3421136" y="0"/>
                </a:moveTo>
                <a:lnTo>
                  <a:pt x="5065590" y="0"/>
                </a:lnTo>
                <a:lnTo>
                  <a:pt x="5058235" y="13976"/>
                </a:lnTo>
                <a:cubicBezTo>
                  <a:pt x="5037063" y="46043"/>
                  <a:pt x="5012362" y="76465"/>
                  <a:pt x="4984132" y="104695"/>
                </a:cubicBezTo>
                <a:lnTo>
                  <a:pt x="1478980" y="3609848"/>
                </a:lnTo>
                <a:cubicBezTo>
                  <a:pt x="1253141" y="3835687"/>
                  <a:pt x="886985" y="3835687"/>
                  <a:pt x="661145" y="3609848"/>
                </a:cubicBezTo>
                <a:lnTo>
                  <a:pt x="645135" y="3593837"/>
                </a:lnTo>
                <a:cubicBezTo>
                  <a:pt x="419295" y="3367998"/>
                  <a:pt x="419295" y="3001841"/>
                  <a:pt x="645135" y="2776002"/>
                </a:cubicBezTo>
                <a:close/>
                <a:moveTo>
                  <a:pt x="1313944" y="0"/>
                </a:moveTo>
                <a:lnTo>
                  <a:pt x="2570790" y="0"/>
                </a:lnTo>
                <a:lnTo>
                  <a:pt x="2582282" y="38778"/>
                </a:lnTo>
                <a:cubicBezTo>
                  <a:pt x="2617570" y="221036"/>
                  <a:pt x="2564639" y="416997"/>
                  <a:pt x="2423489" y="558147"/>
                </a:cubicBezTo>
                <a:lnTo>
                  <a:pt x="1003226" y="1978410"/>
                </a:lnTo>
                <a:cubicBezTo>
                  <a:pt x="777387" y="2204250"/>
                  <a:pt x="411230" y="2204250"/>
                  <a:pt x="185390" y="1978410"/>
                </a:cubicBezTo>
                <a:lnTo>
                  <a:pt x="169380" y="1962401"/>
                </a:lnTo>
                <a:cubicBezTo>
                  <a:pt x="-56460" y="1736561"/>
                  <a:pt x="-56460" y="1370404"/>
                  <a:pt x="169380" y="1144565"/>
                </a:cubicBezTo>
                <a:close/>
              </a:path>
            </a:pathLst>
          </a:custGeom>
          <a:effectLst>
            <a:innerShdw blurRad="63500" dist="50800" dir="16200000">
              <a:prstClr val="black">
                <a:alpha val="50000"/>
              </a:prstClr>
            </a:innerShdw>
          </a:effectLst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191AEC87-B80D-BE64-4641-27D97805C02A}"/>
              </a:ext>
            </a:extLst>
          </p:cNvPr>
          <p:cNvSpPr txBox="1"/>
          <p:nvPr/>
        </p:nvSpPr>
        <p:spPr>
          <a:xfrm>
            <a:off x="-683224" y="133620"/>
            <a:ext cx="677664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rgbClr val="D65D26"/>
                </a:solidFill>
                <a:latin typeface="Inter" panose="02000503000000020004" pitchFamily="2" charset="0"/>
                <a:ea typeface="Inter" panose="02000503000000020004" pitchFamily="2" charset="0"/>
              </a:rPr>
              <a:t>Part 1: </a:t>
            </a:r>
            <a:r>
              <a:rPr lang="en-US" sz="3600" dirty="0">
                <a:solidFill>
                  <a:srgbClr val="EDEDED"/>
                </a:solidFill>
                <a:latin typeface="Inter" panose="02000503000000020004" pitchFamily="2" charset="0"/>
                <a:ea typeface="Inter" panose="02000503000000020004" pitchFamily="2" charset="0"/>
              </a:rPr>
              <a:t>Problem Framing: Black-Box Simulation Optimization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AFEFA47-0087-1A25-CAAE-CC72E7E71E19}"/>
              </a:ext>
            </a:extLst>
          </p:cNvPr>
          <p:cNvSpPr txBox="1"/>
          <p:nvPr/>
        </p:nvSpPr>
        <p:spPr>
          <a:xfrm>
            <a:off x="314122" y="2518389"/>
            <a:ext cx="4113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D65D26"/>
                </a:solidFill>
                <a:latin typeface="Montserrat" pitchFamily="2" charset="0"/>
                <a:ea typeface="Inter" panose="02000503000000020004" pitchFamily="2" charset="0"/>
              </a:rPr>
              <a:t>1.1</a:t>
            </a:r>
            <a:r>
              <a:rPr lang="en-US" sz="2000" b="1" dirty="0">
                <a:solidFill>
                  <a:srgbClr val="EDEDED"/>
                </a:solidFill>
                <a:latin typeface="Montserrat" pitchFamily="2" charset="0"/>
                <a:ea typeface="Inter" panose="02000503000000020004" pitchFamily="2" charset="0"/>
              </a:rPr>
              <a:t> What Problem Class is this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EEFA771-280C-F321-223F-ADE396C02814}"/>
              </a:ext>
            </a:extLst>
          </p:cNvPr>
          <p:cNvSpPr txBox="1"/>
          <p:nvPr/>
        </p:nvSpPr>
        <p:spPr>
          <a:xfrm>
            <a:off x="279595" y="3518164"/>
            <a:ext cx="384592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EDEDED"/>
                </a:solidFill>
                <a:latin typeface="Montserrat" pitchFamily="2" charset="0"/>
              </a:rPr>
              <a:t>No explicit objective function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EDEDED"/>
                </a:solidFill>
                <a:latin typeface="Montserrat" pitchFamily="2" charset="0"/>
              </a:rPr>
              <a:t>No analytical model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EDEDED"/>
                </a:solidFill>
                <a:latin typeface="Montserrat" pitchFamily="2" charset="0"/>
              </a:rPr>
              <a:t>Only input–output access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BC56631-2309-C351-FC9D-993C47A6ED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595" y="4970054"/>
            <a:ext cx="1690916" cy="1754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69422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20000">
              <a:schemeClr val="bg1"/>
            </a:gs>
            <a:gs pos="78000">
              <a:schemeClr val="tx1">
                <a:lumMod val="95000"/>
                <a:lumOff val="5000"/>
              </a:schemeClr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DBE792B-E83B-3D22-C92A-DA09A4155A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>
            <a:extLst>
              <a:ext uri="{FF2B5EF4-FFF2-40B4-BE49-F238E27FC236}">
                <a16:creationId xmlns:a16="http://schemas.microsoft.com/office/drawing/2014/main" id="{D6C69B2B-C12B-CAC6-72D6-F8E6159195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417"/>
          <a:stretch>
            <a:fillRect/>
          </a:stretch>
        </p:blipFill>
        <p:spPr>
          <a:xfrm>
            <a:off x="4559473" y="-866155"/>
            <a:ext cx="7632527" cy="7724155"/>
          </a:xfrm>
          <a:custGeom>
            <a:avLst/>
            <a:gdLst>
              <a:gd name="connsiteX0" fmla="*/ 3656412 w 6776647"/>
              <a:gd name="connsiteY0" fmla="*/ 5054965 h 6858000"/>
              <a:gd name="connsiteX1" fmla="*/ 4113979 w 6776647"/>
              <a:gd name="connsiteY1" fmla="*/ 5244495 h 6858000"/>
              <a:gd name="connsiteX2" fmla="*/ 4131893 w 6776647"/>
              <a:gd name="connsiteY2" fmla="*/ 5262409 h 6858000"/>
              <a:gd name="connsiteX3" fmla="*/ 4131892 w 6776647"/>
              <a:gd name="connsiteY3" fmla="*/ 6177545 h 6858000"/>
              <a:gd name="connsiteX4" fmla="*/ 4043288 w 6776647"/>
              <a:gd name="connsiteY4" fmla="*/ 6266149 h 6858000"/>
              <a:gd name="connsiteX5" fmla="*/ 3128155 w 6776647"/>
              <a:gd name="connsiteY5" fmla="*/ 6266149 h 6858000"/>
              <a:gd name="connsiteX6" fmla="*/ 3110241 w 6776647"/>
              <a:gd name="connsiteY6" fmla="*/ 6248235 h 6858000"/>
              <a:gd name="connsiteX7" fmla="*/ 3110240 w 6776647"/>
              <a:gd name="connsiteY7" fmla="*/ 5333099 h 6858000"/>
              <a:gd name="connsiteX8" fmla="*/ 3198844 w 6776647"/>
              <a:gd name="connsiteY8" fmla="*/ 5244495 h 6858000"/>
              <a:gd name="connsiteX9" fmla="*/ 3656412 w 6776647"/>
              <a:gd name="connsiteY9" fmla="*/ 5054965 h 6858000"/>
              <a:gd name="connsiteX10" fmla="*/ 6776647 w 6776647"/>
              <a:gd name="connsiteY10" fmla="*/ 4307086 h 6858000"/>
              <a:gd name="connsiteX11" fmla="*/ 6776647 w 6776647"/>
              <a:gd name="connsiteY11" fmla="*/ 5306043 h 6858000"/>
              <a:gd name="connsiteX12" fmla="*/ 5224689 w 6776647"/>
              <a:gd name="connsiteY12" fmla="*/ 6858000 h 6858000"/>
              <a:gd name="connsiteX13" fmla="*/ 4225733 w 6776647"/>
              <a:gd name="connsiteY13" fmla="*/ 6858000 h 6858000"/>
              <a:gd name="connsiteX14" fmla="*/ 6776647 w 6776647"/>
              <a:gd name="connsiteY14" fmla="*/ 1775039 h 6858000"/>
              <a:gd name="connsiteX15" fmla="*/ 6776647 w 6776647"/>
              <a:gd name="connsiteY15" fmla="*/ 3615452 h 6858000"/>
              <a:gd name="connsiteX16" fmla="*/ 5493702 w 6776647"/>
              <a:gd name="connsiteY16" fmla="*/ 4898396 h 6858000"/>
              <a:gd name="connsiteX17" fmla="*/ 4578567 w 6776647"/>
              <a:gd name="connsiteY17" fmla="*/ 4898396 h 6858000"/>
              <a:gd name="connsiteX18" fmla="*/ 4560653 w 6776647"/>
              <a:gd name="connsiteY18" fmla="*/ 4880482 h 6858000"/>
              <a:gd name="connsiteX19" fmla="*/ 4560653 w 6776647"/>
              <a:gd name="connsiteY19" fmla="*/ 3965347 h 6858000"/>
              <a:gd name="connsiteX20" fmla="*/ 6660166 w 6776647"/>
              <a:gd name="connsiteY20" fmla="*/ 1865835 h 6858000"/>
              <a:gd name="connsiteX21" fmla="*/ 6761678 w 6776647"/>
              <a:gd name="connsiteY21" fmla="*/ 1782916 h 6858000"/>
              <a:gd name="connsiteX22" fmla="*/ 5881240 w 6776647"/>
              <a:gd name="connsiteY22" fmla="*/ 18786 h 6858000"/>
              <a:gd name="connsiteX23" fmla="*/ 6475267 w 6776647"/>
              <a:gd name="connsiteY23" fmla="*/ 264840 h 6858000"/>
              <a:gd name="connsiteX24" fmla="*/ 6498525 w 6776647"/>
              <a:gd name="connsiteY24" fmla="*/ 288097 h 6858000"/>
              <a:gd name="connsiteX25" fmla="*/ 6498525 w 6776647"/>
              <a:gd name="connsiteY25" fmla="*/ 1476151 h 6858000"/>
              <a:gd name="connsiteX26" fmla="*/ 2949108 w 6776647"/>
              <a:gd name="connsiteY26" fmla="*/ 5025568 h 6858000"/>
              <a:gd name="connsiteX27" fmla="*/ 1761054 w 6776647"/>
              <a:gd name="connsiteY27" fmla="*/ 5025568 h 6858000"/>
              <a:gd name="connsiteX28" fmla="*/ 1737797 w 6776647"/>
              <a:gd name="connsiteY28" fmla="*/ 5002311 h 6858000"/>
              <a:gd name="connsiteX29" fmla="*/ 1737797 w 6776647"/>
              <a:gd name="connsiteY29" fmla="*/ 3814257 h 6858000"/>
              <a:gd name="connsiteX30" fmla="*/ 5287213 w 6776647"/>
              <a:gd name="connsiteY30" fmla="*/ 264840 h 6858000"/>
              <a:gd name="connsiteX31" fmla="*/ 5881240 w 6776647"/>
              <a:gd name="connsiteY31" fmla="*/ 18786 h 6858000"/>
              <a:gd name="connsiteX32" fmla="*/ 3421136 w 6776647"/>
              <a:gd name="connsiteY32" fmla="*/ 0 h 6858000"/>
              <a:gd name="connsiteX33" fmla="*/ 5065590 w 6776647"/>
              <a:gd name="connsiteY33" fmla="*/ 0 h 6858000"/>
              <a:gd name="connsiteX34" fmla="*/ 5058235 w 6776647"/>
              <a:gd name="connsiteY34" fmla="*/ 13976 h 6858000"/>
              <a:gd name="connsiteX35" fmla="*/ 4984132 w 6776647"/>
              <a:gd name="connsiteY35" fmla="*/ 104695 h 6858000"/>
              <a:gd name="connsiteX36" fmla="*/ 1478980 w 6776647"/>
              <a:gd name="connsiteY36" fmla="*/ 3609848 h 6858000"/>
              <a:gd name="connsiteX37" fmla="*/ 661145 w 6776647"/>
              <a:gd name="connsiteY37" fmla="*/ 3609848 h 6858000"/>
              <a:gd name="connsiteX38" fmla="*/ 645135 w 6776647"/>
              <a:gd name="connsiteY38" fmla="*/ 3593837 h 6858000"/>
              <a:gd name="connsiteX39" fmla="*/ 645135 w 6776647"/>
              <a:gd name="connsiteY39" fmla="*/ 2776002 h 6858000"/>
              <a:gd name="connsiteX40" fmla="*/ 1313944 w 6776647"/>
              <a:gd name="connsiteY40" fmla="*/ 0 h 6858000"/>
              <a:gd name="connsiteX41" fmla="*/ 2570790 w 6776647"/>
              <a:gd name="connsiteY41" fmla="*/ 0 h 6858000"/>
              <a:gd name="connsiteX42" fmla="*/ 2582282 w 6776647"/>
              <a:gd name="connsiteY42" fmla="*/ 38778 h 6858000"/>
              <a:gd name="connsiteX43" fmla="*/ 2423489 w 6776647"/>
              <a:gd name="connsiteY43" fmla="*/ 558147 h 6858000"/>
              <a:gd name="connsiteX44" fmla="*/ 1003226 w 6776647"/>
              <a:gd name="connsiteY44" fmla="*/ 1978410 h 6858000"/>
              <a:gd name="connsiteX45" fmla="*/ 185390 w 6776647"/>
              <a:gd name="connsiteY45" fmla="*/ 1978410 h 6858000"/>
              <a:gd name="connsiteX46" fmla="*/ 169380 w 6776647"/>
              <a:gd name="connsiteY46" fmla="*/ 1962401 h 6858000"/>
              <a:gd name="connsiteX47" fmla="*/ 169380 w 6776647"/>
              <a:gd name="connsiteY47" fmla="*/ 114456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</a:cxnLst>
            <a:rect l="l" t="t" r="r" b="b"/>
            <a:pathLst>
              <a:path w="6776647" h="6858000">
                <a:moveTo>
                  <a:pt x="3656412" y="5054965"/>
                </a:moveTo>
                <a:cubicBezTo>
                  <a:pt x="3822019" y="5054965"/>
                  <a:pt x="3987625" y="5118142"/>
                  <a:pt x="4113979" y="5244495"/>
                </a:cubicBezTo>
                <a:lnTo>
                  <a:pt x="4131893" y="5262409"/>
                </a:lnTo>
                <a:cubicBezTo>
                  <a:pt x="4384601" y="5515117"/>
                  <a:pt x="4384601" y="5924838"/>
                  <a:pt x="4131892" y="6177545"/>
                </a:cubicBezTo>
                <a:lnTo>
                  <a:pt x="4043288" y="6266149"/>
                </a:lnTo>
                <a:cubicBezTo>
                  <a:pt x="3790582" y="6518855"/>
                  <a:pt x="3380861" y="6518855"/>
                  <a:pt x="3128155" y="6266149"/>
                </a:cubicBezTo>
                <a:lnTo>
                  <a:pt x="3110241" y="6248235"/>
                </a:lnTo>
                <a:cubicBezTo>
                  <a:pt x="2857533" y="5995527"/>
                  <a:pt x="2857533" y="5585807"/>
                  <a:pt x="3110240" y="5333099"/>
                </a:cubicBezTo>
                <a:lnTo>
                  <a:pt x="3198844" y="5244495"/>
                </a:lnTo>
                <a:cubicBezTo>
                  <a:pt x="3325198" y="5118143"/>
                  <a:pt x="3490804" y="5054965"/>
                  <a:pt x="3656412" y="5054965"/>
                </a:cubicBezTo>
                <a:close/>
                <a:moveTo>
                  <a:pt x="6776647" y="4307086"/>
                </a:moveTo>
                <a:lnTo>
                  <a:pt x="6776647" y="5306043"/>
                </a:lnTo>
                <a:lnTo>
                  <a:pt x="5224689" y="6858000"/>
                </a:lnTo>
                <a:lnTo>
                  <a:pt x="4225733" y="6858000"/>
                </a:lnTo>
                <a:close/>
                <a:moveTo>
                  <a:pt x="6776647" y="1775039"/>
                </a:moveTo>
                <a:lnTo>
                  <a:pt x="6776647" y="3615452"/>
                </a:lnTo>
                <a:lnTo>
                  <a:pt x="5493702" y="4898396"/>
                </a:lnTo>
                <a:cubicBezTo>
                  <a:pt x="5240995" y="5151104"/>
                  <a:pt x="4831276" y="5151103"/>
                  <a:pt x="4578567" y="4898396"/>
                </a:cubicBezTo>
                <a:lnTo>
                  <a:pt x="4560653" y="4880482"/>
                </a:lnTo>
                <a:cubicBezTo>
                  <a:pt x="4307946" y="4627775"/>
                  <a:pt x="4307946" y="4218054"/>
                  <a:pt x="4560653" y="3965347"/>
                </a:cubicBezTo>
                <a:lnTo>
                  <a:pt x="6660166" y="1865835"/>
                </a:lnTo>
                <a:cubicBezTo>
                  <a:pt x="6691755" y="1834247"/>
                  <a:pt x="6725796" y="1806607"/>
                  <a:pt x="6761678" y="1782916"/>
                </a:cubicBezTo>
                <a:close/>
                <a:moveTo>
                  <a:pt x="5881240" y="18786"/>
                </a:moveTo>
                <a:cubicBezTo>
                  <a:pt x="6096236" y="18786"/>
                  <a:pt x="6311231" y="100804"/>
                  <a:pt x="6475267" y="264840"/>
                </a:cubicBezTo>
                <a:lnTo>
                  <a:pt x="6498525" y="288097"/>
                </a:lnTo>
                <a:cubicBezTo>
                  <a:pt x="6826598" y="616169"/>
                  <a:pt x="6826598" y="1148079"/>
                  <a:pt x="6498525" y="1476151"/>
                </a:cubicBezTo>
                <a:lnTo>
                  <a:pt x="2949108" y="5025568"/>
                </a:lnTo>
                <a:cubicBezTo>
                  <a:pt x="2621036" y="5353640"/>
                  <a:pt x="2089127" y="5353640"/>
                  <a:pt x="1761054" y="5025568"/>
                </a:cubicBezTo>
                <a:lnTo>
                  <a:pt x="1737797" y="5002311"/>
                </a:lnTo>
                <a:cubicBezTo>
                  <a:pt x="1409725" y="4674239"/>
                  <a:pt x="1409725" y="4142329"/>
                  <a:pt x="1737797" y="3814257"/>
                </a:cubicBezTo>
                <a:lnTo>
                  <a:pt x="5287213" y="264840"/>
                </a:lnTo>
                <a:cubicBezTo>
                  <a:pt x="5451251" y="100804"/>
                  <a:pt x="5666245" y="18785"/>
                  <a:pt x="5881240" y="18786"/>
                </a:cubicBezTo>
                <a:close/>
                <a:moveTo>
                  <a:pt x="3421136" y="0"/>
                </a:moveTo>
                <a:lnTo>
                  <a:pt x="5065590" y="0"/>
                </a:lnTo>
                <a:lnTo>
                  <a:pt x="5058235" y="13976"/>
                </a:lnTo>
                <a:cubicBezTo>
                  <a:pt x="5037063" y="46043"/>
                  <a:pt x="5012362" y="76465"/>
                  <a:pt x="4984132" y="104695"/>
                </a:cubicBezTo>
                <a:lnTo>
                  <a:pt x="1478980" y="3609848"/>
                </a:lnTo>
                <a:cubicBezTo>
                  <a:pt x="1253141" y="3835687"/>
                  <a:pt x="886985" y="3835687"/>
                  <a:pt x="661145" y="3609848"/>
                </a:cubicBezTo>
                <a:lnTo>
                  <a:pt x="645135" y="3593837"/>
                </a:lnTo>
                <a:cubicBezTo>
                  <a:pt x="419295" y="3367998"/>
                  <a:pt x="419295" y="3001841"/>
                  <a:pt x="645135" y="2776002"/>
                </a:cubicBezTo>
                <a:close/>
                <a:moveTo>
                  <a:pt x="1313944" y="0"/>
                </a:moveTo>
                <a:lnTo>
                  <a:pt x="2570790" y="0"/>
                </a:lnTo>
                <a:lnTo>
                  <a:pt x="2582282" y="38778"/>
                </a:lnTo>
                <a:cubicBezTo>
                  <a:pt x="2617570" y="221036"/>
                  <a:pt x="2564639" y="416997"/>
                  <a:pt x="2423489" y="558147"/>
                </a:cubicBezTo>
                <a:lnTo>
                  <a:pt x="1003226" y="1978410"/>
                </a:lnTo>
                <a:cubicBezTo>
                  <a:pt x="777387" y="2204250"/>
                  <a:pt x="411230" y="2204250"/>
                  <a:pt x="185390" y="1978410"/>
                </a:cubicBezTo>
                <a:lnTo>
                  <a:pt x="169380" y="1962401"/>
                </a:lnTo>
                <a:cubicBezTo>
                  <a:pt x="-56460" y="1736561"/>
                  <a:pt x="-56460" y="1370404"/>
                  <a:pt x="169380" y="1144565"/>
                </a:cubicBezTo>
                <a:close/>
              </a:path>
            </a:pathLst>
          </a:custGeom>
          <a:effectLst>
            <a:innerShdw blurRad="63500" dist="50800" dir="16200000">
              <a:prstClr val="black">
                <a:alpha val="50000"/>
              </a:prstClr>
            </a:innerShdw>
          </a:effectLst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EE8EB7A1-1BAA-9E84-F5AD-5CBC002DF050}"/>
              </a:ext>
            </a:extLst>
          </p:cNvPr>
          <p:cNvSpPr txBox="1"/>
          <p:nvPr/>
        </p:nvSpPr>
        <p:spPr>
          <a:xfrm>
            <a:off x="-683224" y="133620"/>
            <a:ext cx="677664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rgbClr val="D65D26"/>
                </a:solidFill>
                <a:latin typeface="Inter" panose="02000503000000020004" pitchFamily="2" charset="0"/>
                <a:ea typeface="Inter" panose="02000503000000020004" pitchFamily="2" charset="0"/>
              </a:rPr>
              <a:t>Part 1: </a:t>
            </a:r>
            <a:r>
              <a:rPr lang="en-US" sz="3600" dirty="0">
                <a:solidFill>
                  <a:srgbClr val="EDEDED"/>
                </a:solidFill>
                <a:latin typeface="Inter" panose="02000503000000020004" pitchFamily="2" charset="0"/>
                <a:ea typeface="Inter" panose="02000503000000020004" pitchFamily="2" charset="0"/>
              </a:rPr>
              <a:t>Problem Framing: Black-Box Simulation Optimization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32B3C43-ADD7-E6F5-6D35-5E639CED0881}"/>
              </a:ext>
            </a:extLst>
          </p:cNvPr>
          <p:cNvSpPr txBox="1"/>
          <p:nvPr/>
        </p:nvSpPr>
        <p:spPr>
          <a:xfrm>
            <a:off x="314122" y="2518389"/>
            <a:ext cx="37545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D65D26"/>
                </a:solidFill>
                <a:latin typeface="Montserrat" pitchFamily="2" charset="0"/>
                <a:ea typeface="Inter" panose="02000503000000020004" pitchFamily="2" charset="0"/>
              </a:rPr>
              <a:t>1.2</a:t>
            </a:r>
            <a:r>
              <a:rPr lang="en-US" sz="2000" b="1" dirty="0">
                <a:solidFill>
                  <a:srgbClr val="EDEDED"/>
                </a:solidFill>
                <a:latin typeface="Montserrat" pitchFamily="2" charset="0"/>
                <a:ea typeface="Inter" panose="02000503000000020004" pitchFamily="2" charset="0"/>
              </a:rPr>
              <a:t> Why This Is a Black Box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C9F079E-7869-60C4-8564-146A4CF7138D}"/>
              </a:ext>
            </a:extLst>
          </p:cNvPr>
          <p:cNvSpPr txBox="1"/>
          <p:nvPr/>
        </p:nvSpPr>
        <p:spPr>
          <a:xfrm>
            <a:off x="279595" y="3518164"/>
            <a:ext cx="485100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EDEDED"/>
                </a:solidFill>
                <a:latin typeface="Montserrat" pitchFamily="2" charset="0"/>
              </a:rPr>
              <a:t>Decisions affect system behavior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EDEDED"/>
                </a:solidFill>
                <a:latin typeface="Montserrat" pitchFamily="2" charset="0"/>
              </a:rPr>
              <a:t>System evolves over time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EDEDED"/>
                </a:solidFill>
                <a:latin typeface="Montserrat" pitchFamily="2" charset="0"/>
              </a:rPr>
              <a:t>Performance not directly computable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AC72CB6-3AF6-E059-CC63-C51042FB86F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595" y="4970054"/>
            <a:ext cx="1690916" cy="1754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61140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20000">
              <a:schemeClr val="bg1"/>
            </a:gs>
            <a:gs pos="78000">
              <a:schemeClr val="tx1">
                <a:lumMod val="95000"/>
                <a:lumOff val="5000"/>
              </a:schemeClr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89571AE-BB1A-B4C5-FD73-505C6FAB21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>
            <a:extLst>
              <a:ext uri="{FF2B5EF4-FFF2-40B4-BE49-F238E27FC236}">
                <a16:creationId xmlns:a16="http://schemas.microsoft.com/office/drawing/2014/main" id="{440D2C15-AFE3-F84A-7E61-92AC5C3C35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417"/>
          <a:stretch>
            <a:fillRect/>
          </a:stretch>
        </p:blipFill>
        <p:spPr>
          <a:xfrm>
            <a:off x="4559473" y="-866155"/>
            <a:ext cx="7632527" cy="7724155"/>
          </a:xfrm>
          <a:custGeom>
            <a:avLst/>
            <a:gdLst>
              <a:gd name="connsiteX0" fmla="*/ 3656412 w 6776647"/>
              <a:gd name="connsiteY0" fmla="*/ 5054965 h 6858000"/>
              <a:gd name="connsiteX1" fmla="*/ 4113979 w 6776647"/>
              <a:gd name="connsiteY1" fmla="*/ 5244495 h 6858000"/>
              <a:gd name="connsiteX2" fmla="*/ 4131893 w 6776647"/>
              <a:gd name="connsiteY2" fmla="*/ 5262409 h 6858000"/>
              <a:gd name="connsiteX3" fmla="*/ 4131892 w 6776647"/>
              <a:gd name="connsiteY3" fmla="*/ 6177545 h 6858000"/>
              <a:gd name="connsiteX4" fmla="*/ 4043288 w 6776647"/>
              <a:gd name="connsiteY4" fmla="*/ 6266149 h 6858000"/>
              <a:gd name="connsiteX5" fmla="*/ 3128155 w 6776647"/>
              <a:gd name="connsiteY5" fmla="*/ 6266149 h 6858000"/>
              <a:gd name="connsiteX6" fmla="*/ 3110241 w 6776647"/>
              <a:gd name="connsiteY6" fmla="*/ 6248235 h 6858000"/>
              <a:gd name="connsiteX7" fmla="*/ 3110240 w 6776647"/>
              <a:gd name="connsiteY7" fmla="*/ 5333099 h 6858000"/>
              <a:gd name="connsiteX8" fmla="*/ 3198844 w 6776647"/>
              <a:gd name="connsiteY8" fmla="*/ 5244495 h 6858000"/>
              <a:gd name="connsiteX9" fmla="*/ 3656412 w 6776647"/>
              <a:gd name="connsiteY9" fmla="*/ 5054965 h 6858000"/>
              <a:gd name="connsiteX10" fmla="*/ 6776647 w 6776647"/>
              <a:gd name="connsiteY10" fmla="*/ 4307086 h 6858000"/>
              <a:gd name="connsiteX11" fmla="*/ 6776647 w 6776647"/>
              <a:gd name="connsiteY11" fmla="*/ 5306043 h 6858000"/>
              <a:gd name="connsiteX12" fmla="*/ 5224689 w 6776647"/>
              <a:gd name="connsiteY12" fmla="*/ 6858000 h 6858000"/>
              <a:gd name="connsiteX13" fmla="*/ 4225733 w 6776647"/>
              <a:gd name="connsiteY13" fmla="*/ 6858000 h 6858000"/>
              <a:gd name="connsiteX14" fmla="*/ 6776647 w 6776647"/>
              <a:gd name="connsiteY14" fmla="*/ 1775039 h 6858000"/>
              <a:gd name="connsiteX15" fmla="*/ 6776647 w 6776647"/>
              <a:gd name="connsiteY15" fmla="*/ 3615452 h 6858000"/>
              <a:gd name="connsiteX16" fmla="*/ 5493702 w 6776647"/>
              <a:gd name="connsiteY16" fmla="*/ 4898396 h 6858000"/>
              <a:gd name="connsiteX17" fmla="*/ 4578567 w 6776647"/>
              <a:gd name="connsiteY17" fmla="*/ 4898396 h 6858000"/>
              <a:gd name="connsiteX18" fmla="*/ 4560653 w 6776647"/>
              <a:gd name="connsiteY18" fmla="*/ 4880482 h 6858000"/>
              <a:gd name="connsiteX19" fmla="*/ 4560653 w 6776647"/>
              <a:gd name="connsiteY19" fmla="*/ 3965347 h 6858000"/>
              <a:gd name="connsiteX20" fmla="*/ 6660166 w 6776647"/>
              <a:gd name="connsiteY20" fmla="*/ 1865835 h 6858000"/>
              <a:gd name="connsiteX21" fmla="*/ 6761678 w 6776647"/>
              <a:gd name="connsiteY21" fmla="*/ 1782916 h 6858000"/>
              <a:gd name="connsiteX22" fmla="*/ 5881240 w 6776647"/>
              <a:gd name="connsiteY22" fmla="*/ 18786 h 6858000"/>
              <a:gd name="connsiteX23" fmla="*/ 6475267 w 6776647"/>
              <a:gd name="connsiteY23" fmla="*/ 264840 h 6858000"/>
              <a:gd name="connsiteX24" fmla="*/ 6498525 w 6776647"/>
              <a:gd name="connsiteY24" fmla="*/ 288097 h 6858000"/>
              <a:gd name="connsiteX25" fmla="*/ 6498525 w 6776647"/>
              <a:gd name="connsiteY25" fmla="*/ 1476151 h 6858000"/>
              <a:gd name="connsiteX26" fmla="*/ 2949108 w 6776647"/>
              <a:gd name="connsiteY26" fmla="*/ 5025568 h 6858000"/>
              <a:gd name="connsiteX27" fmla="*/ 1761054 w 6776647"/>
              <a:gd name="connsiteY27" fmla="*/ 5025568 h 6858000"/>
              <a:gd name="connsiteX28" fmla="*/ 1737797 w 6776647"/>
              <a:gd name="connsiteY28" fmla="*/ 5002311 h 6858000"/>
              <a:gd name="connsiteX29" fmla="*/ 1737797 w 6776647"/>
              <a:gd name="connsiteY29" fmla="*/ 3814257 h 6858000"/>
              <a:gd name="connsiteX30" fmla="*/ 5287213 w 6776647"/>
              <a:gd name="connsiteY30" fmla="*/ 264840 h 6858000"/>
              <a:gd name="connsiteX31" fmla="*/ 5881240 w 6776647"/>
              <a:gd name="connsiteY31" fmla="*/ 18786 h 6858000"/>
              <a:gd name="connsiteX32" fmla="*/ 3421136 w 6776647"/>
              <a:gd name="connsiteY32" fmla="*/ 0 h 6858000"/>
              <a:gd name="connsiteX33" fmla="*/ 5065590 w 6776647"/>
              <a:gd name="connsiteY33" fmla="*/ 0 h 6858000"/>
              <a:gd name="connsiteX34" fmla="*/ 5058235 w 6776647"/>
              <a:gd name="connsiteY34" fmla="*/ 13976 h 6858000"/>
              <a:gd name="connsiteX35" fmla="*/ 4984132 w 6776647"/>
              <a:gd name="connsiteY35" fmla="*/ 104695 h 6858000"/>
              <a:gd name="connsiteX36" fmla="*/ 1478980 w 6776647"/>
              <a:gd name="connsiteY36" fmla="*/ 3609848 h 6858000"/>
              <a:gd name="connsiteX37" fmla="*/ 661145 w 6776647"/>
              <a:gd name="connsiteY37" fmla="*/ 3609848 h 6858000"/>
              <a:gd name="connsiteX38" fmla="*/ 645135 w 6776647"/>
              <a:gd name="connsiteY38" fmla="*/ 3593837 h 6858000"/>
              <a:gd name="connsiteX39" fmla="*/ 645135 w 6776647"/>
              <a:gd name="connsiteY39" fmla="*/ 2776002 h 6858000"/>
              <a:gd name="connsiteX40" fmla="*/ 1313944 w 6776647"/>
              <a:gd name="connsiteY40" fmla="*/ 0 h 6858000"/>
              <a:gd name="connsiteX41" fmla="*/ 2570790 w 6776647"/>
              <a:gd name="connsiteY41" fmla="*/ 0 h 6858000"/>
              <a:gd name="connsiteX42" fmla="*/ 2582282 w 6776647"/>
              <a:gd name="connsiteY42" fmla="*/ 38778 h 6858000"/>
              <a:gd name="connsiteX43" fmla="*/ 2423489 w 6776647"/>
              <a:gd name="connsiteY43" fmla="*/ 558147 h 6858000"/>
              <a:gd name="connsiteX44" fmla="*/ 1003226 w 6776647"/>
              <a:gd name="connsiteY44" fmla="*/ 1978410 h 6858000"/>
              <a:gd name="connsiteX45" fmla="*/ 185390 w 6776647"/>
              <a:gd name="connsiteY45" fmla="*/ 1978410 h 6858000"/>
              <a:gd name="connsiteX46" fmla="*/ 169380 w 6776647"/>
              <a:gd name="connsiteY46" fmla="*/ 1962401 h 6858000"/>
              <a:gd name="connsiteX47" fmla="*/ 169380 w 6776647"/>
              <a:gd name="connsiteY47" fmla="*/ 114456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</a:cxnLst>
            <a:rect l="l" t="t" r="r" b="b"/>
            <a:pathLst>
              <a:path w="6776647" h="6858000">
                <a:moveTo>
                  <a:pt x="3656412" y="5054965"/>
                </a:moveTo>
                <a:cubicBezTo>
                  <a:pt x="3822019" y="5054965"/>
                  <a:pt x="3987625" y="5118142"/>
                  <a:pt x="4113979" y="5244495"/>
                </a:cubicBezTo>
                <a:lnTo>
                  <a:pt x="4131893" y="5262409"/>
                </a:lnTo>
                <a:cubicBezTo>
                  <a:pt x="4384601" y="5515117"/>
                  <a:pt x="4384601" y="5924838"/>
                  <a:pt x="4131892" y="6177545"/>
                </a:cubicBezTo>
                <a:lnTo>
                  <a:pt x="4043288" y="6266149"/>
                </a:lnTo>
                <a:cubicBezTo>
                  <a:pt x="3790582" y="6518855"/>
                  <a:pt x="3380861" y="6518855"/>
                  <a:pt x="3128155" y="6266149"/>
                </a:cubicBezTo>
                <a:lnTo>
                  <a:pt x="3110241" y="6248235"/>
                </a:lnTo>
                <a:cubicBezTo>
                  <a:pt x="2857533" y="5995527"/>
                  <a:pt x="2857533" y="5585807"/>
                  <a:pt x="3110240" y="5333099"/>
                </a:cubicBezTo>
                <a:lnTo>
                  <a:pt x="3198844" y="5244495"/>
                </a:lnTo>
                <a:cubicBezTo>
                  <a:pt x="3325198" y="5118143"/>
                  <a:pt x="3490804" y="5054965"/>
                  <a:pt x="3656412" y="5054965"/>
                </a:cubicBezTo>
                <a:close/>
                <a:moveTo>
                  <a:pt x="6776647" y="4307086"/>
                </a:moveTo>
                <a:lnTo>
                  <a:pt x="6776647" y="5306043"/>
                </a:lnTo>
                <a:lnTo>
                  <a:pt x="5224689" y="6858000"/>
                </a:lnTo>
                <a:lnTo>
                  <a:pt x="4225733" y="6858000"/>
                </a:lnTo>
                <a:close/>
                <a:moveTo>
                  <a:pt x="6776647" y="1775039"/>
                </a:moveTo>
                <a:lnTo>
                  <a:pt x="6776647" y="3615452"/>
                </a:lnTo>
                <a:lnTo>
                  <a:pt x="5493702" y="4898396"/>
                </a:lnTo>
                <a:cubicBezTo>
                  <a:pt x="5240995" y="5151104"/>
                  <a:pt x="4831276" y="5151103"/>
                  <a:pt x="4578567" y="4898396"/>
                </a:cubicBezTo>
                <a:lnTo>
                  <a:pt x="4560653" y="4880482"/>
                </a:lnTo>
                <a:cubicBezTo>
                  <a:pt x="4307946" y="4627775"/>
                  <a:pt x="4307946" y="4218054"/>
                  <a:pt x="4560653" y="3965347"/>
                </a:cubicBezTo>
                <a:lnTo>
                  <a:pt x="6660166" y="1865835"/>
                </a:lnTo>
                <a:cubicBezTo>
                  <a:pt x="6691755" y="1834247"/>
                  <a:pt x="6725796" y="1806607"/>
                  <a:pt x="6761678" y="1782916"/>
                </a:cubicBezTo>
                <a:close/>
                <a:moveTo>
                  <a:pt x="5881240" y="18786"/>
                </a:moveTo>
                <a:cubicBezTo>
                  <a:pt x="6096236" y="18786"/>
                  <a:pt x="6311231" y="100804"/>
                  <a:pt x="6475267" y="264840"/>
                </a:cubicBezTo>
                <a:lnTo>
                  <a:pt x="6498525" y="288097"/>
                </a:lnTo>
                <a:cubicBezTo>
                  <a:pt x="6826598" y="616169"/>
                  <a:pt x="6826598" y="1148079"/>
                  <a:pt x="6498525" y="1476151"/>
                </a:cubicBezTo>
                <a:lnTo>
                  <a:pt x="2949108" y="5025568"/>
                </a:lnTo>
                <a:cubicBezTo>
                  <a:pt x="2621036" y="5353640"/>
                  <a:pt x="2089127" y="5353640"/>
                  <a:pt x="1761054" y="5025568"/>
                </a:cubicBezTo>
                <a:lnTo>
                  <a:pt x="1737797" y="5002311"/>
                </a:lnTo>
                <a:cubicBezTo>
                  <a:pt x="1409725" y="4674239"/>
                  <a:pt x="1409725" y="4142329"/>
                  <a:pt x="1737797" y="3814257"/>
                </a:cubicBezTo>
                <a:lnTo>
                  <a:pt x="5287213" y="264840"/>
                </a:lnTo>
                <a:cubicBezTo>
                  <a:pt x="5451251" y="100804"/>
                  <a:pt x="5666245" y="18785"/>
                  <a:pt x="5881240" y="18786"/>
                </a:cubicBezTo>
                <a:close/>
                <a:moveTo>
                  <a:pt x="3421136" y="0"/>
                </a:moveTo>
                <a:lnTo>
                  <a:pt x="5065590" y="0"/>
                </a:lnTo>
                <a:lnTo>
                  <a:pt x="5058235" y="13976"/>
                </a:lnTo>
                <a:cubicBezTo>
                  <a:pt x="5037063" y="46043"/>
                  <a:pt x="5012362" y="76465"/>
                  <a:pt x="4984132" y="104695"/>
                </a:cubicBezTo>
                <a:lnTo>
                  <a:pt x="1478980" y="3609848"/>
                </a:lnTo>
                <a:cubicBezTo>
                  <a:pt x="1253141" y="3835687"/>
                  <a:pt x="886985" y="3835687"/>
                  <a:pt x="661145" y="3609848"/>
                </a:cubicBezTo>
                <a:lnTo>
                  <a:pt x="645135" y="3593837"/>
                </a:lnTo>
                <a:cubicBezTo>
                  <a:pt x="419295" y="3367998"/>
                  <a:pt x="419295" y="3001841"/>
                  <a:pt x="645135" y="2776002"/>
                </a:cubicBezTo>
                <a:close/>
                <a:moveTo>
                  <a:pt x="1313944" y="0"/>
                </a:moveTo>
                <a:lnTo>
                  <a:pt x="2570790" y="0"/>
                </a:lnTo>
                <a:lnTo>
                  <a:pt x="2582282" y="38778"/>
                </a:lnTo>
                <a:cubicBezTo>
                  <a:pt x="2617570" y="221036"/>
                  <a:pt x="2564639" y="416997"/>
                  <a:pt x="2423489" y="558147"/>
                </a:cubicBezTo>
                <a:lnTo>
                  <a:pt x="1003226" y="1978410"/>
                </a:lnTo>
                <a:cubicBezTo>
                  <a:pt x="777387" y="2204250"/>
                  <a:pt x="411230" y="2204250"/>
                  <a:pt x="185390" y="1978410"/>
                </a:cubicBezTo>
                <a:lnTo>
                  <a:pt x="169380" y="1962401"/>
                </a:lnTo>
                <a:cubicBezTo>
                  <a:pt x="-56460" y="1736561"/>
                  <a:pt x="-56460" y="1370404"/>
                  <a:pt x="169380" y="1144565"/>
                </a:cubicBezTo>
                <a:close/>
              </a:path>
            </a:pathLst>
          </a:custGeom>
          <a:effectLst>
            <a:innerShdw blurRad="63500" dist="50800" dir="16200000">
              <a:prstClr val="black">
                <a:alpha val="50000"/>
              </a:prstClr>
            </a:innerShdw>
          </a:effectLst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63627ADB-4F5C-D32F-F12B-8C7F36011712}"/>
              </a:ext>
            </a:extLst>
          </p:cNvPr>
          <p:cNvSpPr txBox="1"/>
          <p:nvPr/>
        </p:nvSpPr>
        <p:spPr>
          <a:xfrm>
            <a:off x="-683224" y="133620"/>
            <a:ext cx="677664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rgbClr val="D65D26"/>
                </a:solidFill>
                <a:latin typeface="Inter" panose="02000503000000020004" pitchFamily="2" charset="0"/>
                <a:ea typeface="Inter" panose="02000503000000020004" pitchFamily="2" charset="0"/>
              </a:rPr>
              <a:t>Part 1: </a:t>
            </a:r>
            <a:r>
              <a:rPr lang="en-US" sz="3600" dirty="0">
                <a:solidFill>
                  <a:srgbClr val="EDEDED"/>
                </a:solidFill>
                <a:latin typeface="Inter" panose="02000503000000020004" pitchFamily="2" charset="0"/>
                <a:ea typeface="Inter" panose="02000503000000020004" pitchFamily="2" charset="0"/>
              </a:rPr>
              <a:t>Problem Framing: Black-Box Simulation Optimization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4E358F5-2F73-47CF-C8B4-7F1D2400E849}"/>
              </a:ext>
            </a:extLst>
          </p:cNvPr>
          <p:cNvSpPr txBox="1"/>
          <p:nvPr/>
        </p:nvSpPr>
        <p:spPr>
          <a:xfrm>
            <a:off x="314122" y="2518389"/>
            <a:ext cx="50754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D65D26"/>
                </a:solidFill>
                <a:latin typeface="Montserrat" pitchFamily="2" charset="0"/>
                <a:ea typeface="Inter" panose="02000503000000020004" pitchFamily="2" charset="0"/>
              </a:rPr>
              <a:t>1.3</a:t>
            </a:r>
            <a:r>
              <a:rPr lang="en-US" sz="2000" b="1" dirty="0">
                <a:solidFill>
                  <a:srgbClr val="EDEDED"/>
                </a:solidFill>
                <a:latin typeface="Montserrat" pitchFamily="2" charset="0"/>
                <a:ea typeface="Inter" panose="02000503000000020004" pitchFamily="2" charset="0"/>
              </a:rPr>
              <a:t> What “Optimization” Means Here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8B0BE08-7A3B-2A4F-C33F-0C57F9AA5AC5}"/>
              </a:ext>
            </a:extLst>
          </p:cNvPr>
          <p:cNvSpPr txBox="1"/>
          <p:nvPr/>
        </p:nvSpPr>
        <p:spPr>
          <a:xfrm>
            <a:off x="279595" y="3518164"/>
            <a:ext cx="408797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EDEDED"/>
                </a:solidFill>
                <a:latin typeface="Montserrat" pitchFamily="2" charset="0"/>
              </a:rPr>
              <a:t>Evaluate alternatives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EDEDED"/>
                </a:solidFill>
                <a:latin typeface="Montserrat" pitchFamily="2" charset="0"/>
              </a:rPr>
              <a:t>Compare performance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EDEDED"/>
                </a:solidFill>
                <a:latin typeface="Montserrat" pitchFamily="2" charset="0"/>
              </a:rPr>
              <a:t>Reveal structure, not equations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F447B50-1E46-5AAD-7346-6512052A6B8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595" y="4970054"/>
            <a:ext cx="1690916" cy="1754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10380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20000">
              <a:schemeClr val="bg1"/>
            </a:gs>
            <a:gs pos="78000">
              <a:schemeClr val="tx1">
                <a:lumMod val="95000"/>
                <a:lumOff val="5000"/>
              </a:schemeClr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BAEA717-41E0-BD02-C3D5-5E98E6087F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>
            <a:extLst>
              <a:ext uri="{FF2B5EF4-FFF2-40B4-BE49-F238E27FC236}">
                <a16:creationId xmlns:a16="http://schemas.microsoft.com/office/drawing/2014/main" id="{75B2125F-6855-D415-9B15-8A596E607D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417"/>
          <a:stretch>
            <a:fillRect/>
          </a:stretch>
        </p:blipFill>
        <p:spPr>
          <a:xfrm>
            <a:off x="4559473" y="-866155"/>
            <a:ext cx="7632527" cy="7724155"/>
          </a:xfrm>
          <a:custGeom>
            <a:avLst/>
            <a:gdLst>
              <a:gd name="connsiteX0" fmla="*/ 3656412 w 6776647"/>
              <a:gd name="connsiteY0" fmla="*/ 5054965 h 6858000"/>
              <a:gd name="connsiteX1" fmla="*/ 4113979 w 6776647"/>
              <a:gd name="connsiteY1" fmla="*/ 5244495 h 6858000"/>
              <a:gd name="connsiteX2" fmla="*/ 4131893 w 6776647"/>
              <a:gd name="connsiteY2" fmla="*/ 5262409 h 6858000"/>
              <a:gd name="connsiteX3" fmla="*/ 4131892 w 6776647"/>
              <a:gd name="connsiteY3" fmla="*/ 6177545 h 6858000"/>
              <a:gd name="connsiteX4" fmla="*/ 4043288 w 6776647"/>
              <a:gd name="connsiteY4" fmla="*/ 6266149 h 6858000"/>
              <a:gd name="connsiteX5" fmla="*/ 3128155 w 6776647"/>
              <a:gd name="connsiteY5" fmla="*/ 6266149 h 6858000"/>
              <a:gd name="connsiteX6" fmla="*/ 3110241 w 6776647"/>
              <a:gd name="connsiteY6" fmla="*/ 6248235 h 6858000"/>
              <a:gd name="connsiteX7" fmla="*/ 3110240 w 6776647"/>
              <a:gd name="connsiteY7" fmla="*/ 5333099 h 6858000"/>
              <a:gd name="connsiteX8" fmla="*/ 3198844 w 6776647"/>
              <a:gd name="connsiteY8" fmla="*/ 5244495 h 6858000"/>
              <a:gd name="connsiteX9" fmla="*/ 3656412 w 6776647"/>
              <a:gd name="connsiteY9" fmla="*/ 5054965 h 6858000"/>
              <a:gd name="connsiteX10" fmla="*/ 6776647 w 6776647"/>
              <a:gd name="connsiteY10" fmla="*/ 4307086 h 6858000"/>
              <a:gd name="connsiteX11" fmla="*/ 6776647 w 6776647"/>
              <a:gd name="connsiteY11" fmla="*/ 5306043 h 6858000"/>
              <a:gd name="connsiteX12" fmla="*/ 5224689 w 6776647"/>
              <a:gd name="connsiteY12" fmla="*/ 6858000 h 6858000"/>
              <a:gd name="connsiteX13" fmla="*/ 4225733 w 6776647"/>
              <a:gd name="connsiteY13" fmla="*/ 6858000 h 6858000"/>
              <a:gd name="connsiteX14" fmla="*/ 6776647 w 6776647"/>
              <a:gd name="connsiteY14" fmla="*/ 1775039 h 6858000"/>
              <a:gd name="connsiteX15" fmla="*/ 6776647 w 6776647"/>
              <a:gd name="connsiteY15" fmla="*/ 3615452 h 6858000"/>
              <a:gd name="connsiteX16" fmla="*/ 5493702 w 6776647"/>
              <a:gd name="connsiteY16" fmla="*/ 4898396 h 6858000"/>
              <a:gd name="connsiteX17" fmla="*/ 4578567 w 6776647"/>
              <a:gd name="connsiteY17" fmla="*/ 4898396 h 6858000"/>
              <a:gd name="connsiteX18" fmla="*/ 4560653 w 6776647"/>
              <a:gd name="connsiteY18" fmla="*/ 4880482 h 6858000"/>
              <a:gd name="connsiteX19" fmla="*/ 4560653 w 6776647"/>
              <a:gd name="connsiteY19" fmla="*/ 3965347 h 6858000"/>
              <a:gd name="connsiteX20" fmla="*/ 6660166 w 6776647"/>
              <a:gd name="connsiteY20" fmla="*/ 1865835 h 6858000"/>
              <a:gd name="connsiteX21" fmla="*/ 6761678 w 6776647"/>
              <a:gd name="connsiteY21" fmla="*/ 1782916 h 6858000"/>
              <a:gd name="connsiteX22" fmla="*/ 5881240 w 6776647"/>
              <a:gd name="connsiteY22" fmla="*/ 18786 h 6858000"/>
              <a:gd name="connsiteX23" fmla="*/ 6475267 w 6776647"/>
              <a:gd name="connsiteY23" fmla="*/ 264840 h 6858000"/>
              <a:gd name="connsiteX24" fmla="*/ 6498525 w 6776647"/>
              <a:gd name="connsiteY24" fmla="*/ 288097 h 6858000"/>
              <a:gd name="connsiteX25" fmla="*/ 6498525 w 6776647"/>
              <a:gd name="connsiteY25" fmla="*/ 1476151 h 6858000"/>
              <a:gd name="connsiteX26" fmla="*/ 2949108 w 6776647"/>
              <a:gd name="connsiteY26" fmla="*/ 5025568 h 6858000"/>
              <a:gd name="connsiteX27" fmla="*/ 1761054 w 6776647"/>
              <a:gd name="connsiteY27" fmla="*/ 5025568 h 6858000"/>
              <a:gd name="connsiteX28" fmla="*/ 1737797 w 6776647"/>
              <a:gd name="connsiteY28" fmla="*/ 5002311 h 6858000"/>
              <a:gd name="connsiteX29" fmla="*/ 1737797 w 6776647"/>
              <a:gd name="connsiteY29" fmla="*/ 3814257 h 6858000"/>
              <a:gd name="connsiteX30" fmla="*/ 5287213 w 6776647"/>
              <a:gd name="connsiteY30" fmla="*/ 264840 h 6858000"/>
              <a:gd name="connsiteX31" fmla="*/ 5881240 w 6776647"/>
              <a:gd name="connsiteY31" fmla="*/ 18786 h 6858000"/>
              <a:gd name="connsiteX32" fmla="*/ 3421136 w 6776647"/>
              <a:gd name="connsiteY32" fmla="*/ 0 h 6858000"/>
              <a:gd name="connsiteX33" fmla="*/ 5065590 w 6776647"/>
              <a:gd name="connsiteY33" fmla="*/ 0 h 6858000"/>
              <a:gd name="connsiteX34" fmla="*/ 5058235 w 6776647"/>
              <a:gd name="connsiteY34" fmla="*/ 13976 h 6858000"/>
              <a:gd name="connsiteX35" fmla="*/ 4984132 w 6776647"/>
              <a:gd name="connsiteY35" fmla="*/ 104695 h 6858000"/>
              <a:gd name="connsiteX36" fmla="*/ 1478980 w 6776647"/>
              <a:gd name="connsiteY36" fmla="*/ 3609848 h 6858000"/>
              <a:gd name="connsiteX37" fmla="*/ 661145 w 6776647"/>
              <a:gd name="connsiteY37" fmla="*/ 3609848 h 6858000"/>
              <a:gd name="connsiteX38" fmla="*/ 645135 w 6776647"/>
              <a:gd name="connsiteY38" fmla="*/ 3593837 h 6858000"/>
              <a:gd name="connsiteX39" fmla="*/ 645135 w 6776647"/>
              <a:gd name="connsiteY39" fmla="*/ 2776002 h 6858000"/>
              <a:gd name="connsiteX40" fmla="*/ 1313944 w 6776647"/>
              <a:gd name="connsiteY40" fmla="*/ 0 h 6858000"/>
              <a:gd name="connsiteX41" fmla="*/ 2570790 w 6776647"/>
              <a:gd name="connsiteY41" fmla="*/ 0 h 6858000"/>
              <a:gd name="connsiteX42" fmla="*/ 2582282 w 6776647"/>
              <a:gd name="connsiteY42" fmla="*/ 38778 h 6858000"/>
              <a:gd name="connsiteX43" fmla="*/ 2423489 w 6776647"/>
              <a:gd name="connsiteY43" fmla="*/ 558147 h 6858000"/>
              <a:gd name="connsiteX44" fmla="*/ 1003226 w 6776647"/>
              <a:gd name="connsiteY44" fmla="*/ 1978410 h 6858000"/>
              <a:gd name="connsiteX45" fmla="*/ 185390 w 6776647"/>
              <a:gd name="connsiteY45" fmla="*/ 1978410 h 6858000"/>
              <a:gd name="connsiteX46" fmla="*/ 169380 w 6776647"/>
              <a:gd name="connsiteY46" fmla="*/ 1962401 h 6858000"/>
              <a:gd name="connsiteX47" fmla="*/ 169380 w 6776647"/>
              <a:gd name="connsiteY47" fmla="*/ 114456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</a:cxnLst>
            <a:rect l="l" t="t" r="r" b="b"/>
            <a:pathLst>
              <a:path w="6776647" h="6858000">
                <a:moveTo>
                  <a:pt x="3656412" y="5054965"/>
                </a:moveTo>
                <a:cubicBezTo>
                  <a:pt x="3822019" y="5054965"/>
                  <a:pt x="3987625" y="5118142"/>
                  <a:pt x="4113979" y="5244495"/>
                </a:cubicBezTo>
                <a:lnTo>
                  <a:pt x="4131893" y="5262409"/>
                </a:lnTo>
                <a:cubicBezTo>
                  <a:pt x="4384601" y="5515117"/>
                  <a:pt x="4384601" y="5924838"/>
                  <a:pt x="4131892" y="6177545"/>
                </a:cubicBezTo>
                <a:lnTo>
                  <a:pt x="4043288" y="6266149"/>
                </a:lnTo>
                <a:cubicBezTo>
                  <a:pt x="3790582" y="6518855"/>
                  <a:pt x="3380861" y="6518855"/>
                  <a:pt x="3128155" y="6266149"/>
                </a:cubicBezTo>
                <a:lnTo>
                  <a:pt x="3110241" y="6248235"/>
                </a:lnTo>
                <a:cubicBezTo>
                  <a:pt x="2857533" y="5995527"/>
                  <a:pt x="2857533" y="5585807"/>
                  <a:pt x="3110240" y="5333099"/>
                </a:cubicBezTo>
                <a:lnTo>
                  <a:pt x="3198844" y="5244495"/>
                </a:lnTo>
                <a:cubicBezTo>
                  <a:pt x="3325198" y="5118143"/>
                  <a:pt x="3490804" y="5054965"/>
                  <a:pt x="3656412" y="5054965"/>
                </a:cubicBezTo>
                <a:close/>
                <a:moveTo>
                  <a:pt x="6776647" y="4307086"/>
                </a:moveTo>
                <a:lnTo>
                  <a:pt x="6776647" y="5306043"/>
                </a:lnTo>
                <a:lnTo>
                  <a:pt x="5224689" y="6858000"/>
                </a:lnTo>
                <a:lnTo>
                  <a:pt x="4225733" y="6858000"/>
                </a:lnTo>
                <a:close/>
                <a:moveTo>
                  <a:pt x="6776647" y="1775039"/>
                </a:moveTo>
                <a:lnTo>
                  <a:pt x="6776647" y="3615452"/>
                </a:lnTo>
                <a:lnTo>
                  <a:pt x="5493702" y="4898396"/>
                </a:lnTo>
                <a:cubicBezTo>
                  <a:pt x="5240995" y="5151104"/>
                  <a:pt x="4831276" y="5151103"/>
                  <a:pt x="4578567" y="4898396"/>
                </a:cubicBezTo>
                <a:lnTo>
                  <a:pt x="4560653" y="4880482"/>
                </a:lnTo>
                <a:cubicBezTo>
                  <a:pt x="4307946" y="4627775"/>
                  <a:pt x="4307946" y="4218054"/>
                  <a:pt x="4560653" y="3965347"/>
                </a:cubicBezTo>
                <a:lnTo>
                  <a:pt x="6660166" y="1865835"/>
                </a:lnTo>
                <a:cubicBezTo>
                  <a:pt x="6691755" y="1834247"/>
                  <a:pt x="6725796" y="1806607"/>
                  <a:pt x="6761678" y="1782916"/>
                </a:cubicBezTo>
                <a:close/>
                <a:moveTo>
                  <a:pt x="5881240" y="18786"/>
                </a:moveTo>
                <a:cubicBezTo>
                  <a:pt x="6096236" y="18786"/>
                  <a:pt x="6311231" y="100804"/>
                  <a:pt x="6475267" y="264840"/>
                </a:cubicBezTo>
                <a:lnTo>
                  <a:pt x="6498525" y="288097"/>
                </a:lnTo>
                <a:cubicBezTo>
                  <a:pt x="6826598" y="616169"/>
                  <a:pt x="6826598" y="1148079"/>
                  <a:pt x="6498525" y="1476151"/>
                </a:cubicBezTo>
                <a:lnTo>
                  <a:pt x="2949108" y="5025568"/>
                </a:lnTo>
                <a:cubicBezTo>
                  <a:pt x="2621036" y="5353640"/>
                  <a:pt x="2089127" y="5353640"/>
                  <a:pt x="1761054" y="5025568"/>
                </a:cubicBezTo>
                <a:lnTo>
                  <a:pt x="1737797" y="5002311"/>
                </a:lnTo>
                <a:cubicBezTo>
                  <a:pt x="1409725" y="4674239"/>
                  <a:pt x="1409725" y="4142329"/>
                  <a:pt x="1737797" y="3814257"/>
                </a:cubicBezTo>
                <a:lnTo>
                  <a:pt x="5287213" y="264840"/>
                </a:lnTo>
                <a:cubicBezTo>
                  <a:pt x="5451251" y="100804"/>
                  <a:pt x="5666245" y="18785"/>
                  <a:pt x="5881240" y="18786"/>
                </a:cubicBezTo>
                <a:close/>
                <a:moveTo>
                  <a:pt x="3421136" y="0"/>
                </a:moveTo>
                <a:lnTo>
                  <a:pt x="5065590" y="0"/>
                </a:lnTo>
                <a:lnTo>
                  <a:pt x="5058235" y="13976"/>
                </a:lnTo>
                <a:cubicBezTo>
                  <a:pt x="5037063" y="46043"/>
                  <a:pt x="5012362" y="76465"/>
                  <a:pt x="4984132" y="104695"/>
                </a:cubicBezTo>
                <a:lnTo>
                  <a:pt x="1478980" y="3609848"/>
                </a:lnTo>
                <a:cubicBezTo>
                  <a:pt x="1253141" y="3835687"/>
                  <a:pt x="886985" y="3835687"/>
                  <a:pt x="661145" y="3609848"/>
                </a:cubicBezTo>
                <a:lnTo>
                  <a:pt x="645135" y="3593837"/>
                </a:lnTo>
                <a:cubicBezTo>
                  <a:pt x="419295" y="3367998"/>
                  <a:pt x="419295" y="3001841"/>
                  <a:pt x="645135" y="2776002"/>
                </a:cubicBezTo>
                <a:close/>
                <a:moveTo>
                  <a:pt x="1313944" y="0"/>
                </a:moveTo>
                <a:lnTo>
                  <a:pt x="2570790" y="0"/>
                </a:lnTo>
                <a:lnTo>
                  <a:pt x="2582282" y="38778"/>
                </a:lnTo>
                <a:cubicBezTo>
                  <a:pt x="2617570" y="221036"/>
                  <a:pt x="2564639" y="416997"/>
                  <a:pt x="2423489" y="558147"/>
                </a:cubicBezTo>
                <a:lnTo>
                  <a:pt x="1003226" y="1978410"/>
                </a:lnTo>
                <a:cubicBezTo>
                  <a:pt x="777387" y="2204250"/>
                  <a:pt x="411230" y="2204250"/>
                  <a:pt x="185390" y="1978410"/>
                </a:cubicBezTo>
                <a:lnTo>
                  <a:pt x="169380" y="1962401"/>
                </a:lnTo>
                <a:cubicBezTo>
                  <a:pt x="-56460" y="1736561"/>
                  <a:pt x="-56460" y="1370404"/>
                  <a:pt x="169380" y="1144565"/>
                </a:cubicBezTo>
                <a:close/>
              </a:path>
            </a:pathLst>
          </a:custGeom>
          <a:effectLst>
            <a:innerShdw blurRad="63500" dist="50800" dir="16200000">
              <a:prstClr val="black">
                <a:alpha val="50000"/>
              </a:prstClr>
            </a:innerShdw>
          </a:effec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CA89667-6CF4-6472-B296-996BAFB7B282}"/>
              </a:ext>
            </a:extLst>
          </p:cNvPr>
          <p:cNvSpPr txBox="1"/>
          <p:nvPr/>
        </p:nvSpPr>
        <p:spPr>
          <a:xfrm>
            <a:off x="314122" y="2518389"/>
            <a:ext cx="435888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D65D26"/>
                </a:solidFill>
                <a:latin typeface="Montserrat" pitchFamily="2" charset="0"/>
                <a:ea typeface="Inter" panose="02000503000000020004" pitchFamily="2" charset="0"/>
              </a:rPr>
              <a:t>2.1</a:t>
            </a:r>
            <a:r>
              <a:rPr lang="en-US" sz="2000" b="1" dirty="0">
                <a:solidFill>
                  <a:srgbClr val="EDEDED"/>
                </a:solidFill>
                <a:latin typeface="Montserrat" pitchFamily="2" charset="0"/>
                <a:ea typeface="Inter" panose="02000503000000020004" pitchFamily="2" charset="0"/>
              </a:rPr>
              <a:t> Noise in Simulation Outputs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24BD8D4-98D8-2FC5-BB15-19A8943429A2}"/>
              </a:ext>
            </a:extLst>
          </p:cNvPr>
          <p:cNvSpPr txBox="1"/>
          <p:nvPr/>
        </p:nvSpPr>
        <p:spPr>
          <a:xfrm>
            <a:off x="279595" y="3518164"/>
            <a:ext cx="345799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EDEDED"/>
                </a:solidFill>
                <a:latin typeface="Montserrat" pitchFamily="2" charset="0"/>
              </a:rPr>
              <a:t>Random arrivals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EDEDED"/>
                </a:solidFill>
                <a:latin typeface="Montserrat" pitchFamily="2" charset="0"/>
              </a:rPr>
              <a:t>Random interactions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EDEDED"/>
                </a:solidFill>
                <a:latin typeface="Montserrat" pitchFamily="2" charset="0"/>
              </a:rPr>
              <a:t>Performance is stochastic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ACBF994-8D32-337C-C77F-1FE6885243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595" y="4970054"/>
            <a:ext cx="1690916" cy="175432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0F317FC-84C8-8476-44CD-073B7EA70519}"/>
              </a:ext>
            </a:extLst>
          </p:cNvPr>
          <p:cNvSpPr txBox="1"/>
          <p:nvPr/>
        </p:nvSpPr>
        <p:spPr>
          <a:xfrm>
            <a:off x="-166194" y="133620"/>
            <a:ext cx="677664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rgbClr val="D65D26"/>
                </a:solidFill>
                <a:latin typeface="Inter" panose="02000503000000020004" pitchFamily="2" charset="0"/>
                <a:ea typeface="Inter" panose="02000503000000020004" pitchFamily="2" charset="0"/>
              </a:rPr>
              <a:t>Part 2: </a:t>
            </a:r>
            <a:r>
              <a:rPr lang="en-US" sz="3600" dirty="0">
                <a:solidFill>
                  <a:srgbClr val="EDEDED"/>
                </a:solidFill>
                <a:latin typeface="Inter" panose="02000503000000020004" pitchFamily="2" charset="0"/>
                <a:ea typeface="Inter" panose="02000503000000020004" pitchFamily="2" charset="0"/>
              </a:rPr>
              <a:t>Core OR challenge: optimizing under noise and limited budget</a:t>
            </a:r>
          </a:p>
        </p:txBody>
      </p:sp>
    </p:spTree>
    <p:extLst>
      <p:ext uri="{BB962C8B-B14F-4D97-AF65-F5344CB8AC3E}">
        <p14:creationId xmlns:p14="http://schemas.microsoft.com/office/powerpoint/2010/main" val="40172828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20000">
              <a:schemeClr val="bg1"/>
            </a:gs>
            <a:gs pos="78000">
              <a:schemeClr val="tx1">
                <a:lumMod val="95000"/>
                <a:lumOff val="5000"/>
              </a:schemeClr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3559EE-1434-03A4-7801-F6E3C53BEC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>
            <a:extLst>
              <a:ext uri="{FF2B5EF4-FFF2-40B4-BE49-F238E27FC236}">
                <a16:creationId xmlns:a16="http://schemas.microsoft.com/office/drawing/2014/main" id="{1FFB902A-C1A6-628A-F9BC-BB07B8E9B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417"/>
          <a:stretch>
            <a:fillRect/>
          </a:stretch>
        </p:blipFill>
        <p:spPr>
          <a:xfrm>
            <a:off x="4559473" y="-866155"/>
            <a:ext cx="7632527" cy="7724155"/>
          </a:xfrm>
          <a:custGeom>
            <a:avLst/>
            <a:gdLst>
              <a:gd name="connsiteX0" fmla="*/ 3656412 w 6776647"/>
              <a:gd name="connsiteY0" fmla="*/ 5054965 h 6858000"/>
              <a:gd name="connsiteX1" fmla="*/ 4113979 w 6776647"/>
              <a:gd name="connsiteY1" fmla="*/ 5244495 h 6858000"/>
              <a:gd name="connsiteX2" fmla="*/ 4131893 w 6776647"/>
              <a:gd name="connsiteY2" fmla="*/ 5262409 h 6858000"/>
              <a:gd name="connsiteX3" fmla="*/ 4131892 w 6776647"/>
              <a:gd name="connsiteY3" fmla="*/ 6177545 h 6858000"/>
              <a:gd name="connsiteX4" fmla="*/ 4043288 w 6776647"/>
              <a:gd name="connsiteY4" fmla="*/ 6266149 h 6858000"/>
              <a:gd name="connsiteX5" fmla="*/ 3128155 w 6776647"/>
              <a:gd name="connsiteY5" fmla="*/ 6266149 h 6858000"/>
              <a:gd name="connsiteX6" fmla="*/ 3110241 w 6776647"/>
              <a:gd name="connsiteY6" fmla="*/ 6248235 h 6858000"/>
              <a:gd name="connsiteX7" fmla="*/ 3110240 w 6776647"/>
              <a:gd name="connsiteY7" fmla="*/ 5333099 h 6858000"/>
              <a:gd name="connsiteX8" fmla="*/ 3198844 w 6776647"/>
              <a:gd name="connsiteY8" fmla="*/ 5244495 h 6858000"/>
              <a:gd name="connsiteX9" fmla="*/ 3656412 w 6776647"/>
              <a:gd name="connsiteY9" fmla="*/ 5054965 h 6858000"/>
              <a:gd name="connsiteX10" fmla="*/ 6776647 w 6776647"/>
              <a:gd name="connsiteY10" fmla="*/ 4307086 h 6858000"/>
              <a:gd name="connsiteX11" fmla="*/ 6776647 w 6776647"/>
              <a:gd name="connsiteY11" fmla="*/ 5306043 h 6858000"/>
              <a:gd name="connsiteX12" fmla="*/ 5224689 w 6776647"/>
              <a:gd name="connsiteY12" fmla="*/ 6858000 h 6858000"/>
              <a:gd name="connsiteX13" fmla="*/ 4225733 w 6776647"/>
              <a:gd name="connsiteY13" fmla="*/ 6858000 h 6858000"/>
              <a:gd name="connsiteX14" fmla="*/ 6776647 w 6776647"/>
              <a:gd name="connsiteY14" fmla="*/ 1775039 h 6858000"/>
              <a:gd name="connsiteX15" fmla="*/ 6776647 w 6776647"/>
              <a:gd name="connsiteY15" fmla="*/ 3615452 h 6858000"/>
              <a:gd name="connsiteX16" fmla="*/ 5493702 w 6776647"/>
              <a:gd name="connsiteY16" fmla="*/ 4898396 h 6858000"/>
              <a:gd name="connsiteX17" fmla="*/ 4578567 w 6776647"/>
              <a:gd name="connsiteY17" fmla="*/ 4898396 h 6858000"/>
              <a:gd name="connsiteX18" fmla="*/ 4560653 w 6776647"/>
              <a:gd name="connsiteY18" fmla="*/ 4880482 h 6858000"/>
              <a:gd name="connsiteX19" fmla="*/ 4560653 w 6776647"/>
              <a:gd name="connsiteY19" fmla="*/ 3965347 h 6858000"/>
              <a:gd name="connsiteX20" fmla="*/ 6660166 w 6776647"/>
              <a:gd name="connsiteY20" fmla="*/ 1865835 h 6858000"/>
              <a:gd name="connsiteX21" fmla="*/ 6761678 w 6776647"/>
              <a:gd name="connsiteY21" fmla="*/ 1782916 h 6858000"/>
              <a:gd name="connsiteX22" fmla="*/ 5881240 w 6776647"/>
              <a:gd name="connsiteY22" fmla="*/ 18786 h 6858000"/>
              <a:gd name="connsiteX23" fmla="*/ 6475267 w 6776647"/>
              <a:gd name="connsiteY23" fmla="*/ 264840 h 6858000"/>
              <a:gd name="connsiteX24" fmla="*/ 6498525 w 6776647"/>
              <a:gd name="connsiteY24" fmla="*/ 288097 h 6858000"/>
              <a:gd name="connsiteX25" fmla="*/ 6498525 w 6776647"/>
              <a:gd name="connsiteY25" fmla="*/ 1476151 h 6858000"/>
              <a:gd name="connsiteX26" fmla="*/ 2949108 w 6776647"/>
              <a:gd name="connsiteY26" fmla="*/ 5025568 h 6858000"/>
              <a:gd name="connsiteX27" fmla="*/ 1761054 w 6776647"/>
              <a:gd name="connsiteY27" fmla="*/ 5025568 h 6858000"/>
              <a:gd name="connsiteX28" fmla="*/ 1737797 w 6776647"/>
              <a:gd name="connsiteY28" fmla="*/ 5002311 h 6858000"/>
              <a:gd name="connsiteX29" fmla="*/ 1737797 w 6776647"/>
              <a:gd name="connsiteY29" fmla="*/ 3814257 h 6858000"/>
              <a:gd name="connsiteX30" fmla="*/ 5287213 w 6776647"/>
              <a:gd name="connsiteY30" fmla="*/ 264840 h 6858000"/>
              <a:gd name="connsiteX31" fmla="*/ 5881240 w 6776647"/>
              <a:gd name="connsiteY31" fmla="*/ 18786 h 6858000"/>
              <a:gd name="connsiteX32" fmla="*/ 3421136 w 6776647"/>
              <a:gd name="connsiteY32" fmla="*/ 0 h 6858000"/>
              <a:gd name="connsiteX33" fmla="*/ 5065590 w 6776647"/>
              <a:gd name="connsiteY33" fmla="*/ 0 h 6858000"/>
              <a:gd name="connsiteX34" fmla="*/ 5058235 w 6776647"/>
              <a:gd name="connsiteY34" fmla="*/ 13976 h 6858000"/>
              <a:gd name="connsiteX35" fmla="*/ 4984132 w 6776647"/>
              <a:gd name="connsiteY35" fmla="*/ 104695 h 6858000"/>
              <a:gd name="connsiteX36" fmla="*/ 1478980 w 6776647"/>
              <a:gd name="connsiteY36" fmla="*/ 3609848 h 6858000"/>
              <a:gd name="connsiteX37" fmla="*/ 661145 w 6776647"/>
              <a:gd name="connsiteY37" fmla="*/ 3609848 h 6858000"/>
              <a:gd name="connsiteX38" fmla="*/ 645135 w 6776647"/>
              <a:gd name="connsiteY38" fmla="*/ 3593837 h 6858000"/>
              <a:gd name="connsiteX39" fmla="*/ 645135 w 6776647"/>
              <a:gd name="connsiteY39" fmla="*/ 2776002 h 6858000"/>
              <a:gd name="connsiteX40" fmla="*/ 1313944 w 6776647"/>
              <a:gd name="connsiteY40" fmla="*/ 0 h 6858000"/>
              <a:gd name="connsiteX41" fmla="*/ 2570790 w 6776647"/>
              <a:gd name="connsiteY41" fmla="*/ 0 h 6858000"/>
              <a:gd name="connsiteX42" fmla="*/ 2582282 w 6776647"/>
              <a:gd name="connsiteY42" fmla="*/ 38778 h 6858000"/>
              <a:gd name="connsiteX43" fmla="*/ 2423489 w 6776647"/>
              <a:gd name="connsiteY43" fmla="*/ 558147 h 6858000"/>
              <a:gd name="connsiteX44" fmla="*/ 1003226 w 6776647"/>
              <a:gd name="connsiteY44" fmla="*/ 1978410 h 6858000"/>
              <a:gd name="connsiteX45" fmla="*/ 185390 w 6776647"/>
              <a:gd name="connsiteY45" fmla="*/ 1978410 h 6858000"/>
              <a:gd name="connsiteX46" fmla="*/ 169380 w 6776647"/>
              <a:gd name="connsiteY46" fmla="*/ 1962401 h 6858000"/>
              <a:gd name="connsiteX47" fmla="*/ 169380 w 6776647"/>
              <a:gd name="connsiteY47" fmla="*/ 114456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</a:cxnLst>
            <a:rect l="l" t="t" r="r" b="b"/>
            <a:pathLst>
              <a:path w="6776647" h="6858000">
                <a:moveTo>
                  <a:pt x="3656412" y="5054965"/>
                </a:moveTo>
                <a:cubicBezTo>
                  <a:pt x="3822019" y="5054965"/>
                  <a:pt x="3987625" y="5118142"/>
                  <a:pt x="4113979" y="5244495"/>
                </a:cubicBezTo>
                <a:lnTo>
                  <a:pt x="4131893" y="5262409"/>
                </a:lnTo>
                <a:cubicBezTo>
                  <a:pt x="4384601" y="5515117"/>
                  <a:pt x="4384601" y="5924838"/>
                  <a:pt x="4131892" y="6177545"/>
                </a:cubicBezTo>
                <a:lnTo>
                  <a:pt x="4043288" y="6266149"/>
                </a:lnTo>
                <a:cubicBezTo>
                  <a:pt x="3790582" y="6518855"/>
                  <a:pt x="3380861" y="6518855"/>
                  <a:pt x="3128155" y="6266149"/>
                </a:cubicBezTo>
                <a:lnTo>
                  <a:pt x="3110241" y="6248235"/>
                </a:lnTo>
                <a:cubicBezTo>
                  <a:pt x="2857533" y="5995527"/>
                  <a:pt x="2857533" y="5585807"/>
                  <a:pt x="3110240" y="5333099"/>
                </a:cubicBezTo>
                <a:lnTo>
                  <a:pt x="3198844" y="5244495"/>
                </a:lnTo>
                <a:cubicBezTo>
                  <a:pt x="3325198" y="5118143"/>
                  <a:pt x="3490804" y="5054965"/>
                  <a:pt x="3656412" y="5054965"/>
                </a:cubicBezTo>
                <a:close/>
                <a:moveTo>
                  <a:pt x="6776647" y="4307086"/>
                </a:moveTo>
                <a:lnTo>
                  <a:pt x="6776647" y="5306043"/>
                </a:lnTo>
                <a:lnTo>
                  <a:pt x="5224689" y="6858000"/>
                </a:lnTo>
                <a:lnTo>
                  <a:pt x="4225733" y="6858000"/>
                </a:lnTo>
                <a:close/>
                <a:moveTo>
                  <a:pt x="6776647" y="1775039"/>
                </a:moveTo>
                <a:lnTo>
                  <a:pt x="6776647" y="3615452"/>
                </a:lnTo>
                <a:lnTo>
                  <a:pt x="5493702" y="4898396"/>
                </a:lnTo>
                <a:cubicBezTo>
                  <a:pt x="5240995" y="5151104"/>
                  <a:pt x="4831276" y="5151103"/>
                  <a:pt x="4578567" y="4898396"/>
                </a:cubicBezTo>
                <a:lnTo>
                  <a:pt x="4560653" y="4880482"/>
                </a:lnTo>
                <a:cubicBezTo>
                  <a:pt x="4307946" y="4627775"/>
                  <a:pt x="4307946" y="4218054"/>
                  <a:pt x="4560653" y="3965347"/>
                </a:cubicBezTo>
                <a:lnTo>
                  <a:pt x="6660166" y="1865835"/>
                </a:lnTo>
                <a:cubicBezTo>
                  <a:pt x="6691755" y="1834247"/>
                  <a:pt x="6725796" y="1806607"/>
                  <a:pt x="6761678" y="1782916"/>
                </a:cubicBezTo>
                <a:close/>
                <a:moveTo>
                  <a:pt x="5881240" y="18786"/>
                </a:moveTo>
                <a:cubicBezTo>
                  <a:pt x="6096236" y="18786"/>
                  <a:pt x="6311231" y="100804"/>
                  <a:pt x="6475267" y="264840"/>
                </a:cubicBezTo>
                <a:lnTo>
                  <a:pt x="6498525" y="288097"/>
                </a:lnTo>
                <a:cubicBezTo>
                  <a:pt x="6826598" y="616169"/>
                  <a:pt x="6826598" y="1148079"/>
                  <a:pt x="6498525" y="1476151"/>
                </a:cubicBezTo>
                <a:lnTo>
                  <a:pt x="2949108" y="5025568"/>
                </a:lnTo>
                <a:cubicBezTo>
                  <a:pt x="2621036" y="5353640"/>
                  <a:pt x="2089127" y="5353640"/>
                  <a:pt x="1761054" y="5025568"/>
                </a:cubicBezTo>
                <a:lnTo>
                  <a:pt x="1737797" y="5002311"/>
                </a:lnTo>
                <a:cubicBezTo>
                  <a:pt x="1409725" y="4674239"/>
                  <a:pt x="1409725" y="4142329"/>
                  <a:pt x="1737797" y="3814257"/>
                </a:cubicBezTo>
                <a:lnTo>
                  <a:pt x="5287213" y="264840"/>
                </a:lnTo>
                <a:cubicBezTo>
                  <a:pt x="5451251" y="100804"/>
                  <a:pt x="5666245" y="18785"/>
                  <a:pt x="5881240" y="18786"/>
                </a:cubicBezTo>
                <a:close/>
                <a:moveTo>
                  <a:pt x="3421136" y="0"/>
                </a:moveTo>
                <a:lnTo>
                  <a:pt x="5065590" y="0"/>
                </a:lnTo>
                <a:lnTo>
                  <a:pt x="5058235" y="13976"/>
                </a:lnTo>
                <a:cubicBezTo>
                  <a:pt x="5037063" y="46043"/>
                  <a:pt x="5012362" y="76465"/>
                  <a:pt x="4984132" y="104695"/>
                </a:cubicBezTo>
                <a:lnTo>
                  <a:pt x="1478980" y="3609848"/>
                </a:lnTo>
                <a:cubicBezTo>
                  <a:pt x="1253141" y="3835687"/>
                  <a:pt x="886985" y="3835687"/>
                  <a:pt x="661145" y="3609848"/>
                </a:cubicBezTo>
                <a:lnTo>
                  <a:pt x="645135" y="3593837"/>
                </a:lnTo>
                <a:cubicBezTo>
                  <a:pt x="419295" y="3367998"/>
                  <a:pt x="419295" y="3001841"/>
                  <a:pt x="645135" y="2776002"/>
                </a:cubicBezTo>
                <a:close/>
                <a:moveTo>
                  <a:pt x="1313944" y="0"/>
                </a:moveTo>
                <a:lnTo>
                  <a:pt x="2570790" y="0"/>
                </a:lnTo>
                <a:lnTo>
                  <a:pt x="2582282" y="38778"/>
                </a:lnTo>
                <a:cubicBezTo>
                  <a:pt x="2617570" y="221036"/>
                  <a:pt x="2564639" y="416997"/>
                  <a:pt x="2423489" y="558147"/>
                </a:cubicBezTo>
                <a:lnTo>
                  <a:pt x="1003226" y="1978410"/>
                </a:lnTo>
                <a:cubicBezTo>
                  <a:pt x="777387" y="2204250"/>
                  <a:pt x="411230" y="2204250"/>
                  <a:pt x="185390" y="1978410"/>
                </a:cubicBezTo>
                <a:lnTo>
                  <a:pt x="169380" y="1962401"/>
                </a:lnTo>
                <a:cubicBezTo>
                  <a:pt x="-56460" y="1736561"/>
                  <a:pt x="-56460" y="1370404"/>
                  <a:pt x="169380" y="1144565"/>
                </a:cubicBezTo>
                <a:close/>
              </a:path>
            </a:pathLst>
          </a:custGeom>
          <a:effectLst>
            <a:innerShdw blurRad="63500" dist="50800" dir="16200000">
              <a:prstClr val="black">
                <a:alpha val="50000"/>
              </a:prstClr>
            </a:innerShdw>
          </a:effectLst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5386B87A-99E3-F817-8C50-ADCB1A3CE2F7}"/>
              </a:ext>
            </a:extLst>
          </p:cNvPr>
          <p:cNvSpPr txBox="1"/>
          <p:nvPr/>
        </p:nvSpPr>
        <p:spPr>
          <a:xfrm>
            <a:off x="-166194" y="133620"/>
            <a:ext cx="677664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rgbClr val="D65D26"/>
                </a:solidFill>
                <a:latin typeface="Inter" panose="02000503000000020004" pitchFamily="2" charset="0"/>
                <a:ea typeface="Inter" panose="02000503000000020004" pitchFamily="2" charset="0"/>
              </a:rPr>
              <a:t>Part 2: </a:t>
            </a:r>
            <a:r>
              <a:rPr lang="en-US" sz="3600" dirty="0">
                <a:solidFill>
                  <a:srgbClr val="EDEDED"/>
                </a:solidFill>
                <a:latin typeface="Inter" panose="02000503000000020004" pitchFamily="2" charset="0"/>
                <a:ea typeface="Inter" panose="02000503000000020004" pitchFamily="2" charset="0"/>
              </a:rPr>
              <a:t>Core OR challenge: optimizing under noise and limited budget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175B88A-2293-3F5C-7AA2-3189B56A7DE4}"/>
              </a:ext>
            </a:extLst>
          </p:cNvPr>
          <p:cNvSpPr txBox="1"/>
          <p:nvPr/>
        </p:nvSpPr>
        <p:spPr>
          <a:xfrm>
            <a:off x="314122" y="2518389"/>
            <a:ext cx="604684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D65D26"/>
                </a:solidFill>
                <a:latin typeface="Montserrat" pitchFamily="2" charset="0"/>
                <a:ea typeface="Inter" panose="02000503000000020004" pitchFamily="2" charset="0"/>
              </a:rPr>
              <a:t>2.2</a:t>
            </a:r>
            <a:r>
              <a:rPr lang="en-US" sz="2000" b="1" dirty="0">
                <a:solidFill>
                  <a:srgbClr val="EDEDED"/>
                </a:solidFill>
                <a:latin typeface="Montserrat" pitchFamily="2" charset="0"/>
                <a:ea typeface="Inter" panose="02000503000000020004" pitchFamily="2" charset="0"/>
              </a:rPr>
              <a:t> Why Noise Is a Problem for Optimization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15DB376-E6F0-850B-FFBC-65154A0A3CAD}"/>
              </a:ext>
            </a:extLst>
          </p:cNvPr>
          <p:cNvSpPr txBox="1"/>
          <p:nvPr/>
        </p:nvSpPr>
        <p:spPr>
          <a:xfrm>
            <a:off x="279595" y="3518164"/>
            <a:ext cx="430598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EDEDED"/>
                </a:solidFill>
                <a:latin typeface="Montserrat" pitchFamily="2" charset="0"/>
              </a:rPr>
              <a:t>Observations ≠ true performance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EDEDED"/>
                </a:solidFill>
                <a:latin typeface="Montserrat" pitchFamily="2" charset="0"/>
              </a:rPr>
              <a:t>Variance hides differences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EDEDED"/>
                </a:solidFill>
                <a:latin typeface="Montserrat" pitchFamily="2" charset="0"/>
              </a:rPr>
              <a:t>Repetition is expensive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CCC9B10-EF40-736F-4CAF-7D7FB36A86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595" y="4970054"/>
            <a:ext cx="1690916" cy="1754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06360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20000">
              <a:schemeClr val="bg1"/>
            </a:gs>
            <a:gs pos="78000">
              <a:schemeClr val="tx1">
                <a:lumMod val="95000"/>
                <a:lumOff val="5000"/>
              </a:schemeClr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CA8D8E3-809B-06A9-A725-B6BFBA9578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>
            <a:extLst>
              <a:ext uri="{FF2B5EF4-FFF2-40B4-BE49-F238E27FC236}">
                <a16:creationId xmlns:a16="http://schemas.microsoft.com/office/drawing/2014/main" id="{EF66A3CB-DE95-B424-38B0-9BAF92170C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417"/>
          <a:stretch>
            <a:fillRect/>
          </a:stretch>
        </p:blipFill>
        <p:spPr>
          <a:xfrm>
            <a:off x="4559473" y="-866155"/>
            <a:ext cx="7632527" cy="7724155"/>
          </a:xfrm>
          <a:custGeom>
            <a:avLst/>
            <a:gdLst>
              <a:gd name="connsiteX0" fmla="*/ 3656412 w 6776647"/>
              <a:gd name="connsiteY0" fmla="*/ 5054965 h 6858000"/>
              <a:gd name="connsiteX1" fmla="*/ 4113979 w 6776647"/>
              <a:gd name="connsiteY1" fmla="*/ 5244495 h 6858000"/>
              <a:gd name="connsiteX2" fmla="*/ 4131893 w 6776647"/>
              <a:gd name="connsiteY2" fmla="*/ 5262409 h 6858000"/>
              <a:gd name="connsiteX3" fmla="*/ 4131892 w 6776647"/>
              <a:gd name="connsiteY3" fmla="*/ 6177545 h 6858000"/>
              <a:gd name="connsiteX4" fmla="*/ 4043288 w 6776647"/>
              <a:gd name="connsiteY4" fmla="*/ 6266149 h 6858000"/>
              <a:gd name="connsiteX5" fmla="*/ 3128155 w 6776647"/>
              <a:gd name="connsiteY5" fmla="*/ 6266149 h 6858000"/>
              <a:gd name="connsiteX6" fmla="*/ 3110241 w 6776647"/>
              <a:gd name="connsiteY6" fmla="*/ 6248235 h 6858000"/>
              <a:gd name="connsiteX7" fmla="*/ 3110240 w 6776647"/>
              <a:gd name="connsiteY7" fmla="*/ 5333099 h 6858000"/>
              <a:gd name="connsiteX8" fmla="*/ 3198844 w 6776647"/>
              <a:gd name="connsiteY8" fmla="*/ 5244495 h 6858000"/>
              <a:gd name="connsiteX9" fmla="*/ 3656412 w 6776647"/>
              <a:gd name="connsiteY9" fmla="*/ 5054965 h 6858000"/>
              <a:gd name="connsiteX10" fmla="*/ 6776647 w 6776647"/>
              <a:gd name="connsiteY10" fmla="*/ 4307086 h 6858000"/>
              <a:gd name="connsiteX11" fmla="*/ 6776647 w 6776647"/>
              <a:gd name="connsiteY11" fmla="*/ 5306043 h 6858000"/>
              <a:gd name="connsiteX12" fmla="*/ 5224689 w 6776647"/>
              <a:gd name="connsiteY12" fmla="*/ 6858000 h 6858000"/>
              <a:gd name="connsiteX13" fmla="*/ 4225733 w 6776647"/>
              <a:gd name="connsiteY13" fmla="*/ 6858000 h 6858000"/>
              <a:gd name="connsiteX14" fmla="*/ 6776647 w 6776647"/>
              <a:gd name="connsiteY14" fmla="*/ 1775039 h 6858000"/>
              <a:gd name="connsiteX15" fmla="*/ 6776647 w 6776647"/>
              <a:gd name="connsiteY15" fmla="*/ 3615452 h 6858000"/>
              <a:gd name="connsiteX16" fmla="*/ 5493702 w 6776647"/>
              <a:gd name="connsiteY16" fmla="*/ 4898396 h 6858000"/>
              <a:gd name="connsiteX17" fmla="*/ 4578567 w 6776647"/>
              <a:gd name="connsiteY17" fmla="*/ 4898396 h 6858000"/>
              <a:gd name="connsiteX18" fmla="*/ 4560653 w 6776647"/>
              <a:gd name="connsiteY18" fmla="*/ 4880482 h 6858000"/>
              <a:gd name="connsiteX19" fmla="*/ 4560653 w 6776647"/>
              <a:gd name="connsiteY19" fmla="*/ 3965347 h 6858000"/>
              <a:gd name="connsiteX20" fmla="*/ 6660166 w 6776647"/>
              <a:gd name="connsiteY20" fmla="*/ 1865835 h 6858000"/>
              <a:gd name="connsiteX21" fmla="*/ 6761678 w 6776647"/>
              <a:gd name="connsiteY21" fmla="*/ 1782916 h 6858000"/>
              <a:gd name="connsiteX22" fmla="*/ 5881240 w 6776647"/>
              <a:gd name="connsiteY22" fmla="*/ 18786 h 6858000"/>
              <a:gd name="connsiteX23" fmla="*/ 6475267 w 6776647"/>
              <a:gd name="connsiteY23" fmla="*/ 264840 h 6858000"/>
              <a:gd name="connsiteX24" fmla="*/ 6498525 w 6776647"/>
              <a:gd name="connsiteY24" fmla="*/ 288097 h 6858000"/>
              <a:gd name="connsiteX25" fmla="*/ 6498525 w 6776647"/>
              <a:gd name="connsiteY25" fmla="*/ 1476151 h 6858000"/>
              <a:gd name="connsiteX26" fmla="*/ 2949108 w 6776647"/>
              <a:gd name="connsiteY26" fmla="*/ 5025568 h 6858000"/>
              <a:gd name="connsiteX27" fmla="*/ 1761054 w 6776647"/>
              <a:gd name="connsiteY27" fmla="*/ 5025568 h 6858000"/>
              <a:gd name="connsiteX28" fmla="*/ 1737797 w 6776647"/>
              <a:gd name="connsiteY28" fmla="*/ 5002311 h 6858000"/>
              <a:gd name="connsiteX29" fmla="*/ 1737797 w 6776647"/>
              <a:gd name="connsiteY29" fmla="*/ 3814257 h 6858000"/>
              <a:gd name="connsiteX30" fmla="*/ 5287213 w 6776647"/>
              <a:gd name="connsiteY30" fmla="*/ 264840 h 6858000"/>
              <a:gd name="connsiteX31" fmla="*/ 5881240 w 6776647"/>
              <a:gd name="connsiteY31" fmla="*/ 18786 h 6858000"/>
              <a:gd name="connsiteX32" fmla="*/ 3421136 w 6776647"/>
              <a:gd name="connsiteY32" fmla="*/ 0 h 6858000"/>
              <a:gd name="connsiteX33" fmla="*/ 5065590 w 6776647"/>
              <a:gd name="connsiteY33" fmla="*/ 0 h 6858000"/>
              <a:gd name="connsiteX34" fmla="*/ 5058235 w 6776647"/>
              <a:gd name="connsiteY34" fmla="*/ 13976 h 6858000"/>
              <a:gd name="connsiteX35" fmla="*/ 4984132 w 6776647"/>
              <a:gd name="connsiteY35" fmla="*/ 104695 h 6858000"/>
              <a:gd name="connsiteX36" fmla="*/ 1478980 w 6776647"/>
              <a:gd name="connsiteY36" fmla="*/ 3609848 h 6858000"/>
              <a:gd name="connsiteX37" fmla="*/ 661145 w 6776647"/>
              <a:gd name="connsiteY37" fmla="*/ 3609848 h 6858000"/>
              <a:gd name="connsiteX38" fmla="*/ 645135 w 6776647"/>
              <a:gd name="connsiteY38" fmla="*/ 3593837 h 6858000"/>
              <a:gd name="connsiteX39" fmla="*/ 645135 w 6776647"/>
              <a:gd name="connsiteY39" fmla="*/ 2776002 h 6858000"/>
              <a:gd name="connsiteX40" fmla="*/ 1313944 w 6776647"/>
              <a:gd name="connsiteY40" fmla="*/ 0 h 6858000"/>
              <a:gd name="connsiteX41" fmla="*/ 2570790 w 6776647"/>
              <a:gd name="connsiteY41" fmla="*/ 0 h 6858000"/>
              <a:gd name="connsiteX42" fmla="*/ 2582282 w 6776647"/>
              <a:gd name="connsiteY42" fmla="*/ 38778 h 6858000"/>
              <a:gd name="connsiteX43" fmla="*/ 2423489 w 6776647"/>
              <a:gd name="connsiteY43" fmla="*/ 558147 h 6858000"/>
              <a:gd name="connsiteX44" fmla="*/ 1003226 w 6776647"/>
              <a:gd name="connsiteY44" fmla="*/ 1978410 h 6858000"/>
              <a:gd name="connsiteX45" fmla="*/ 185390 w 6776647"/>
              <a:gd name="connsiteY45" fmla="*/ 1978410 h 6858000"/>
              <a:gd name="connsiteX46" fmla="*/ 169380 w 6776647"/>
              <a:gd name="connsiteY46" fmla="*/ 1962401 h 6858000"/>
              <a:gd name="connsiteX47" fmla="*/ 169380 w 6776647"/>
              <a:gd name="connsiteY47" fmla="*/ 114456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</a:cxnLst>
            <a:rect l="l" t="t" r="r" b="b"/>
            <a:pathLst>
              <a:path w="6776647" h="6858000">
                <a:moveTo>
                  <a:pt x="3656412" y="5054965"/>
                </a:moveTo>
                <a:cubicBezTo>
                  <a:pt x="3822019" y="5054965"/>
                  <a:pt x="3987625" y="5118142"/>
                  <a:pt x="4113979" y="5244495"/>
                </a:cubicBezTo>
                <a:lnTo>
                  <a:pt x="4131893" y="5262409"/>
                </a:lnTo>
                <a:cubicBezTo>
                  <a:pt x="4384601" y="5515117"/>
                  <a:pt x="4384601" y="5924838"/>
                  <a:pt x="4131892" y="6177545"/>
                </a:cubicBezTo>
                <a:lnTo>
                  <a:pt x="4043288" y="6266149"/>
                </a:lnTo>
                <a:cubicBezTo>
                  <a:pt x="3790582" y="6518855"/>
                  <a:pt x="3380861" y="6518855"/>
                  <a:pt x="3128155" y="6266149"/>
                </a:cubicBezTo>
                <a:lnTo>
                  <a:pt x="3110241" y="6248235"/>
                </a:lnTo>
                <a:cubicBezTo>
                  <a:pt x="2857533" y="5995527"/>
                  <a:pt x="2857533" y="5585807"/>
                  <a:pt x="3110240" y="5333099"/>
                </a:cubicBezTo>
                <a:lnTo>
                  <a:pt x="3198844" y="5244495"/>
                </a:lnTo>
                <a:cubicBezTo>
                  <a:pt x="3325198" y="5118143"/>
                  <a:pt x="3490804" y="5054965"/>
                  <a:pt x="3656412" y="5054965"/>
                </a:cubicBezTo>
                <a:close/>
                <a:moveTo>
                  <a:pt x="6776647" y="4307086"/>
                </a:moveTo>
                <a:lnTo>
                  <a:pt x="6776647" y="5306043"/>
                </a:lnTo>
                <a:lnTo>
                  <a:pt x="5224689" y="6858000"/>
                </a:lnTo>
                <a:lnTo>
                  <a:pt x="4225733" y="6858000"/>
                </a:lnTo>
                <a:close/>
                <a:moveTo>
                  <a:pt x="6776647" y="1775039"/>
                </a:moveTo>
                <a:lnTo>
                  <a:pt x="6776647" y="3615452"/>
                </a:lnTo>
                <a:lnTo>
                  <a:pt x="5493702" y="4898396"/>
                </a:lnTo>
                <a:cubicBezTo>
                  <a:pt x="5240995" y="5151104"/>
                  <a:pt x="4831276" y="5151103"/>
                  <a:pt x="4578567" y="4898396"/>
                </a:cubicBezTo>
                <a:lnTo>
                  <a:pt x="4560653" y="4880482"/>
                </a:lnTo>
                <a:cubicBezTo>
                  <a:pt x="4307946" y="4627775"/>
                  <a:pt x="4307946" y="4218054"/>
                  <a:pt x="4560653" y="3965347"/>
                </a:cubicBezTo>
                <a:lnTo>
                  <a:pt x="6660166" y="1865835"/>
                </a:lnTo>
                <a:cubicBezTo>
                  <a:pt x="6691755" y="1834247"/>
                  <a:pt x="6725796" y="1806607"/>
                  <a:pt x="6761678" y="1782916"/>
                </a:cubicBezTo>
                <a:close/>
                <a:moveTo>
                  <a:pt x="5881240" y="18786"/>
                </a:moveTo>
                <a:cubicBezTo>
                  <a:pt x="6096236" y="18786"/>
                  <a:pt x="6311231" y="100804"/>
                  <a:pt x="6475267" y="264840"/>
                </a:cubicBezTo>
                <a:lnTo>
                  <a:pt x="6498525" y="288097"/>
                </a:lnTo>
                <a:cubicBezTo>
                  <a:pt x="6826598" y="616169"/>
                  <a:pt x="6826598" y="1148079"/>
                  <a:pt x="6498525" y="1476151"/>
                </a:cubicBezTo>
                <a:lnTo>
                  <a:pt x="2949108" y="5025568"/>
                </a:lnTo>
                <a:cubicBezTo>
                  <a:pt x="2621036" y="5353640"/>
                  <a:pt x="2089127" y="5353640"/>
                  <a:pt x="1761054" y="5025568"/>
                </a:cubicBezTo>
                <a:lnTo>
                  <a:pt x="1737797" y="5002311"/>
                </a:lnTo>
                <a:cubicBezTo>
                  <a:pt x="1409725" y="4674239"/>
                  <a:pt x="1409725" y="4142329"/>
                  <a:pt x="1737797" y="3814257"/>
                </a:cubicBezTo>
                <a:lnTo>
                  <a:pt x="5287213" y="264840"/>
                </a:lnTo>
                <a:cubicBezTo>
                  <a:pt x="5451251" y="100804"/>
                  <a:pt x="5666245" y="18785"/>
                  <a:pt x="5881240" y="18786"/>
                </a:cubicBezTo>
                <a:close/>
                <a:moveTo>
                  <a:pt x="3421136" y="0"/>
                </a:moveTo>
                <a:lnTo>
                  <a:pt x="5065590" y="0"/>
                </a:lnTo>
                <a:lnTo>
                  <a:pt x="5058235" y="13976"/>
                </a:lnTo>
                <a:cubicBezTo>
                  <a:pt x="5037063" y="46043"/>
                  <a:pt x="5012362" y="76465"/>
                  <a:pt x="4984132" y="104695"/>
                </a:cubicBezTo>
                <a:lnTo>
                  <a:pt x="1478980" y="3609848"/>
                </a:lnTo>
                <a:cubicBezTo>
                  <a:pt x="1253141" y="3835687"/>
                  <a:pt x="886985" y="3835687"/>
                  <a:pt x="661145" y="3609848"/>
                </a:cubicBezTo>
                <a:lnTo>
                  <a:pt x="645135" y="3593837"/>
                </a:lnTo>
                <a:cubicBezTo>
                  <a:pt x="419295" y="3367998"/>
                  <a:pt x="419295" y="3001841"/>
                  <a:pt x="645135" y="2776002"/>
                </a:cubicBezTo>
                <a:close/>
                <a:moveTo>
                  <a:pt x="1313944" y="0"/>
                </a:moveTo>
                <a:lnTo>
                  <a:pt x="2570790" y="0"/>
                </a:lnTo>
                <a:lnTo>
                  <a:pt x="2582282" y="38778"/>
                </a:lnTo>
                <a:cubicBezTo>
                  <a:pt x="2617570" y="221036"/>
                  <a:pt x="2564639" y="416997"/>
                  <a:pt x="2423489" y="558147"/>
                </a:cubicBezTo>
                <a:lnTo>
                  <a:pt x="1003226" y="1978410"/>
                </a:lnTo>
                <a:cubicBezTo>
                  <a:pt x="777387" y="2204250"/>
                  <a:pt x="411230" y="2204250"/>
                  <a:pt x="185390" y="1978410"/>
                </a:cubicBezTo>
                <a:lnTo>
                  <a:pt x="169380" y="1962401"/>
                </a:lnTo>
                <a:cubicBezTo>
                  <a:pt x="-56460" y="1736561"/>
                  <a:pt x="-56460" y="1370404"/>
                  <a:pt x="169380" y="1144565"/>
                </a:cubicBezTo>
                <a:close/>
              </a:path>
            </a:pathLst>
          </a:custGeom>
          <a:effectLst>
            <a:innerShdw blurRad="63500" dist="50800" dir="16200000">
              <a:prstClr val="black">
                <a:alpha val="50000"/>
              </a:prstClr>
            </a:innerShdw>
          </a:effectLst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130AEAE1-259C-F70B-02EE-2CE9B4DD8DC8}"/>
              </a:ext>
            </a:extLst>
          </p:cNvPr>
          <p:cNvSpPr txBox="1"/>
          <p:nvPr/>
        </p:nvSpPr>
        <p:spPr>
          <a:xfrm>
            <a:off x="-166194" y="133620"/>
            <a:ext cx="677664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rgbClr val="D65D26"/>
                </a:solidFill>
                <a:latin typeface="Inter" panose="02000503000000020004" pitchFamily="2" charset="0"/>
                <a:ea typeface="Inter" panose="02000503000000020004" pitchFamily="2" charset="0"/>
              </a:rPr>
              <a:t>Part 2: </a:t>
            </a:r>
            <a:r>
              <a:rPr lang="en-US" sz="3600" dirty="0">
                <a:solidFill>
                  <a:srgbClr val="EDEDED"/>
                </a:solidFill>
                <a:latin typeface="Inter" panose="02000503000000020004" pitchFamily="2" charset="0"/>
                <a:ea typeface="Inter" panose="02000503000000020004" pitchFamily="2" charset="0"/>
              </a:rPr>
              <a:t>Core OR challenge: optimizing under noise and limited budget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17D44BD-FC18-FD55-5AA6-13ECFAEA5FAD}"/>
              </a:ext>
            </a:extLst>
          </p:cNvPr>
          <p:cNvSpPr txBox="1"/>
          <p:nvPr/>
        </p:nvSpPr>
        <p:spPr>
          <a:xfrm>
            <a:off x="314122" y="2518389"/>
            <a:ext cx="42611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D65D26"/>
                </a:solidFill>
                <a:latin typeface="Montserrat" pitchFamily="2" charset="0"/>
                <a:ea typeface="Inter" panose="02000503000000020004" pitchFamily="2" charset="0"/>
              </a:rPr>
              <a:t>2.3</a:t>
            </a:r>
            <a:r>
              <a:rPr lang="en-US" sz="2000" b="1" dirty="0">
                <a:solidFill>
                  <a:srgbClr val="EDEDED"/>
                </a:solidFill>
                <a:latin typeface="Montserrat" pitchFamily="2" charset="0"/>
                <a:ea typeface="Inter" panose="02000503000000020004" pitchFamily="2" charset="0"/>
              </a:rPr>
              <a:t> Limited Simulation Budget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5F424F8-62D0-3361-450A-2F317BC4F51F}"/>
              </a:ext>
            </a:extLst>
          </p:cNvPr>
          <p:cNvSpPr txBox="1"/>
          <p:nvPr/>
        </p:nvSpPr>
        <p:spPr>
          <a:xfrm>
            <a:off x="279595" y="3518164"/>
            <a:ext cx="298030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EDEDED"/>
                </a:solidFill>
                <a:latin typeface="Montserrat" pitchFamily="2" charset="0"/>
              </a:rPr>
              <a:t>Large decision space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EDEDED"/>
                </a:solidFill>
                <a:latin typeface="Montserrat" pitchFamily="2" charset="0"/>
              </a:rPr>
              <a:t>Finite evaluations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EDEDED"/>
                </a:solidFill>
                <a:latin typeface="Montserrat" pitchFamily="2" charset="0"/>
              </a:rPr>
              <a:t>Exploration trade-offs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1F8C915-240B-387D-910C-0D4C389AF16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595" y="4970054"/>
            <a:ext cx="1690916" cy="1754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8002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20000">
              <a:schemeClr val="bg1"/>
            </a:gs>
            <a:gs pos="78000">
              <a:schemeClr val="tx1">
                <a:lumMod val="95000"/>
                <a:lumOff val="5000"/>
              </a:schemeClr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1881547-9F57-06D3-EE82-9D2ACACBB4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>
            <a:extLst>
              <a:ext uri="{FF2B5EF4-FFF2-40B4-BE49-F238E27FC236}">
                <a16:creationId xmlns:a16="http://schemas.microsoft.com/office/drawing/2014/main" id="{2E5F12D8-E259-C4B2-C008-0470A283EB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417"/>
          <a:stretch>
            <a:fillRect/>
          </a:stretch>
        </p:blipFill>
        <p:spPr>
          <a:xfrm>
            <a:off x="4559473" y="-866155"/>
            <a:ext cx="7632527" cy="7724155"/>
          </a:xfrm>
          <a:custGeom>
            <a:avLst/>
            <a:gdLst>
              <a:gd name="connsiteX0" fmla="*/ 3656412 w 6776647"/>
              <a:gd name="connsiteY0" fmla="*/ 5054965 h 6858000"/>
              <a:gd name="connsiteX1" fmla="*/ 4113979 w 6776647"/>
              <a:gd name="connsiteY1" fmla="*/ 5244495 h 6858000"/>
              <a:gd name="connsiteX2" fmla="*/ 4131893 w 6776647"/>
              <a:gd name="connsiteY2" fmla="*/ 5262409 h 6858000"/>
              <a:gd name="connsiteX3" fmla="*/ 4131892 w 6776647"/>
              <a:gd name="connsiteY3" fmla="*/ 6177545 h 6858000"/>
              <a:gd name="connsiteX4" fmla="*/ 4043288 w 6776647"/>
              <a:gd name="connsiteY4" fmla="*/ 6266149 h 6858000"/>
              <a:gd name="connsiteX5" fmla="*/ 3128155 w 6776647"/>
              <a:gd name="connsiteY5" fmla="*/ 6266149 h 6858000"/>
              <a:gd name="connsiteX6" fmla="*/ 3110241 w 6776647"/>
              <a:gd name="connsiteY6" fmla="*/ 6248235 h 6858000"/>
              <a:gd name="connsiteX7" fmla="*/ 3110240 w 6776647"/>
              <a:gd name="connsiteY7" fmla="*/ 5333099 h 6858000"/>
              <a:gd name="connsiteX8" fmla="*/ 3198844 w 6776647"/>
              <a:gd name="connsiteY8" fmla="*/ 5244495 h 6858000"/>
              <a:gd name="connsiteX9" fmla="*/ 3656412 w 6776647"/>
              <a:gd name="connsiteY9" fmla="*/ 5054965 h 6858000"/>
              <a:gd name="connsiteX10" fmla="*/ 6776647 w 6776647"/>
              <a:gd name="connsiteY10" fmla="*/ 4307086 h 6858000"/>
              <a:gd name="connsiteX11" fmla="*/ 6776647 w 6776647"/>
              <a:gd name="connsiteY11" fmla="*/ 5306043 h 6858000"/>
              <a:gd name="connsiteX12" fmla="*/ 5224689 w 6776647"/>
              <a:gd name="connsiteY12" fmla="*/ 6858000 h 6858000"/>
              <a:gd name="connsiteX13" fmla="*/ 4225733 w 6776647"/>
              <a:gd name="connsiteY13" fmla="*/ 6858000 h 6858000"/>
              <a:gd name="connsiteX14" fmla="*/ 6776647 w 6776647"/>
              <a:gd name="connsiteY14" fmla="*/ 1775039 h 6858000"/>
              <a:gd name="connsiteX15" fmla="*/ 6776647 w 6776647"/>
              <a:gd name="connsiteY15" fmla="*/ 3615452 h 6858000"/>
              <a:gd name="connsiteX16" fmla="*/ 5493702 w 6776647"/>
              <a:gd name="connsiteY16" fmla="*/ 4898396 h 6858000"/>
              <a:gd name="connsiteX17" fmla="*/ 4578567 w 6776647"/>
              <a:gd name="connsiteY17" fmla="*/ 4898396 h 6858000"/>
              <a:gd name="connsiteX18" fmla="*/ 4560653 w 6776647"/>
              <a:gd name="connsiteY18" fmla="*/ 4880482 h 6858000"/>
              <a:gd name="connsiteX19" fmla="*/ 4560653 w 6776647"/>
              <a:gd name="connsiteY19" fmla="*/ 3965347 h 6858000"/>
              <a:gd name="connsiteX20" fmla="*/ 6660166 w 6776647"/>
              <a:gd name="connsiteY20" fmla="*/ 1865835 h 6858000"/>
              <a:gd name="connsiteX21" fmla="*/ 6761678 w 6776647"/>
              <a:gd name="connsiteY21" fmla="*/ 1782916 h 6858000"/>
              <a:gd name="connsiteX22" fmla="*/ 5881240 w 6776647"/>
              <a:gd name="connsiteY22" fmla="*/ 18786 h 6858000"/>
              <a:gd name="connsiteX23" fmla="*/ 6475267 w 6776647"/>
              <a:gd name="connsiteY23" fmla="*/ 264840 h 6858000"/>
              <a:gd name="connsiteX24" fmla="*/ 6498525 w 6776647"/>
              <a:gd name="connsiteY24" fmla="*/ 288097 h 6858000"/>
              <a:gd name="connsiteX25" fmla="*/ 6498525 w 6776647"/>
              <a:gd name="connsiteY25" fmla="*/ 1476151 h 6858000"/>
              <a:gd name="connsiteX26" fmla="*/ 2949108 w 6776647"/>
              <a:gd name="connsiteY26" fmla="*/ 5025568 h 6858000"/>
              <a:gd name="connsiteX27" fmla="*/ 1761054 w 6776647"/>
              <a:gd name="connsiteY27" fmla="*/ 5025568 h 6858000"/>
              <a:gd name="connsiteX28" fmla="*/ 1737797 w 6776647"/>
              <a:gd name="connsiteY28" fmla="*/ 5002311 h 6858000"/>
              <a:gd name="connsiteX29" fmla="*/ 1737797 w 6776647"/>
              <a:gd name="connsiteY29" fmla="*/ 3814257 h 6858000"/>
              <a:gd name="connsiteX30" fmla="*/ 5287213 w 6776647"/>
              <a:gd name="connsiteY30" fmla="*/ 264840 h 6858000"/>
              <a:gd name="connsiteX31" fmla="*/ 5881240 w 6776647"/>
              <a:gd name="connsiteY31" fmla="*/ 18786 h 6858000"/>
              <a:gd name="connsiteX32" fmla="*/ 3421136 w 6776647"/>
              <a:gd name="connsiteY32" fmla="*/ 0 h 6858000"/>
              <a:gd name="connsiteX33" fmla="*/ 5065590 w 6776647"/>
              <a:gd name="connsiteY33" fmla="*/ 0 h 6858000"/>
              <a:gd name="connsiteX34" fmla="*/ 5058235 w 6776647"/>
              <a:gd name="connsiteY34" fmla="*/ 13976 h 6858000"/>
              <a:gd name="connsiteX35" fmla="*/ 4984132 w 6776647"/>
              <a:gd name="connsiteY35" fmla="*/ 104695 h 6858000"/>
              <a:gd name="connsiteX36" fmla="*/ 1478980 w 6776647"/>
              <a:gd name="connsiteY36" fmla="*/ 3609848 h 6858000"/>
              <a:gd name="connsiteX37" fmla="*/ 661145 w 6776647"/>
              <a:gd name="connsiteY37" fmla="*/ 3609848 h 6858000"/>
              <a:gd name="connsiteX38" fmla="*/ 645135 w 6776647"/>
              <a:gd name="connsiteY38" fmla="*/ 3593837 h 6858000"/>
              <a:gd name="connsiteX39" fmla="*/ 645135 w 6776647"/>
              <a:gd name="connsiteY39" fmla="*/ 2776002 h 6858000"/>
              <a:gd name="connsiteX40" fmla="*/ 1313944 w 6776647"/>
              <a:gd name="connsiteY40" fmla="*/ 0 h 6858000"/>
              <a:gd name="connsiteX41" fmla="*/ 2570790 w 6776647"/>
              <a:gd name="connsiteY41" fmla="*/ 0 h 6858000"/>
              <a:gd name="connsiteX42" fmla="*/ 2582282 w 6776647"/>
              <a:gd name="connsiteY42" fmla="*/ 38778 h 6858000"/>
              <a:gd name="connsiteX43" fmla="*/ 2423489 w 6776647"/>
              <a:gd name="connsiteY43" fmla="*/ 558147 h 6858000"/>
              <a:gd name="connsiteX44" fmla="*/ 1003226 w 6776647"/>
              <a:gd name="connsiteY44" fmla="*/ 1978410 h 6858000"/>
              <a:gd name="connsiteX45" fmla="*/ 185390 w 6776647"/>
              <a:gd name="connsiteY45" fmla="*/ 1978410 h 6858000"/>
              <a:gd name="connsiteX46" fmla="*/ 169380 w 6776647"/>
              <a:gd name="connsiteY46" fmla="*/ 1962401 h 6858000"/>
              <a:gd name="connsiteX47" fmla="*/ 169380 w 6776647"/>
              <a:gd name="connsiteY47" fmla="*/ 114456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</a:cxnLst>
            <a:rect l="l" t="t" r="r" b="b"/>
            <a:pathLst>
              <a:path w="6776647" h="6858000">
                <a:moveTo>
                  <a:pt x="3656412" y="5054965"/>
                </a:moveTo>
                <a:cubicBezTo>
                  <a:pt x="3822019" y="5054965"/>
                  <a:pt x="3987625" y="5118142"/>
                  <a:pt x="4113979" y="5244495"/>
                </a:cubicBezTo>
                <a:lnTo>
                  <a:pt x="4131893" y="5262409"/>
                </a:lnTo>
                <a:cubicBezTo>
                  <a:pt x="4384601" y="5515117"/>
                  <a:pt x="4384601" y="5924838"/>
                  <a:pt x="4131892" y="6177545"/>
                </a:cubicBezTo>
                <a:lnTo>
                  <a:pt x="4043288" y="6266149"/>
                </a:lnTo>
                <a:cubicBezTo>
                  <a:pt x="3790582" y="6518855"/>
                  <a:pt x="3380861" y="6518855"/>
                  <a:pt x="3128155" y="6266149"/>
                </a:cubicBezTo>
                <a:lnTo>
                  <a:pt x="3110241" y="6248235"/>
                </a:lnTo>
                <a:cubicBezTo>
                  <a:pt x="2857533" y="5995527"/>
                  <a:pt x="2857533" y="5585807"/>
                  <a:pt x="3110240" y="5333099"/>
                </a:cubicBezTo>
                <a:lnTo>
                  <a:pt x="3198844" y="5244495"/>
                </a:lnTo>
                <a:cubicBezTo>
                  <a:pt x="3325198" y="5118143"/>
                  <a:pt x="3490804" y="5054965"/>
                  <a:pt x="3656412" y="5054965"/>
                </a:cubicBezTo>
                <a:close/>
                <a:moveTo>
                  <a:pt x="6776647" y="4307086"/>
                </a:moveTo>
                <a:lnTo>
                  <a:pt x="6776647" y="5306043"/>
                </a:lnTo>
                <a:lnTo>
                  <a:pt x="5224689" y="6858000"/>
                </a:lnTo>
                <a:lnTo>
                  <a:pt x="4225733" y="6858000"/>
                </a:lnTo>
                <a:close/>
                <a:moveTo>
                  <a:pt x="6776647" y="1775039"/>
                </a:moveTo>
                <a:lnTo>
                  <a:pt x="6776647" y="3615452"/>
                </a:lnTo>
                <a:lnTo>
                  <a:pt x="5493702" y="4898396"/>
                </a:lnTo>
                <a:cubicBezTo>
                  <a:pt x="5240995" y="5151104"/>
                  <a:pt x="4831276" y="5151103"/>
                  <a:pt x="4578567" y="4898396"/>
                </a:cubicBezTo>
                <a:lnTo>
                  <a:pt x="4560653" y="4880482"/>
                </a:lnTo>
                <a:cubicBezTo>
                  <a:pt x="4307946" y="4627775"/>
                  <a:pt x="4307946" y="4218054"/>
                  <a:pt x="4560653" y="3965347"/>
                </a:cubicBezTo>
                <a:lnTo>
                  <a:pt x="6660166" y="1865835"/>
                </a:lnTo>
                <a:cubicBezTo>
                  <a:pt x="6691755" y="1834247"/>
                  <a:pt x="6725796" y="1806607"/>
                  <a:pt x="6761678" y="1782916"/>
                </a:cubicBezTo>
                <a:close/>
                <a:moveTo>
                  <a:pt x="5881240" y="18786"/>
                </a:moveTo>
                <a:cubicBezTo>
                  <a:pt x="6096236" y="18786"/>
                  <a:pt x="6311231" y="100804"/>
                  <a:pt x="6475267" y="264840"/>
                </a:cubicBezTo>
                <a:lnTo>
                  <a:pt x="6498525" y="288097"/>
                </a:lnTo>
                <a:cubicBezTo>
                  <a:pt x="6826598" y="616169"/>
                  <a:pt x="6826598" y="1148079"/>
                  <a:pt x="6498525" y="1476151"/>
                </a:cubicBezTo>
                <a:lnTo>
                  <a:pt x="2949108" y="5025568"/>
                </a:lnTo>
                <a:cubicBezTo>
                  <a:pt x="2621036" y="5353640"/>
                  <a:pt x="2089127" y="5353640"/>
                  <a:pt x="1761054" y="5025568"/>
                </a:cubicBezTo>
                <a:lnTo>
                  <a:pt x="1737797" y="5002311"/>
                </a:lnTo>
                <a:cubicBezTo>
                  <a:pt x="1409725" y="4674239"/>
                  <a:pt x="1409725" y="4142329"/>
                  <a:pt x="1737797" y="3814257"/>
                </a:cubicBezTo>
                <a:lnTo>
                  <a:pt x="5287213" y="264840"/>
                </a:lnTo>
                <a:cubicBezTo>
                  <a:pt x="5451251" y="100804"/>
                  <a:pt x="5666245" y="18785"/>
                  <a:pt x="5881240" y="18786"/>
                </a:cubicBezTo>
                <a:close/>
                <a:moveTo>
                  <a:pt x="3421136" y="0"/>
                </a:moveTo>
                <a:lnTo>
                  <a:pt x="5065590" y="0"/>
                </a:lnTo>
                <a:lnTo>
                  <a:pt x="5058235" y="13976"/>
                </a:lnTo>
                <a:cubicBezTo>
                  <a:pt x="5037063" y="46043"/>
                  <a:pt x="5012362" y="76465"/>
                  <a:pt x="4984132" y="104695"/>
                </a:cubicBezTo>
                <a:lnTo>
                  <a:pt x="1478980" y="3609848"/>
                </a:lnTo>
                <a:cubicBezTo>
                  <a:pt x="1253141" y="3835687"/>
                  <a:pt x="886985" y="3835687"/>
                  <a:pt x="661145" y="3609848"/>
                </a:cubicBezTo>
                <a:lnTo>
                  <a:pt x="645135" y="3593837"/>
                </a:lnTo>
                <a:cubicBezTo>
                  <a:pt x="419295" y="3367998"/>
                  <a:pt x="419295" y="3001841"/>
                  <a:pt x="645135" y="2776002"/>
                </a:cubicBezTo>
                <a:close/>
                <a:moveTo>
                  <a:pt x="1313944" y="0"/>
                </a:moveTo>
                <a:lnTo>
                  <a:pt x="2570790" y="0"/>
                </a:lnTo>
                <a:lnTo>
                  <a:pt x="2582282" y="38778"/>
                </a:lnTo>
                <a:cubicBezTo>
                  <a:pt x="2617570" y="221036"/>
                  <a:pt x="2564639" y="416997"/>
                  <a:pt x="2423489" y="558147"/>
                </a:cubicBezTo>
                <a:lnTo>
                  <a:pt x="1003226" y="1978410"/>
                </a:lnTo>
                <a:cubicBezTo>
                  <a:pt x="777387" y="2204250"/>
                  <a:pt x="411230" y="2204250"/>
                  <a:pt x="185390" y="1978410"/>
                </a:cubicBezTo>
                <a:lnTo>
                  <a:pt x="169380" y="1962401"/>
                </a:lnTo>
                <a:cubicBezTo>
                  <a:pt x="-56460" y="1736561"/>
                  <a:pt x="-56460" y="1370404"/>
                  <a:pt x="169380" y="1144565"/>
                </a:cubicBezTo>
                <a:close/>
              </a:path>
            </a:pathLst>
          </a:custGeom>
          <a:effectLst>
            <a:innerShdw blurRad="63500" dist="50800" dir="16200000">
              <a:prstClr val="black">
                <a:alpha val="50000"/>
              </a:prstClr>
            </a:innerShdw>
          </a:effectLst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B92193E1-76AA-9AC9-3104-87690B2B3BA8}"/>
              </a:ext>
            </a:extLst>
          </p:cNvPr>
          <p:cNvSpPr txBox="1"/>
          <p:nvPr/>
        </p:nvSpPr>
        <p:spPr>
          <a:xfrm>
            <a:off x="-943651" y="133620"/>
            <a:ext cx="677664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rgbClr val="D65D26"/>
                </a:solidFill>
                <a:latin typeface="Inter" panose="02000503000000020004" pitchFamily="2" charset="0"/>
                <a:ea typeface="Inter" panose="02000503000000020004" pitchFamily="2" charset="0"/>
              </a:rPr>
              <a:t>Part 3: </a:t>
            </a:r>
            <a:r>
              <a:rPr lang="en-US" sz="3600" dirty="0">
                <a:solidFill>
                  <a:srgbClr val="EDEDED"/>
                </a:solidFill>
                <a:latin typeface="Inter" panose="02000503000000020004" pitchFamily="2" charset="0"/>
                <a:ea typeface="Inter" panose="02000503000000020004" pitchFamily="2" charset="0"/>
              </a:rPr>
              <a:t>Implications:</a:t>
            </a:r>
          </a:p>
          <a:p>
            <a:pPr algn="ctr"/>
            <a:r>
              <a:rPr lang="en-US" sz="3600" dirty="0">
                <a:solidFill>
                  <a:srgbClr val="EDEDED"/>
                </a:solidFill>
                <a:latin typeface="Inter" panose="02000503000000020004" pitchFamily="2" charset="0"/>
                <a:ea typeface="Inter" panose="02000503000000020004" pitchFamily="2" charset="0"/>
              </a:rPr>
              <a:t>applications and key takeaways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63806A3-3AFD-0FB1-2E97-21CE18BD8DBC}"/>
              </a:ext>
            </a:extLst>
          </p:cNvPr>
          <p:cNvSpPr txBox="1"/>
          <p:nvPr/>
        </p:nvSpPr>
        <p:spPr>
          <a:xfrm>
            <a:off x="314122" y="2518389"/>
            <a:ext cx="59779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D65D26"/>
                </a:solidFill>
                <a:latin typeface="Montserrat" pitchFamily="2" charset="0"/>
                <a:ea typeface="Inter" panose="02000503000000020004" pitchFamily="2" charset="0"/>
              </a:rPr>
              <a:t>3.1</a:t>
            </a:r>
            <a:r>
              <a:rPr lang="en-US" sz="2000" b="1" dirty="0">
                <a:solidFill>
                  <a:srgbClr val="EDEDED"/>
                </a:solidFill>
                <a:latin typeface="Montserrat" pitchFamily="2" charset="0"/>
                <a:ea typeface="Inter" panose="02000503000000020004" pitchFamily="2" charset="0"/>
              </a:rPr>
              <a:t> Optimization Becomes Experimentation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EE9FB01-D49D-C8AF-78C5-24046171EE01}"/>
              </a:ext>
            </a:extLst>
          </p:cNvPr>
          <p:cNvSpPr txBox="1"/>
          <p:nvPr/>
        </p:nvSpPr>
        <p:spPr>
          <a:xfrm>
            <a:off x="279595" y="3518164"/>
            <a:ext cx="449353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EDEDED"/>
                </a:solidFill>
                <a:latin typeface="Montserrat" pitchFamily="2" charset="0"/>
              </a:rPr>
              <a:t>No gradients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EDEDED"/>
                </a:solidFill>
                <a:latin typeface="Montserrat" pitchFamily="2" charset="0"/>
              </a:rPr>
              <a:t>No guaranteed improvement path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EDEDED"/>
                </a:solidFill>
                <a:latin typeface="Montserrat" pitchFamily="2" charset="0"/>
              </a:rPr>
              <a:t>Learning from samples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9B76143-3D2B-C9F8-6405-5111A9898E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595" y="4970054"/>
            <a:ext cx="1690916" cy="1754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67297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20000">
              <a:schemeClr val="bg1"/>
            </a:gs>
            <a:gs pos="78000">
              <a:schemeClr val="tx1">
                <a:lumMod val="95000"/>
                <a:lumOff val="5000"/>
              </a:schemeClr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27C0439-4295-200D-F2DD-3D79F26479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>
            <a:extLst>
              <a:ext uri="{FF2B5EF4-FFF2-40B4-BE49-F238E27FC236}">
                <a16:creationId xmlns:a16="http://schemas.microsoft.com/office/drawing/2014/main" id="{E39B9C97-9482-4528-4C07-5128BB5DA7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417"/>
          <a:stretch>
            <a:fillRect/>
          </a:stretch>
        </p:blipFill>
        <p:spPr>
          <a:xfrm>
            <a:off x="4559473" y="-866155"/>
            <a:ext cx="7632527" cy="7724155"/>
          </a:xfrm>
          <a:custGeom>
            <a:avLst/>
            <a:gdLst>
              <a:gd name="connsiteX0" fmla="*/ 3656412 w 6776647"/>
              <a:gd name="connsiteY0" fmla="*/ 5054965 h 6858000"/>
              <a:gd name="connsiteX1" fmla="*/ 4113979 w 6776647"/>
              <a:gd name="connsiteY1" fmla="*/ 5244495 h 6858000"/>
              <a:gd name="connsiteX2" fmla="*/ 4131893 w 6776647"/>
              <a:gd name="connsiteY2" fmla="*/ 5262409 h 6858000"/>
              <a:gd name="connsiteX3" fmla="*/ 4131892 w 6776647"/>
              <a:gd name="connsiteY3" fmla="*/ 6177545 h 6858000"/>
              <a:gd name="connsiteX4" fmla="*/ 4043288 w 6776647"/>
              <a:gd name="connsiteY4" fmla="*/ 6266149 h 6858000"/>
              <a:gd name="connsiteX5" fmla="*/ 3128155 w 6776647"/>
              <a:gd name="connsiteY5" fmla="*/ 6266149 h 6858000"/>
              <a:gd name="connsiteX6" fmla="*/ 3110241 w 6776647"/>
              <a:gd name="connsiteY6" fmla="*/ 6248235 h 6858000"/>
              <a:gd name="connsiteX7" fmla="*/ 3110240 w 6776647"/>
              <a:gd name="connsiteY7" fmla="*/ 5333099 h 6858000"/>
              <a:gd name="connsiteX8" fmla="*/ 3198844 w 6776647"/>
              <a:gd name="connsiteY8" fmla="*/ 5244495 h 6858000"/>
              <a:gd name="connsiteX9" fmla="*/ 3656412 w 6776647"/>
              <a:gd name="connsiteY9" fmla="*/ 5054965 h 6858000"/>
              <a:gd name="connsiteX10" fmla="*/ 6776647 w 6776647"/>
              <a:gd name="connsiteY10" fmla="*/ 4307086 h 6858000"/>
              <a:gd name="connsiteX11" fmla="*/ 6776647 w 6776647"/>
              <a:gd name="connsiteY11" fmla="*/ 5306043 h 6858000"/>
              <a:gd name="connsiteX12" fmla="*/ 5224689 w 6776647"/>
              <a:gd name="connsiteY12" fmla="*/ 6858000 h 6858000"/>
              <a:gd name="connsiteX13" fmla="*/ 4225733 w 6776647"/>
              <a:gd name="connsiteY13" fmla="*/ 6858000 h 6858000"/>
              <a:gd name="connsiteX14" fmla="*/ 6776647 w 6776647"/>
              <a:gd name="connsiteY14" fmla="*/ 1775039 h 6858000"/>
              <a:gd name="connsiteX15" fmla="*/ 6776647 w 6776647"/>
              <a:gd name="connsiteY15" fmla="*/ 3615452 h 6858000"/>
              <a:gd name="connsiteX16" fmla="*/ 5493702 w 6776647"/>
              <a:gd name="connsiteY16" fmla="*/ 4898396 h 6858000"/>
              <a:gd name="connsiteX17" fmla="*/ 4578567 w 6776647"/>
              <a:gd name="connsiteY17" fmla="*/ 4898396 h 6858000"/>
              <a:gd name="connsiteX18" fmla="*/ 4560653 w 6776647"/>
              <a:gd name="connsiteY18" fmla="*/ 4880482 h 6858000"/>
              <a:gd name="connsiteX19" fmla="*/ 4560653 w 6776647"/>
              <a:gd name="connsiteY19" fmla="*/ 3965347 h 6858000"/>
              <a:gd name="connsiteX20" fmla="*/ 6660166 w 6776647"/>
              <a:gd name="connsiteY20" fmla="*/ 1865835 h 6858000"/>
              <a:gd name="connsiteX21" fmla="*/ 6761678 w 6776647"/>
              <a:gd name="connsiteY21" fmla="*/ 1782916 h 6858000"/>
              <a:gd name="connsiteX22" fmla="*/ 5881240 w 6776647"/>
              <a:gd name="connsiteY22" fmla="*/ 18786 h 6858000"/>
              <a:gd name="connsiteX23" fmla="*/ 6475267 w 6776647"/>
              <a:gd name="connsiteY23" fmla="*/ 264840 h 6858000"/>
              <a:gd name="connsiteX24" fmla="*/ 6498525 w 6776647"/>
              <a:gd name="connsiteY24" fmla="*/ 288097 h 6858000"/>
              <a:gd name="connsiteX25" fmla="*/ 6498525 w 6776647"/>
              <a:gd name="connsiteY25" fmla="*/ 1476151 h 6858000"/>
              <a:gd name="connsiteX26" fmla="*/ 2949108 w 6776647"/>
              <a:gd name="connsiteY26" fmla="*/ 5025568 h 6858000"/>
              <a:gd name="connsiteX27" fmla="*/ 1761054 w 6776647"/>
              <a:gd name="connsiteY27" fmla="*/ 5025568 h 6858000"/>
              <a:gd name="connsiteX28" fmla="*/ 1737797 w 6776647"/>
              <a:gd name="connsiteY28" fmla="*/ 5002311 h 6858000"/>
              <a:gd name="connsiteX29" fmla="*/ 1737797 w 6776647"/>
              <a:gd name="connsiteY29" fmla="*/ 3814257 h 6858000"/>
              <a:gd name="connsiteX30" fmla="*/ 5287213 w 6776647"/>
              <a:gd name="connsiteY30" fmla="*/ 264840 h 6858000"/>
              <a:gd name="connsiteX31" fmla="*/ 5881240 w 6776647"/>
              <a:gd name="connsiteY31" fmla="*/ 18786 h 6858000"/>
              <a:gd name="connsiteX32" fmla="*/ 3421136 w 6776647"/>
              <a:gd name="connsiteY32" fmla="*/ 0 h 6858000"/>
              <a:gd name="connsiteX33" fmla="*/ 5065590 w 6776647"/>
              <a:gd name="connsiteY33" fmla="*/ 0 h 6858000"/>
              <a:gd name="connsiteX34" fmla="*/ 5058235 w 6776647"/>
              <a:gd name="connsiteY34" fmla="*/ 13976 h 6858000"/>
              <a:gd name="connsiteX35" fmla="*/ 4984132 w 6776647"/>
              <a:gd name="connsiteY35" fmla="*/ 104695 h 6858000"/>
              <a:gd name="connsiteX36" fmla="*/ 1478980 w 6776647"/>
              <a:gd name="connsiteY36" fmla="*/ 3609848 h 6858000"/>
              <a:gd name="connsiteX37" fmla="*/ 661145 w 6776647"/>
              <a:gd name="connsiteY37" fmla="*/ 3609848 h 6858000"/>
              <a:gd name="connsiteX38" fmla="*/ 645135 w 6776647"/>
              <a:gd name="connsiteY38" fmla="*/ 3593837 h 6858000"/>
              <a:gd name="connsiteX39" fmla="*/ 645135 w 6776647"/>
              <a:gd name="connsiteY39" fmla="*/ 2776002 h 6858000"/>
              <a:gd name="connsiteX40" fmla="*/ 1313944 w 6776647"/>
              <a:gd name="connsiteY40" fmla="*/ 0 h 6858000"/>
              <a:gd name="connsiteX41" fmla="*/ 2570790 w 6776647"/>
              <a:gd name="connsiteY41" fmla="*/ 0 h 6858000"/>
              <a:gd name="connsiteX42" fmla="*/ 2582282 w 6776647"/>
              <a:gd name="connsiteY42" fmla="*/ 38778 h 6858000"/>
              <a:gd name="connsiteX43" fmla="*/ 2423489 w 6776647"/>
              <a:gd name="connsiteY43" fmla="*/ 558147 h 6858000"/>
              <a:gd name="connsiteX44" fmla="*/ 1003226 w 6776647"/>
              <a:gd name="connsiteY44" fmla="*/ 1978410 h 6858000"/>
              <a:gd name="connsiteX45" fmla="*/ 185390 w 6776647"/>
              <a:gd name="connsiteY45" fmla="*/ 1978410 h 6858000"/>
              <a:gd name="connsiteX46" fmla="*/ 169380 w 6776647"/>
              <a:gd name="connsiteY46" fmla="*/ 1962401 h 6858000"/>
              <a:gd name="connsiteX47" fmla="*/ 169380 w 6776647"/>
              <a:gd name="connsiteY47" fmla="*/ 114456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</a:cxnLst>
            <a:rect l="l" t="t" r="r" b="b"/>
            <a:pathLst>
              <a:path w="6776647" h="6858000">
                <a:moveTo>
                  <a:pt x="3656412" y="5054965"/>
                </a:moveTo>
                <a:cubicBezTo>
                  <a:pt x="3822019" y="5054965"/>
                  <a:pt x="3987625" y="5118142"/>
                  <a:pt x="4113979" y="5244495"/>
                </a:cubicBezTo>
                <a:lnTo>
                  <a:pt x="4131893" y="5262409"/>
                </a:lnTo>
                <a:cubicBezTo>
                  <a:pt x="4384601" y="5515117"/>
                  <a:pt x="4384601" y="5924838"/>
                  <a:pt x="4131892" y="6177545"/>
                </a:cubicBezTo>
                <a:lnTo>
                  <a:pt x="4043288" y="6266149"/>
                </a:lnTo>
                <a:cubicBezTo>
                  <a:pt x="3790582" y="6518855"/>
                  <a:pt x="3380861" y="6518855"/>
                  <a:pt x="3128155" y="6266149"/>
                </a:cubicBezTo>
                <a:lnTo>
                  <a:pt x="3110241" y="6248235"/>
                </a:lnTo>
                <a:cubicBezTo>
                  <a:pt x="2857533" y="5995527"/>
                  <a:pt x="2857533" y="5585807"/>
                  <a:pt x="3110240" y="5333099"/>
                </a:cubicBezTo>
                <a:lnTo>
                  <a:pt x="3198844" y="5244495"/>
                </a:lnTo>
                <a:cubicBezTo>
                  <a:pt x="3325198" y="5118143"/>
                  <a:pt x="3490804" y="5054965"/>
                  <a:pt x="3656412" y="5054965"/>
                </a:cubicBezTo>
                <a:close/>
                <a:moveTo>
                  <a:pt x="6776647" y="4307086"/>
                </a:moveTo>
                <a:lnTo>
                  <a:pt x="6776647" y="5306043"/>
                </a:lnTo>
                <a:lnTo>
                  <a:pt x="5224689" y="6858000"/>
                </a:lnTo>
                <a:lnTo>
                  <a:pt x="4225733" y="6858000"/>
                </a:lnTo>
                <a:close/>
                <a:moveTo>
                  <a:pt x="6776647" y="1775039"/>
                </a:moveTo>
                <a:lnTo>
                  <a:pt x="6776647" y="3615452"/>
                </a:lnTo>
                <a:lnTo>
                  <a:pt x="5493702" y="4898396"/>
                </a:lnTo>
                <a:cubicBezTo>
                  <a:pt x="5240995" y="5151104"/>
                  <a:pt x="4831276" y="5151103"/>
                  <a:pt x="4578567" y="4898396"/>
                </a:cubicBezTo>
                <a:lnTo>
                  <a:pt x="4560653" y="4880482"/>
                </a:lnTo>
                <a:cubicBezTo>
                  <a:pt x="4307946" y="4627775"/>
                  <a:pt x="4307946" y="4218054"/>
                  <a:pt x="4560653" y="3965347"/>
                </a:cubicBezTo>
                <a:lnTo>
                  <a:pt x="6660166" y="1865835"/>
                </a:lnTo>
                <a:cubicBezTo>
                  <a:pt x="6691755" y="1834247"/>
                  <a:pt x="6725796" y="1806607"/>
                  <a:pt x="6761678" y="1782916"/>
                </a:cubicBezTo>
                <a:close/>
                <a:moveTo>
                  <a:pt x="5881240" y="18786"/>
                </a:moveTo>
                <a:cubicBezTo>
                  <a:pt x="6096236" y="18786"/>
                  <a:pt x="6311231" y="100804"/>
                  <a:pt x="6475267" y="264840"/>
                </a:cubicBezTo>
                <a:lnTo>
                  <a:pt x="6498525" y="288097"/>
                </a:lnTo>
                <a:cubicBezTo>
                  <a:pt x="6826598" y="616169"/>
                  <a:pt x="6826598" y="1148079"/>
                  <a:pt x="6498525" y="1476151"/>
                </a:cubicBezTo>
                <a:lnTo>
                  <a:pt x="2949108" y="5025568"/>
                </a:lnTo>
                <a:cubicBezTo>
                  <a:pt x="2621036" y="5353640"/>
                  <a:pt x="2089127" y="5353640"/>
                  <a:pt x="1761054" y="5025568"/>
                </a:cubicBezTo>
                <a:lnTo>
                  <a:pt x="1737797" y="5002311"/>
                </a:lnTo>
                <a:cubicBezTo>
                  <a:pt x="1409725" y="4674239"/>
                  <a:pt x="1409725" y="4142329"/>
                  <a:pt x="1737797" y="3814257"/>
                </a:cubicBezTo>
                <a:lnTo>
                  <a:pt x="5287213" y="264840"/>
                </a:lnTo>
                <a:cubicBezTo>
                  <a:pt x="5451251" y="100804"/>
                  <a:pt x="5666245" y="18785"/>
                  <a:pt x="5881240" y="18786"/>
                </a:cubicBezTo>
                <a:close/>
                <a:moveTo>
                  <a:pt x="3421136" y="0"/>
                </a:moveTo>
                <a:lnTo>
                  <a:pt x="5065590" y="0"/>
                </a:lnTo>
                <a:lnTo>
                  <a:pt x="5058235" y="13976"/>
                </a:lnTo>
                <a:cubicBezTo>
                  <a:pt x="5037063" y="46043"/>
                  <a:pt x="5012362" y="76465"/>
                  <a:pt x="4984132" y="104695"/>
                </a:cubicBezTo>
                <a:lnTo>
                  <a:pt x="1478980" y="3609848"/>
                </a:lnTo>
                <a:cubicBezTo>
                  <a:pt x="1253141" y="3835687"/>
                  <a:pt x="886985" y="3835687"/>
                  <a:pt x="661145" y="3609848"/>
                </a:cubicBezTo>
                <a:lnTo>
                  <a:pt x="645135" y="3593837"/>
                </a:lnTo>
                <a:cubicBezTo>
                  <a:pt x="419295" y="3367998"/>
                  <a:pt x="419295" y="3001841"/>
                  <a:pt x="645135" y="2776002"/>
                </a:cubicBezTo>
                <a:close/>
                <a:moveTo>
                  <a:pt x="1313944" y="0"/>
                </a:moveTo>
                <a:lnTo>
                  <a:pt x="2570790" y="0"/>
                </a:lnTo>
                <a:lnTo>
                  <a:pt x="2582282" y="38778"/>
                </a:lnTo>
                <a:cubicBezTo>
                  <a:pt x="2617570" y="221036"/>
                  <a:pt x="2564639" y="416997"/>
                  <a:pt x="2423489" y="558147"/>
                </a:cubicBezTo>
                <a:lnTo>
                  <a:pt x="1003226" y="1978410"/>
                </a:lnTo>
                <a:cubicBezTo>
                  <a:pt x="777387" y="2204250"/>
                  <a:pt x="411230" y="2204250"/>
                  <a:pt x="185390" y="1978410"/>
                </a:cubicBezTo>
                <a:lnTo>
                  <a:pt x="169380" y="1962401"/>
                </a:lnTo>
                <a:cubicBezTo>
                  <a:pt x="-56460" y="1736561"/>
                  <a:pt x="-56460" y="1370404"/>
                  <a:pt x="169380" y="1144565"/>
                </a:cubicBezTo>
                <a:close/>
              </a:path>
            </a:pathLst>
          </a:custGeom>
          <a:effectLst>
            <a:innerShdw blurRad="63500" dist="50800" dir="16200000">
              <a:prstClr val="black">
                <a:alpha val="50000"/>
              </a:prstClr>
            </a:innerShdw>
          </a:effectLst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840435CA-C1F9-BEC7-535D-BAA1F9CF1A8C}"/>
              </a:ext>
            </a:extLst>
          </p:cNvPr>
          <p:cNvSpPr txBox="1"/>
          <p:nvPr/>
        </p:nvSpPr>
        <p:spPr>
          <a:xfrm>
            <a:off x="-943651" y="133620"/>
            <a:ext cx="677664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rgbClr val="D65D26"/>
                </a:solidFill>
                <a:latin typeface="Inter" panose="02000503000000020004" pitchFamily="2" charset="0"/>
                <a:ea typeface="Inter" panose="02000503000000020004" pitchFamily="2" charset="0"/>
              </a:rPr>
              <a:t>Part 3: </a:t>
            </a:r>
            <a:r>
              <a:rPr lang="en-US" sz="3600" dirty="0">
                <a:solidFill>
                  <a:srgbClr val="EDEDED"/>
                </a:solidFill>
                <a:latin typeface="Inter" panose="02000503000000020004" pitchFamily="2" charset="0"/>
                <a:ea typeface="Inter" panose="02000503000000020004" pitchFamily="2" charset="0"/>
              </a:rPr>
              <a:t>Implications:</a:t>
            </a:r>
          </a:p>
          <a:p>
            <a:pPr algn="ctr"/>
            <a:r>
              <a:rPr lang="en-US" sz="3600" dirty="0">
                <a:solidFill>
                  <a:srgbClr val="EDEDED"/>
                </a:solidFill>
                <a:latin typeface="Inter" panose="02000503000000020004" pitchFamily="2" charset="0"/>
                <a:ea typeface="Inter" panose="02000503000000020004" pitchFamily="2" charset="0"/>
              </a:rPr>
              <a:t>applications and key takeaways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AD907EA-C515-9A7A-F91F-9830C41B307D}"/>
              </a:ext>
            </a:extLst>
          </p:cNvPr>
          <p:cNvSpPr txBox="1"/>
          <p:nvPr/>
        </p:nvSpPr>
        <p:spPr>
          <a:xfrm>
            <a:off x="314122" y="2518389"/>
            <a:ext cx="36920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D65D26"/>
                </a:solidFill>
                <a:latin typeface="Montserrat" pitchFamily="2" charset="0"/>
                <a:ea typeface="Inter" panose="02000503000000020004" pitchFamily="2" charset="0"/>
              </a:rPr>
              <a:t>3.2</a:t>
            </a:r>
            <a:r>
              <a:rPr lang="en-US" sz="2000" b="1" dirty="0">
                <a:solidFill>
                  <a:srgbClr val="EDEDED"/>
                </a:solidFill>
                <a:latin typeface="Montserrat" pitchFamily="2" charset="0"/>
                <a:ea typeface="Inter" panose="02000503000000020004" pitchFamily="2" charset="0"/>
              </a:rPr>
              <a:t> Multi-Objective Reality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27A8E29-DAB3-F1FB-E326-EF4601239A97}"/>
              </a:ext>
            </a:extLst>
          </p:cNvPr>
          <p:cNvSpPr txBox="1"/>
          <p:nvPr/>
        </p:nvSpPr>
        <p:spPr>
          <a:xfrm>
            <a:off x="279595" y="3518164"/>
            <a:ext cx="355578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EDEDED"/>
                </a:solidFill>
                <a:latin typeface="Montserrat" pitchFamily="2" charset="0"/>
              </a:rPr>
              <a:t>Conflicting objectives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EDEDED"/>
                </a:solidFill>
                <a:latin typeface="Montserrat" pitchFamily="2" charset="0"/>
              </a:rPr>
              <a:t>No single best solution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EDEDED"/>
                </a:solidFill>
                <a:latin typeface="Montserrat" pitchFamily="2" charset="0"/>
              </a:rPr>
              <a:t>Trade-offs are unavoidable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8244557-E8A2-F8CA-744F-9CB963471C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595" y="4970054"/>
            <a:ext cx="1690916" cy="1754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4409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20000">
              <a:schemeClr val="bg1"/>
            </a:gs>
            <a:gs pos="78000">
              <a:schemeClr val="tx1">
                <a:lumMod val="95000"/>
                <a:lumOff val="5000"/>
              </a:schemeClr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18F706-1D7F-EBCB-0A59-550F92FA5B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>
            <a:extLst>
              <a:ext uri="{FF2B5EF4-FFF2-40B4-BE49-F238E27FC236}">
                <a16:creationId xmlns:a16="http://schemas.microsoft.com/office/drawing/2014/main" id="{BB9CF89E-2441-71AC-5B28-06C5A3EA4A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417"/>
          <a:stretch>
            <a:fillRect/>
          </a:stretch>
        </p:blipFill>
        <p:spPr>
          <a:xfrm>
            <a:off x="4559473" y="-866155"/>
            <a:ext cx="7632527" cy="7724155"/>
          </a:xfrm>
          <a:custGeom>
            <a:avLst/>
            <a:gdLst>
              <a:gd name="connsiteX0" fmla="*/ 3656412 w 6776647"/>
              <a:gd name="connsiteY0" fmla="*/ 5054965 h 6858000"/>
              <a:gd name="connsiteX1" fmla="*/ 4113979 w 6776647"/>
              <a:gd name="connsiteY1" fmla="*/ 5244495 h 6858000"/>
              <a:gd name="connsiteX2" fmla="*/ 4131893 w 6776647"/>
              <a:gd name="connsiteY2" fmla="*/ 5262409 h 6858000"/>
              <a:gd name="connsiteX3" fmla="*/ 4131892 w 6776647"/>
              <a:gd name="connsiteY3" fmla="*/ 6177545 h 6858000"/>
              <a:gd name="connsiteX4" fmla="*/ 4043288 w 6776647"/>
              <a:gd name="connsiteY4" fmla="*/ 6266149 h 6858000"/>
              <a:gd name="connsiteX5" fmla="*/ 3128155 w 6776647"/>
              <a:gd name="connsiteY5" fmla="*/ 6266149 h 6858000"/>
              <a:gd name="connsiteX6" fmla="*/ 3110241 w 6776647"/>
              <a:gd name="connsiteY6" fmla="*/ 6248235 h 6858000"/>
              <a:gd name="connsiteX7" fmla="*/ 3110240 w 6776647"/>
              <a:gd name="connsiteY7" fmla="*/ 5333099 h 6858000"/>
              <a:gd name="connsiteX8" fmla="*/ 3198844 w 6776647"/>
              <a:gd name="connsiteY8" fmla="*/ 5244495 h 6858000"/>
              <a:gd name="connsiteX9" fmla="*/ 3656412 w 6776647"/>
              <a:gd name="connsiteY9" fmla="*/ 5054965 h 6858000"/>
              <a:gd name="connsiteX10" fmla="*/ 6776647 w 6776647"/>
              <a:gd name="connsiteY10" fmla="*/ 4307086 h 6858000"/>
              <a:gd name="connsiteX11" fmla="*/ 6776647 w 6776647"/>
              <a:gd name="connsiteY11" fmla="*/ 5306043 h 6858000"/>
              <a:gd name="connsiteX12" fmla="*/ 5224689 w 6776647"/>
              <a:gd name="connsiteY12" fmla="*/ 6858000 h 6858000"/>
              <a:gd name="connsiteX13" fmla="*/ 4225733 w 6776647"/>
              <a:gd name="connsiteY13" fmla="*/ 6858000 h 6858000"/>
              <a:gd name="connsiteX14" fmla="*/ 6776647 w 6776647"/>
              <a:gd name="connsiteY14" fmla="*/ 1775039 h 6858000"/>
              <a:gd name="connsiteX15" fmla="*/ 6776647 w 6776647"/>
              <a:gd name="connsiteY15" fmla="*/ 3615452 h 6858000"/>
              <a:gd name="connsiteX16" fmla="*/ 5493702 w 6776647"/>
              <a:gd name="connsiteY16" fmla="*/ 4898396 h 6858000"/>
              <a:gd name="connsiteX17" fmla="*/ 4578567 w 6776647"/>
              <a:gd name="connsiteY17" fmla="*/ 4898396 h 6858000"/>
              <a:gd name="connsiteX18" fmla="*/ 4560653 w 6776647"/>
              <a:gd name="connsiteY18" fmla="*/ 4880482 h 6858000"/>
              <a:gd name="connsiteX19" fmla="*/ 4560653 w 6776647"/>
              <a:gd name="connsiteY19" fmla="*/ 3965347 h 6858000"/>
              <a:gd name="connsiteX20" fmla="*/ 6660166 w 6776647"/>
              <a:gd name="connsiteY20" fmla="*/ 1865835 h 6858000"/>
              <a:gd name="connsiteX21" fmla="*/ 6761678 w 6776647"/>
              <a:gd name="connsiteY21" fmla="*/ 1782916 h 6858000"/>
              <a:gd name="connsiteX22" fmla="*/ 5881240 w 6776647"/>
              <a:gd name="connsiteY22" fmla="*/ 18786 h 6858000"/>
              <a:gd name="connsiteX23" fmla="*/ 6475267 w 6776647"/>
              <a:gd name="connsiteY23" fmla="*/ 264840 h 6858000"/>
              <a:gd name="connsiteX24" fmla="*/ 6498525 w 6776647"/>
              <a:gd name="connsiteY24" fmla="*/ 288097 h 6858000"/>
              <a:gd name="connsiteX25" fmla="*/ 6498525 w 6776647"/>
              <a:gd name="connsiteY25" fmla="*/ 1476151 h 6858000"/>
              <a:gd name="connsiteX26" fmla="*/ 2949108 w 6776647"/>
              <a:gd name="connsiteY26" fmla="*/ 5025568 h 6858000"/>
              <a:gd name="connsiteX27" fmla="*/ 1761054 w 6776647"/>
              <a:gd name="connsiteY27" fmla="*/ 5025568 h 6858000"/>
              <a:gd name="connsiteX28" fmla="*/ 1737797 w 6776647"/>
              <a:gd name="connsiteY28" fmla="*/ 5002311 h 6858000"/>
              <a:gd name="connsiteX29" fmla="*/ 1737797 w 6776647"/>
              <a:gd name="connsiteY29" fmla="*/ 3814257 h 6858000"/>
              <a:gd name="connsiteX30" fmla="*/ 5287213 w 6776647"/>
              <a:gd name="connsiteY30" fmla="*/ 264840 h 6858000"/>
              <a:gd name="connsiteX31" fmla="*/ 5881240 w 6776647"/>
              <a:gd name="connsiteY31" fmla="*/ 18786 h 6858000"/>
              <a:gd name="connsiteX32" fmla="*/ 3421136 w 6776647"/>
              <a:gd name="connsiteY32" fmla="*/ 0 h 6858000"/>
              <a:gd name="connsiteX33" fmla="*/ 5065590 w 6776647"/>
              <a:gd name="connsiteY33" fmla="*/ 0 h 6858000"/>
              <a:gd name="connsiteX34" fmla="*/ 5058235 w 6776647"/>
              <a:gd name="connsiteY34" fmla="*/ 13976 h 6858000"/>
              <a:gd name="connsiteX35" fmla="*/ 4984132 w 6776647"/>
              <a:gd name="connsiteY35" fmla="*/ 104695 h 6858000"/>
              <a:gd name="connsiteX36" fmla="*/ 1478980 w 6776647"/>
              <a:gd name="connsiteY36" fmla="*/ 3609848 h 6858000"/>
              <a:gd name="connsiteX37" fmla="*/ 661145 w 6776647"/>
              <a:gd name="connsiteY37" fmla="*/ 3609848 h 6858000"/>
              <a:gd name="connsiteX38" fmla="*/ 645135 w 6776647"/>
              <a:gd name="connsiteY38" fmla="*/ 3593837 h 6858000"/>
              <a:gd name="connsiteX39" fmla="*/ 645135 w 6776647"/>
              <a:gd name="connsiteY39" fmla="*/ 2776002 h 6858000"/>
              <a:gd name="connsiteX40" fmla="*/ 1313944 w 6776647"/>
              <a:gd name="connsiteY40" fmla="*/ 0 h 6858000"/>
              <a:gd name="connsiteX41" fmla="*/ 2570790 w 6776647"/>
              <a:gd name="connsiteY41" fmla="*/ 0 h 6858000"/>
              <a:gd name="connsiteX42" fmla="*/ 2582282 w 6776647"/>
              <a:gd name="connsiteY42" fmla="*/ 38778 h 6858000"/>
              <a:gd name="connsiteX43" fmla="*/ 2423489 w 6776647"/>
              <a:gd name="connsiteY43" fmla="*/ 558147 h 6858000"/>
              <a:gd name="connsiteX44" fmla="*/ 1003226 w 6776647"/>
              <a:gd name="connsiteY44" fmla="*/ 1978410 h 6858000"/>
              <a:gd name="connsiteX45" fmla="*/ 185390 w 6776647"/>
              <a:gd name="connsiteY45" fmla="*/ 1978410 h 6858000"/>
              <a:gd name="connsiteX46" fmla="*/ 169380 w 6776647"/>
              <a:gd name="connsiteY46" fmla="*/ 1962401 h 6858000"/>
              <a:gd name="connsiteX47" fmla="*/ 169380 w 6776647"/>
              <a:gd name="connsiteY47" fmla="*/ 114456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</a:cxnLst>
            <a:rect l="l" t="t" r="r" b="b"/>
            <a:pathLst>
              <a:path w="6776647" h="6858000">
                <a:moveTo>
                  <a:pt x="3656412" y="5054965"/>
                </a:moveTo>
                <a:cubicBezTo>
                  <a:pt x="3822019" y="5054965"/>
                  <a:pt x="3987625" y="5118142"/>
                  <a:pt x="4113979" y="5244495"/>
                </a:cubicBezTo>
                <a:lnTo>
                  <a:pt x="4131893" y="5262409"/>
                </a:lnTo>
                <a:cubicBezTo>
                  <a:pt x="4384601" y="5515117"/>
                  <a:pt x="4384601" y="5924838"/>
                  <a:pt x="4131892" y="6177545"/>
                </a:cubicBezTo>
                <a:lnTo>
                  <a:pt x="4043288" y="6266149"/>
                </a:lnTo>
                <a:cubicBezTo>
                  <a:pt x="3790582" y="6518855"/>
                  <a:pt x="3380861" y="6518855"/>
                  <a:pt x="3128155" y="6266149"/>
                </a:cubicBezTo>
                <a:lnTo>
                  <a:pt x="3110241" y="6248235"/>
                </a:lnTo>
                <a:cubicBezTo>
                  <a:pt x="2857533" y="5995527"/>
                  <a:pt x="2857533" y="5585807"/>
                  <a:pt x="3110240" y="5333099"/>
                </a:cubicBezTo>
                <a:lnTo>
                  <a:pt x="3198844" y="5244495"/>
                </a:lnTo>
                <a:cubicBezTo>
                  <a:pt x="3325198" y="5118143"/>
                  <a:pt x="3490804" y="5054965"/>
                  <a:pt x="3656412" y="5054965"/>
                </a:cubicBezTo>
                <a:close/>
                <a:moveTo>
                  <a:pt x="6776647" y="4307086"/>
                </a:moveTo>
                <a:lnTo>
                  <a:pt x="6776647" y="5306043"/>
                </a:lnTo>
                <a:lnTo>
                  <a:pt x="5224689" y="6858000"/>
                </a:lnTo>
                <a:lnTo>
                  <a:pt x="4225733" y="6858000"/>
                </a:lnTo>
                <a:close/>
                <a:moveTo>
                  <a:pt x="6776647" y="1775039"/>
                </a:moveTo>
                <a:lnTo>
                  <a:pt x="6776647" y="3615452"/>
                </a:lnTo>
                <a:lnTo>
                  <a:pt x="5493702" y="4898396"/>
                </a:lnTo>
                <a:cubicBezTo>
                  <a:pt x="5240995" y="5151104"/>
                  <a:pt x="4831276" y="5151103"/>
                  <a:pt x="4578567" y="4898396"/>
                </a:cubicBezTo>
                <a:lnTo>
                  <a:pt x="4560653" y="4880482"/>
                </a:lnTo>
                <a:cubicBezTo>
                  <a:pt x="4307946" y="4627775"/>
                  <a:pt x="4307946" y="4218054"/>
                  <a:pt x="4560653" y="3965347"/>
                </a:cubicBezTo>
                <a:lnTo>
                  <a:pt x="6660166" y="1865835"/>
                </a:lnTo>
                <a:cubicBezTo>
                  <a:pt x="6691755" y="1834247"/>
                  <a:pt x="6725796" y="1806607"/>
                  <a:pt x="6761678" y="1782916"/>
                </a:cubicBezTo>
                <a:close/>
                <a:moveTo>
                  <a:pt x="5881240" y="18786"/>
                </a:moveTo>
                <a:cubicBezTo>
                  <a:pt x="6096236" y="18786"/>
                  <a:pt x="6311231" y="100804"/>
                  <a:pt x="6475267" y="264840"/>
                </a:cubicBezTo>
                <a:lnTo>
                  <a:pt x="6498525" y="288097"/>
                </a:lnTo>
                <a:cubicBezTo>
                  <a:pt x="6826598" y="616169"/>
                  <a:pt x="6826598" y="1148079"/>
                  <a:pt x="6498525" y="1476151"/>
                </a:cubicBezTo>
                <a:lnTo>
                  <a:pt x="2949108" y="5025568"/>
                </a:lnTo>
                <a:cubicBezTo>
                  <a:pt x="2621036" y="5353640"/>
                  <a:pt x="2089127" y="5353640"/>
                  <a:pt x="1761054" y="5025568"/>
                </a:cubicBezTo>
                <a:lnTo>
                  <a:pt x="1737797" y="5002311"/>
                </a:lnTo>
                <a:cubicBezTo>
                  <a:pt x="1409725" y="4674239"/>
                  <a:pt x="1409725" y="4142329"/>
                  <a:pt x="1737797" y="3814257"/>
                </a:cubicBezTo>
                <a:lnTo>
                  <a:pt x="5287213" y="264840"/>
                </a:lnTo>
                <a:cubicBezTo>
                  <a:pt x="5451251" y="100804"/>
                  <a:pt x="5666245" y="18785"/>
                  <a:pt x="5881240" y="18786"/>
                </a:cubicBezTo>
                <a:close/>
                <a:moveTo>
                  <a:pt x="3421136" y="0"/>
                </a:moveTo>
                <a:lnTo>
                  <a:pt x="5065590" y="0"/>
                </a:lnTo>
                <a:lnTo>
                  <a:pt x="5058235" y="13976"/>
                </a:lnTo>
                <a:cubicBezTo>
                  <a:pt x="5037063" y="46043"/>
                  <a:pt x="5012362" y="76465"/>
                  <a:pt x="4984132" y="104695"/>
                </a:cubicBezTo>
                <a:lnTo>
                  <a:pt x="1478980" y="3609848"/>
                </a:lnTo>
                <a:cubicBezTo>
                  <a:pt x="1253141" y="3835687"/>
                  <a:pt x="886985" y="3835687"/>
                  <a:pt x="661145" y="3609848"/>
                </a:cubicBezTo>
                <a:lnTo>
                  <a:pt x="645135" y="3593837"/>
                </a:lnTo>
                <a:cubicBezTo>
                  <a:pt x="419295" y="3367998"/>
                  <a:pt x="419295" y="3001841"/>
                  <a:pt x="645135" y="2776002"/>
                </a:cubicBezTo>
                <a:close/>
                <a:moveTo>
                  <a:pt x="1313944" y="0"/>
                </a:moveTo>
                <a:lnTo>
                  <a:pt x="2570790" y="0"/>
                </a:lnTo>
                <a:lnTo>
                  <a:pt x="2582282" y="38778"/>
                </a:lnTo>
                <a:cubicBezTo>
                  <a:pt x="2617570" y="221036"/>
                  <a:pt x="2564639" y="416997"/>
                  <a:pt x="2423489" y="558147"/>
                </a:cubicBezTo>
                <a:lnTo>
                  <a:pt x="1003226" y="1978410"/>
                </a:lnTo>
                <a:cubicBezTo>
                  <a:pt x="777387" y="2204250"/>
                  <a:pt x="411230" y="2204250"/>
                  <a:pt x="185390" y="1978410"/>
                </a:cubicBezTo>
                <a:lnTo>
                  <a:pt x="169380" y="1962401"/>
                </a:lnTo>
                <a:cubicBezTo>
                  <a:pt x="-56460" y="1736561"/>
                  <a:pt x="-56460" y="1370404"/>
                  <a:pt x="169380" y="1144565"/>
                </a:cubicBezTo>
                <a:close/>
              </a:path>
            </a:pathLst>
          </a:custGeom>
          <a:effectLst>
            <a:innerShdw blurRad="63500" dist="50800" dir="16200000">
              <a:prstClr val="black">
                <a:alpha val="50000"/>
              </a:prstClr>
            </a:innerShdw>
          </a:effectLst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B07DB981-96C9-428B-903F-47B96F04728C}"/>
              </a:ext>
            </a:extLst>
          </p:cNvPr>
          <p:cNvSpPr txBox="1"/>
          <p:nvPr/>
        </p:nvSpPr>
        <p:spPr>
          <a:xfrm>
            <a:off x="-943651" y="133620"/>
            <a:ext cx="677664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rgbClr val="D65D26"/>
                </a:solidFill>
                <a:latin typeface="Inter" panose="02000503000000020004" pitchFamily="2" charset="0"/>
                <a:ea typeface="Inter" panose="02000503000000020004" pitchFamily="2" charset="0"/>
              </a:rPr>
              <a:t>Part 3: </a:t>
            </a:r>
            <a:r>
              <a:rPr lang="en-US" sz="3600" dirty="0">
                <a:solidFill>
                  <a:srgbClr val="EDEDED"/>
                </a:solidFill>
                <a:latin typeface="Inter" panose="02000503000000020004" pitchFamily="2" charset="0"/>
                <a:ea typeface="Inter" panose="02000503000000020004" pitchFamily="2" charset="0"/>
              </a:rPr>
              <a:t>Implications:</a:t>
            </a:r>
          </a:p>
          <a:p>
            <a:pPr algn="ctr"/>
            <a:r>
              <a:rPr lang="en-US" sz="3600" dirty="0">
                <a:solidFill>
                  <a:srgbClr val="EDEDED"/>
                </a:solidFill>
                <a:latin typeface="Inter" panose="02000503000000020004" pitchFamily="2" charset="0"/>
                <a:ea typeface="Inter" panose="02000503000000020004" pitchFamily="2" charset="0"/>
              </a:rPr>
              <a:t>applications and key takeaways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C1AF7BA-C145-7A32-DD6C-D83BD4F453A1}"/>
              </a:ext>
            </a:extLst>
          </p:cNvPr>
          <p:cNvSpPr txBox="1"/>
          <p:nvPr/>
        </p:nvSpPr>
        <p:spPr>
          <a:xfrm>
            <a:off x="314122" y="2518389"/>
            <a:ext cx="491673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D65D26"/>
                </a:solidFill>
                <a:latin typeface="Montserrat" pitchFamily="2" charset="0"/>
                <a:ea typeface="Inter" panose="02000503000000020004" pitchFamily="2" charset="0"/>
              </a:rPr>
              <a:t>3.3</a:t>
            </a:r>
            <a:r>
              <a:rPr lang="en-US" sz="2000" b="1" dirty="0">
                <a:solidFill>
                  <a:srgbClr val="EDEDED"/>
                </a:solidFill>
                <a:latin typeface="Montserrat" pitchFamily="2" charset="0"/>
                <a:ea typeface="Inter" panose="02000503000000020004" pitchFamily="2" charset="0"/>
              </a:rPr>
              <a:t> OR Takeaways and Applications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A662D01-31B2-9C5C-8D8E-9E6D55614FAF}"/>
              </a:ext>
            </a:extLst>
          </p:cNvPr>
          <p:cNvSpPr txBox="1"/>
          <p:nvPr/>
        </p:nvSpPr>
        <p:spPr>
          <a:xfrm>
            <a:off x="279595" y="3518164"/>
            <a:ext cx="460414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EDEDED"/>
                </a:solidFill>
                <a:latin typeface="Montserrat" pitchFamily="2" charset="0"/>
              </a:rPr>
              <a:t>Decision support under uncertainty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EDEDED"/>
                </a:solidFill>
                <a:latin typeface="Montserrat" pitchFamily="2" charset="0"/>
              </a:rPr>
              <a:t>Simulation replaces formulas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EDEDED"/>
                </a:solidFill>
                <a:latin typeface="Montserrat" pitchFamily="2" charset="0"/>
              </a:rPr>
              <a:t>Widely applicable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D6A8FCA-4E1A-D20C-9243-BF4E41F1FF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595" y="4970054"/>
            <a:ext cx="1690916" cy="1754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62173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20000">
              <a:schemeClr val="bg1"/>
            </a:gs>
            <a:gs pos="78000">
              <a:schemeClr val="tx1">
                <a:lumMod val="95000"/>
                <a:lumOff val="5000"/>
              </a:schemeClr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A23B0D-FD00-43AE-E26F-E7F4CB2FD8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>
            <a:extLst>
              <a:ext uri="{FF2B5EF4-FFF2-40B4-BE49-F238E27FC236}">
                <a16:creationId xmlns:a16="http://schemas.microsoft.com/office/drawing/2014/main" id="{7B8B0610-DECC-84E1-24A8-B5E19C190E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417"/>
          <a:stretch>
            <a:fillRect/>
          </a:stretch>
        </p:blipFill>
        <p:spPr>
          <a:xfrm>
            <a:off x="4559473" y="-866155"/>
            <a:ext cx="7632527" cy="7724155"/>
          </a:xfrm>
          <a:custGeom>
            <a:avLst/>
            <a:gdLst>
              <a:gd name="connsiteX0" fmla="*/ 3656412 w 6776647"/>
              <a:gd name="connsiteY0" fmla="*/ 5054965 h 6858000"/>
              <a:gd name="connsiteX1" fmla="*/ 4113979 w 6776647"/>
              <a:gd name="connsiteY1" fmla="*/ 5244495 h 6858000"/>
              <a:gd name="connsiteX2" fmla="*/ 4131893 w 6776647"/>
              <a:gd name="connsiteY2" fmla="*/ 5262409 h 6858000"/>
              <a:gd name="connsiteX3" fmla="*/ 4131892 w 6776647"/>
              <a:gd name="connsiteY3" fmla="*/ 6177545 h 6858000"/>
              <a:gd name="connsiteX4" fmla="*/ 4043288 w 6776647"/>
              <a:gd name="connsiteY4" fmla="*/ 6266149 h 6858000"/>
              <a:gd name="connsiteX5" fmla="*/ 3128155 w 6776647"/>
              <a:gd name="connsiteY5" fmla="*/ 6266149 h 6858000"/>
              <a:gd name="connsiteX6" fmla="*/ 3110241 w 6776647"/>
              <a:gd name="connsiteY6" fmla="*/ 6248235 h 6858000"/>
              <a:gd name="connsiteX7" fmla="*/ 3110240 w 6776647"/>
              <a:gd name="connsiteY7" fmla="*/ 5333099 h 6858000"/>
              <a:gd name="connsiteX8" fmla="*/ 3198844 w 6776647"/>
              <a:gd name="connsiteY8" fmla="*/ 5244495 h 6858000"/>
              <a:gd name="connsiteX9" fmla="*/ 3656412 w 6776647"/>
              <a:gd name="connsiteY9" fmla="*/ 5054965 h 6858000"/>
              <a:gd name="connsiteX10" fmla="*/ 6776647 w 6776647"/>
              <a:gd name="connsiteY10" fmla="*/ 4307086 h 6858000"/>
              <a:gd name="connsiteX11" fmla="*/ 6776647 w 6776647"/>
              <a:gd name="connsiteY11" fmla="*/ 5306043 h 6858000"/>
              <a:gd name="connsiteX12" fmla="*/ 5224689 w 6776647"/>
              <a:gd name="connsiteY12" fmla="*/ 6858000 h 6858000"/>
              <a:gd name="connsiteX13" fmla="*/ 4225733 w 6776647"/>
              <a:gd name="connsiteY13" fmla="*/ 6858000 h 6858000"/>
              <a:gd name="connsiteX14" fmla="*/ 6776647 w 6776647"/>
              <a:gd name="connsiteY14" fmla="*/ 1775039 h 6858000"/>
              <a:gd name="connsiteX15" fmla="*/ 6776647 w 6776647"/>
              <a:gd name="connsiteY15" fmla="*/ 3615452 h 6858000"/>
              <a:gd name="connsiteX16" fmla="*/ 5493702 w 6776647"/>
              <a:gd name="connsiteY16" fmla="*/ 4898396 h 6858000"/>
              <a:gd name="connsiteX17" fmla="*/ 4578567 w 6776647"/>
              <a:gd name="connsiteY17" fmla="*/ 4898396 h 6858000"/>
              <a:gd name="connsiteX18" fmla="*/ 4560653 w 6776647"/>
              <a:gd name="connsiteY18" fmla="*/ 4880482 h 6858000"/>
              <a:gd name="connsiteX19" fmla="*/ 4560653 w 6776647"/>
              <a:gd name="connsiteY19" fmla="*/ 3965347 h 6858000"/>
              <a:gd name="connsiteX20" fmla="*/ 6660166 w 6776647"/>
              <a:gd name="connsiteY20" fmla="*/ 1865835 h 6858000"/>
              <a:gd name="connsiteX21" fmla="*/ 6761678 w 6776647"/>
              <a:gd name="connsiteY21" fmla="*/ 1782916 h 6858000"/>
              <a:gd name="connsiteX22" fmla="*/ 5881240 w 6776647"/>
              <a:gd name="connsiteY22" fmla="*/ 18786 h 6858000"/>
              <a:gd name="connsiteX23" fmla="*/ 6475267 w 6776647"/>
              <a:gd name="connsiteY23" fmla="*/ 264840 h 6858000"/>
              <a:gd name="connsiteX24" fmla="*/ 6498525 w 6776647"/>
              <a:gd name="connsiteY24" fmla="*/ 288097 h 6858000"/>
              <a:gd name="connsiteX25" fmla="*/ 6498525 w 6776647"/>
              <a:gd name="connsiteY25" fmla="*/ 1476151 h 6858000"/>
              <a:gd name="connsiteX26" fmla="*/ 2949108 w 6776647"/>
              <a:gd name="connsiteY26" fmla="*/ 5025568 h 6858000"/>
              <a:gd name="connsiteX27" fmla="*/ 1761054 w 6776647"/>
              <a:gd name="connsiteY27" fmla="*/ 5025568 h 6858000"/>
              <a:gd name="connsiteX28" fmla="*/ 1737797 w 6776647"/>
              <a:gd name="connsiteY28" fmla="*/ 5002311 h 6858000"/>
              <a:gd name="connsiteX29" fmla="*/ 1737797 w 6776647"/>
              <a:gd name="connsiteY29" fmla="*/ 3814257 h 6858000"/>
              <a:gd name="connsiteX30" fmla="*/ 5287213 w 6776647"/>
              <a:gd name="connsiteY30" fmla="*/ 264840 h 6858000"/>
              <a:gd name="connsiteX31" fmla="*/ 5881240 w 6776647"/>
              <a:gd name="connsiteY31" fmla="*/ 18786 h 6858000"/>
              <a:gd name="connsiteX32" fmla="*/ 3421136 w 6776647"/>
              <a:gd name="connsiteY32" fmla="*/ 0 h 6858000"/>
              <a:gd name="connsiteX33" fmla="*/ 5065590 w 6776647"/>
              <a:gd name="connsiteY33" fmla="*/ 0 h 6858000"/>
              <a:gd name="connsiteX34" fmla="*/ 5058235 w 6776647"/>
              <a:gd name="connsiteY34" fmla="*/ 13976 h 6858000"/>
              <a:gd name="connsiteX35" fmla="*/ 4984132 w 6776647"/>
              <a:gd name="connsiteY35" fmla="*/ 104695 h 6858000"/>
              <a:gd name="connsiteX36" fmla="*/ 1478980 w 6776647"/>
              <a:gd name="connsiteY36" fmla="*/ 3609848 h 6858000"/>
              <a:gd name="connsiteX37" fmla="*/ 661145 w 6776647"/>
              <a:gd name="connsiteY37" fmla="*/ 3609848 h 6858000"/>
              <a:gd name="connsiteX38" fmla="*/ 645135 w 6776647"/>
              <a:gd name="connsiteY38" fmla="*/ 3593837 h 6858000"/>
              <a:gd name="connsiteX39" fmla="*/ 645135 w 6776647"/>
              <a:gd name="connsiteY39" fmla="*/ 2776002 h 6858000"/>
              <a:gd name="connsiteX40" fmla="*/ 1313944 w 6776647"/>
              <a:gd name="connsiteY40" fmla="*/ 0 h 6858000"/>
              <a:gd name="connsiteX41" fmla="*/ 2570790 w 6776647"/>
              <a:gd name="connsiteY41" fmla="*/ 0 h 6858000"/>
              <a:gd name="connsiteX42" fmla="*/ 2582282 w 6776647"/>
              <a:gd name="connsiteY42" fmla="*/ 38778 h 6858000"/>
              <a:gd name="connsiteX43" fmla="*/ 2423489 w 6776647"/>
              <a:gd name="connsiteY43" fmla="*/ 558147 h 6858000"/>
              <a:gd name="connsiteX44" fmla="*/ 1003226 w 6776647"/>
              <a:gd name="connsiteY44" fmla="*/ 1978410 h 6858000"/>
              <a:gd name="connsiteX45" fmla="*/ 185390 w 6776647"/>
              <a:gd name="connsiteY45" fmla="*/ 1978410 h 6858000"/>
              <a:gd name="connsiteX46" fmla="*/ 169380 w 6776647"/>
              <a:gd name="connsiteY46" fmla="*/ 1962401 h 6858000"/>
              <a:gd name="connsiteX47" fmla="*/ 169380 w 6776647"/>
              <a:gd name="connsiteY47" fmla="*/ 114456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</a:cxnLst>
            <a:rect l="l" t="t" r="r" b="b"/>
            <a:pathLst>
              <a:path w="6776647" h="6858000">
                <a:moveTo>
                  <a:pt x="3656412" y="5054965"/>
                </a:moveTo>
                <a:cubicBezTo>
                  <a:pt x="3822019" y="5054965"/>
                  <a:pt x="3987625" y="5118142"/>
                  <a:pt x="4113979" y="5244495"/>
                </a:cubicBezTo>
                <a:lnTo>
                  <a:pt x="4131893" y="5262409"/>
                </a:lnTo>
                <a:cubicBezTo>
                  <a:pt x="4384601" y="5515117"/>
                  <a:pt x="4384601" y="5924838"/>
                  <a:pt x="4131892" y="6177545"/>
                </a:cubicBezTo>
                <a:lnTo>
                  <a:pt x="4043288" y="6266149"/>
                </a:lnTo>
                <a:cubicBezTo>
                  <a:pt x="3790582" y="6518855"/>
                  <a:pt x="3380861" y="6518855"/>
                  <a:pt x="3128155" y="6266149"/>
                </a:cubicBezTo>
                <a:lnTo>
                  <a:pt x="3110241" y="6248235"/>
                </a:lnTo>
                <a:cubicBezTo>
                  <a:pt x="2857533" y="5995527"/>
                  <a:pt x="2857533" y="5585807"/>
                  <a:pt x="3110240" y="5333099"/>
                </a:cubicBezTo>
                <a:lnTo>
                  <a:pt x="3198844" y="5244495"/>
                </a:lnTo>
                <a:cubicBezTo>
                  <a:pt x="3325198" y="5118143"/>
                  <a:pt x="3490804" y="5054965"/>
                  <a:pt x="3656412" y="5054965"/>
                </a:cubicBezTo>
                <a:close/>
                <a:moveTo>
                  <a:pt x="6776647" y="4307086"/>
                </a:moveTo>
                <a:lnTo>
                  <a:pt x="6776647" y="5306043"/>
                </a:lnTo>
                <a:lnTo>
                  <a:pt x="5224689" y="6858000"/>
                </a:lnTo>
                <a:lnTo>
                  <a:pt x="4225733" y="6858000"/>
                </a:lnTo>
                <a:close/>
                <a:moveTo>
                  <a:pt x="6776647" y="1775039"/>
                </a:moveTo>
                <a:lnTo>
                  <a:pt x="6776647" y="3615452"/>
                </a:lnTo>
                <a:lnTo>
                  <a:pt x="5493702" y="4898396"/>
                </a:lnTo>
                <a:cubicBezTo>
                  <a:pt x="5240995" y="5151104"/>
                  <a:pt x="4831276" y="5151103"/>
                  <a:pt x="4578567" y="4898396"/>
                </a:cubicBezTo>
                <a:lnTo>
                  <a:pt x="4560653" y="4880482"/>
                </a:lnTo>
                <a:cubicBezTo>
                  <a:pt x="4307946" y="4627775"/>
                  <a:pt x="4307946" y="4218054"/>
                  <a:pt x="4560653" y="3965347"/>
                </a:cubicBezTo>
                <a:lnTo>
                  <a:pt x="6660166" y="1865835"/>
                </a:lnTo>
                <a:cubicBezTo>
                  <a:pt x="6691755" y="1834247"/>
                  <a:pt x="6725796" y="1806607"/>
                  <a:pt x="6761678" y="1782916"/>
                </a:cubicBezTo>
                <a:close/>
                <a:moveTo>
                  <a:pt x="5881240" y="18786"/>
                </a:moveTo>
                <a:cubicBezTo>
                  <a:pt x="6096236" y="18786"/>
                  <a:pt x="6311231" y="100804"/>
                  <a:pt x="6475267" y="264840"/>
                </a:cubicBezTo>
                <a:lnTo>
                  <a:pt x="6498525" y="288097"/>
                </a:lnTo>
                <a:cubicBezTo>
                  <a:pt x="6826598" y="616169"/>
                  <a:pt x="6826598" y="1148079"/>
                  <a:pt x="6498525" y="1476151"/>
                </a:cubicBezTo>
                <a:lnTo>
                  <a:pt x="2949108" y="5025568"/>
                </a:lnTo>
                <a:cubicBezTo>
                  <a:pt x="2621036" y="5353640"/>
                  <a:pt x="2089127" y="5353640"/>
                  <a:pt x="1761054" y="5025568"/>
                </a:cubicBezTo>
                <a:lnTo>
                  <a:pt x="1737797" y="5002311"/>
                </a:lnTo>
                <a:cubicBezTo>
                  <a:pt x="1409725" y="4674239"/>
                  <a:pt x="1409725" y="4142329"/>
                  <a:pt x="1737797" y="3814257"/>
                </a:cubicBezTo>
                <a:lnTo>
                  <a:pt x="5287213" y="264840"/>
                </a:lnTo>
                <a:cubicBezTo>
                  <a:pt x="5451251" y="100804"/>
                  <a:pt x="5666245" y="18785"/>
                  <a:pt x="5881240" y="18786"/>
                </a:cubicBezTo>
                <a:close/>
                <a:moveTo>
                  <a:pt x="3421136" y="0"/>
                </a:moveTo>
                <a:lnTo>
                  <a:pt x="5065590" y="0"/>
                </a:lnTo>
                <a:lnTo>
                  <a:pt x="5058235" y="13976"/>
                </a:lnTo>
                <a:cubicBezTo>
                  <a:pt x="5037063" y="46043"/>
                  <a:pt x="5012362" y="76465"/>
                  <a:pt x="4984132" y="104695"/>
                </a:cubicBezTo>
                <a:lnTo>
                  <a:pt x="1478980" y="3609848"/>
                </a:lnTo>
                <a:cubicBezTo>
                  <a:pt x="1253141" y="3835687"/>
                  <a:pt x="886985" y="3835687"/>
                  <a:pt x="661145" y="3609848"/>
                </a:cubicBezTo>
                <a:lnTo>
                  <a:pt x="645135" y="3593837"/>
                </a:lnTo>
                <a:cubicBezTo>
                  <a:pt x="419295" y="3367998"/>
                  <a:pt x="419295" y="3001841"/>
                  <a:pt x="645135" y="2776002"/>
                </a:cubicBezTo>
                <a:close/>
                <a:moveTo>
                  <a:pt x="1313944" y="0"/>
                </a:moveTo>
                <a:lnTo>
                  <a:pt x="2570790" y="0"/>
                </a:lnTo>
                <a:lnTo>
                  <a:pt x="2582282" y="38778"/>
                </a:lnTo>
                <a:cubicBezTo>
                  <a:pt x="2617570" y="221036"/>
                  <a:pt x="2564639" y="416997"/>
                  <a:pt x="2423489" y="558147"/>
                </a:cubicBezTo>
                <a:lnTo>
                  <a:pt x="1003226" y="1978410"/>
                </a:lnTo>
                <a:cubicBezTo>
                  <a:pt x="777387" y="2204250"/>
                  <a:pt x="411230" y="2204250"/>
                  <a:pt x="185390" y="1978410"/>
                </a:cubicBezTo>
                <a:lnTo>
                  <a:pt x="169380" y="1962401"/>
                </a:lnTo>
                <a:cubicBezTo>
                  <a:pt x="-56460" y="1736561"/>
                  <a:pt x="-56460" y="1370404"/>
                  <a:pt x="169380" y="1144565"/>
                </a:cubicBezTo>
                <a:close/>
              </a:path>
            </a:pathLst>
          </a:custGeom>
          <a:effectLst>
            <a:innerShdw blurRad="63500" dist="50800" dir="16200000">
              <a:prstClr val="black">
                <a:alpha val="50000"/>
              </a:prstClr>
            </a:innerShdw>
          </a:effectLst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8FF4ACBB-DFAE-C2AC-ABE1-4569466D96F7}"/>
              </a:ext>
            </a:extLst>
          </p:cNvPr>
          <p:cNvSpPr txBox="1"/>
          <p:nvPr/>
        </p:nvSpPr>
        <p:spPr>
          <a:xfrm>
            <a:off x="-943651" y="133620"/>
            <a:ext cx="677664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rgbClr val="D65D26"/>
                </a:solidFill>
                <a:latin typeface="Inter" panose="02000503000000020004" pitchFamily="2" charset="0"/>
                <a:ea typeface="Inter" panose="02000503000000020004" pitchFamily="2" charset="0"/>
              </a:rPr>
              <a:t>Part 4: </a:t>
            </a:r>
            <a:r>
              <a:rPr lang="en-US" sz="3600" dirty="0">
                <a:solidFill>
                  <a:srgbClr val="EDEDED"/>
                </a:solidFill>
                <a:latin typeface="Inter" panose="02000503000000020004" pitchFamily="2" charset="0"/>
                <a:ea typeface="Inter" panose="02000503000000020004" pitchFamily="2" charset="0"/>
              </a:rPr>
              <a:t>Demonstration:</a:t>
            </a:r>
          </a:p>
          <a:p>
            <a:pPr algn="ctr"/>
            <a:r>
              <a:rPr lang="en-US" sz="3600" dirty="0">
                <a:solidFill>
                  <a:srgbClr val="EDEDED"/>
                </a:solidFill>
                <a:latin typeface="Inter" panose="02000503000000020004" pitchFamily="2" charset="0"/>
                <a:ea typeface="Inter" panose="02000503000000020004" pitchFamily="2" charset="0"/>
              </a:rPr>
              <a:t>optimization through simulation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F3FCFD1-A771-8319-EC88-393A5DA2D683}"/>
              </a:ext>
            </a:extLst>
          </p:cNvPr>
          <p:cNvSpPr txBox="1"/>
          <p:nvPr/>
        </p:nvSpPr>
        <p:spPr>
          <a:xfrm>
            <a:off x="314122" y="2518389"/>
            <a:ext cx="541366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D65D26"/>
                </a:solidFill>
                <a:latin typeface="Montserrat" pitchFamily="2" charset="0"/>
                <a:ea typeface="Inter" panose="02000503000000020004" pitchFamily="2" charset="0"/>
              </a:rPr>
              <a:t>4.1</a:t>
            </a:r>
            <a:r>
              <a:rPr lang="en-US" sz="2000" b="1" dirty="0">
                <a:solidFill>
                  <a:srgbClr val="EDEDED"/>
                </a:solidFill>
                <a:latin typeface="Montserrat" pitchFamily="2" charset="0"/>
                <a:ea typeface="Inter" panose="02000503000000020004" pitchFamily="2" charset="0"/>
              </a:rPr>
              <a:t> What Is Being Optimized (Formally)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BA5CD85-3974-9953-DBAD-C15A215869CE}"/>
              </a:ext>
            </a:extLst>
          </p:cNvPr>
          <p:cNvSpPr txBox="1"/>
          <p:nvPr/>
        </p:nvSpPr>
        <p:spPr>
          <a:xfrm>
            <a:off x="279595" y="3518164"/>
            <a:ext cx="460895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EDEDED"/>
                </a:solidFill>
                <a:latin typeface="Montserrat" pitchFamily="2" charset="0"/>
              </a:rPr>
              <a:t>Decision vector = signal timing plan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EDEDED"/>
                </a:solidFill>
                <a:latin typeface="Montserrat" pitchFamily="2" charset="0"/>
              </a:rPr>
              <a:t>Fixed arrival processes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EDEDED"/>
                </a:solidFill>
                <a:latin typeface="Montserrat" pitchFamily="2" charset="0"/>
              </a:rPr>
              <a:t>Simulator = black-box evaluator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CEB5D2F-49FA-CD0A-0E2B-A11A66722A9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595" y="4970054"/>
            <a:ext cx="1690916" cy="1754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15313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20000">
              <a:schemeClr val="bg1"/>
            </a:gs>
            <a:gs pos="78000">
              <a:schemeClr val="tx1">
                <a:lumMod val="95000"/>
                <a:lumOff val="5000"/>
              </a:schemeClr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E0FA90-1AD0-67DC-7A87-188E5BBBD3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>
            <a:extLst>
              <a:ext uri="{FF2B5EF4-FFF2-40B4-BE49-F238E27FC236}">
                <a16:creationId xmlns:a16="http://schemas.microsoft.com/office/drawing/2014/main" id="{9593203F-0B4F-885D-B4CB-D41BAC6D99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417"/>
          <a:stretch>
            <a:fillRect/>
          </a:stretch>
        </p:blipFill>
        <p:spPr>
          <a:xfrm>
            <a:off x="4559473" y="-866155"/>
            <a:ext cx="7632527" cy="7724155"/>
          </a:xfrm>
          <a:custGeom>
            <a:avLst/>
            <a:gdLst>
              <a:gd name="connsiteX0" fmla="*/ 3656412 w 6776647"/>
              <a:gd name="connsiteY0" fmla="*/ 5054965 h 6858000"/>
              <a:gd name="connsiteX1" fmla="*/ 4113979 w 6776647"/>
              <a:gd name="connsiteY1" fmla="*/ 5244495 h 6858000"/>
              <a:gd name="connsiteX2" fmla="*/ 4131893 w 6776647"/>
              <a:gd name="connsiteY2" fmla="*/ 5262409 h 6858000"/>
              <a:gd name="connsiteX3" fmla="*/ 4131892 w 6776647"/>
              <a:gd name="connsiteY3" fmla="*/ 6177545 h 6858000"/>
              <a:gd name="connsiteX4" fmla="*/ 4043288 w 6776647"/>
              <a:gd name="connsiteY4" fmla="*/ 6266149 h 6858000"/>
              <a:gd name="connsiteX5" fmla="*/ 3128155 w 6776647"/>
              <a:gd name="connsiteY5" fmla="*/ 6266149 h 6858000"/>
              <a:gd name="connsiteX6" fmla="*/ 3110241 w 6776647"/>
              <a:gd name="connsiteY6" fmla="*/ 6248235 h 6858000"/>
              <a:gd name="connsiteX7" fmla="*/ 3110240 w 6776647"/>
              <a:gd name="connsiteY7" fmla="*/ 5333099 h 6858000"/>
              <a:gd name="connsiteX8" fmla="*/ 3198844 w 6776647"/>
              <a:gd name="connsiteY8" fmla="*/ 5244495 h 6858000"/>
              <a:gd name="connsiteX9" fmla="*/ 3656412 w 6776647"/>
              <a:gd name="connsiteY9" fmla="*/ 5054965 h 6858000"/>
              <a:gd name="connsiteX10" fmla="*/ 6776647 w 6776647"/>
              <a:gd name="connsiteY10" fmla="*/ 4307086 h 6858000"/>
              <a:gd name="connsiteX11" fmla="*/ 6776647 w 6776647"/>
              <a:gd name="connsiteY11" fmla="*/ 5306043 h 6858000"/>
              <a:gd name="connsiteX12" fmla="*/ 5224689 w 6776647"/>
              <a:gd name="connsiteY12" fmla="*/ 6858000 h 6858000"/>
              <a:gd name="connsiteX13" fmla="*/ 4225733 w 6776647"/>
              <a:gd name="connsiteY13" fmla="*/ 6858000 h 6858000"/>
              <a:gd name="connsiteX14" fmla="*/ 6776647 w 6776647"/>
              <a:gd name="connsiteY14" fmla="*/ 1775039 h 6858000"/>
              <a:gd name="connsiteX15" fmla="*/ 6776647 w 6776647"/>
              <a:gd name="connsiteY15" fmla="*/ 3615452 h 6858000"/>
              <a:gd name="connsiteX16" fmla="*/ 5493702 w 6776647"/>
              <a:gd name="connsiteY16" fmla="*/ 4898396 h 6858000"/>
              <a:gd name="connsiteX17" fmla="*/ 4578567 w 6776647"/>
              <a:gd name="connsiteY17" fmla="*/ 4898396 h 6858000"/>
              <a:gd name="connsiteX18" fmla="*/ 4560653 w 6776647"/>
              <a:gd name="connsiteY18" fmla="*/ 4880482 h 6858000"/>
              <a:gd name="connsiteX19" fmla="*/ 4560653 w 6776647"/>
              <a:gd name="connsiteY19" fmla="*/ 3965347 h 6858000"/>
              <a:gd name="connsiteX20" fmla="*/ 6660166 w 6776647"/>
              <a:gd name="connsiteY20" fmla="*/ 1865835 h 6858000"/>
              <a:gd name="connsiteX21" fmla="*/ 6761678 w 6776647"/>
              <a:gd name="connsiteY21" fmla="*/ 1782916 h 6858000"/>
              <a:gd name="connsiteX22" fmla="*/ 5881240 w 6776647"/>
              <a:gd name="connsiteY22" fmla="*/ 18786 h 6858000"/>
              <a:gd name="connsiteX23" fmla="*/ 6475267 w 6776647"/>
              <a:gd name="connsiteY23" fmla="*/ 264840 h 6858000"/>
              <a:gd name="connsiteX24" fmla="*/ 6498525 w 6776647"/>
              <a:gd name="connsiteY24" fmla="*/ 288097 h 6858000"/>
              <a:gd name="connsiteX25" fmla="*/ 6498525 w 6776647"/>
              <a:gd name="connsiteY25" fmla="*/ 1476151 h 6858000"/>
              <a:gd name="connsiteX26" fmla="*/ 2949108 w 6776647"/>
              <a:gd name="connsiteY26" fmla="*/ 5025568 h 6858000"/>
              <a:gd name="connsiteX27" fmla="*/ 1761054 w 6776647"/>
              <a:gd name="connsiteY27" fmla="*/ 5025568 h 6858000"/>
              <a:gd name="connsiteX28" fmla="*/ 1737797 w 6776647"/>
              <a:gd name="connsiteY28" fmla="*/ 5002311 h 6858000"/>
              <a:gd name="connsiteX29" fmla="*/ 1737797 w 6776647"/>
              <a:gd name="connsiteY29" fmla="*/ 3814257 h 6858000"/>
              <a:gd name="connsiteX30" fmla="*/ 5287213 w 6776647"/>
              <a:gd name="connsiteY30" fmla="*/ 264840 h 6858000"/>
              <a:gd name="connsiteX31" fmla="*/ 5881240 w 6776647"/>
              <a:gd name="connsiteY31" fmla="*/ 18786 h 6858000"/>
              <a:gd name="connsiteX32" fmla="*/ 3421136 w 6776647"/>
              <a:gd name="connsiteY32" fmla="*/ 0 h 6858000"/>
              <a:gd name="connsiteX33" fmla="*/ 5065590 w 6776647"/>
              <a:gd name="connsiteY33" fmla="*/ 0 h 6858000"/>
              <a:gd name="connsiteX34" fmla="*/ 5058235 w 6776647"/>
              <a:gd name="connsiteY34" fmla="*/ 13976 h 6858000"/>
              <a:gd name="connsiteX35" fmla="*/ 4984132 w 6776647"/>
              <a:gd name="connsiteY35" fmla="*/ 104695 h 6858000"/>
              <a:gd name="connsiteX36" fmla="*/ 1478980 w 6776647"/>
              <a:gd name="connsiteY36" fmla="*/ 3609848 h 6858000"/>
              <a:gd name="connsiteX37" fmla="*/ 661145 w 6776647"/>
              <a:gd name="connsiteY37" fmla="*/ 3609848 h 6858000"/>
              <a:gd name="connsiteX38" fmla="*/ 645135 w 6776647"/>
              <a:gd name="connsiteY38" fmla="*/ 3593837 h 6858000"/>
              <a:gd name="connsiteX39" fmla="*/ 645135 w 6776647"/>
              <a:gd name="connsiteY39" fmla="*/ 2776002 h 6858000"/>
              <a:gd name="connsiteX40" fmla="*/ 1313944 w 6776647"/>
              <a:gd name="connsiteY40" fmla="*/ 0 h 6858000"/>
              <a:gd name="connsiteX41" fmla="*/ 2570790 w 6776647"/>
              <a:gd name="connsiteY41" fmla="*/ 0 h 6858000"/>
              <a:gd name="connsiteX42" fmla="*/ 2582282 w 6776647"/>
              <a:gd name="connsiteY42" fmla="*/ 38778 h 6858000"/>
              <a:gd name="connsiteX43" fmla="*/ 2423489 w 6776647"/>
              <a:gd name="connsiteY43" fmla="*/ 558147 h 6858000"/>
              <a:gd name="connsiteX44" fmla="*/ 1003226 w 6776647"/>
              <a:gd name="connsiteY44" fmla="*/ 1978410 h 6858000"/>
              <a:gd name="connsiteX45" fmla="*/ 185390 w 6776647"/>
              <a:gd name="connsiteY45" fmla="*/ 1978410 h 6858000"/>
              <a:gd name="connsiteX46" fmla="*/ 169380 w 6776647"/>
              <a:gd name="connsiteY46" fmla="*/ 1962401 h 6858000"/>
              <a:gd name="connsiteX47" fmla="*/ 169380 w 6776647"/>
              <a:gd name="connsiteY47" fmla="*/ 114456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</a:cxnLst>
            <a:rect l="l" t="t" r="r" b="b"/>
            <a:pathLst>
              <a:path w="6776647" h="6858000">
                <a:moveTo>
                  <a:pt x="3656412" y="5054965"/>
                </a:moveTo>
                <a:cubicBezTo>
                  <a:pt x="3822019" y="5054965"/>
                  <a:pt x="3987625" y="5118142"/>
                  <a:pt x="4113979" y="5244495"/>
                </a:cubicBezTo>
                <a:lnTo>
                  <a:pt x="4131893" y="5262409"/>
                </a:lnTo>
                <a:cubicBezTo>
                  <a:pt x="4384601" y="5515117"/>
                  <a:pt x="4384601" y="5924838"/>
                  <a:pt x="4131892" y="6177545"/>
                </a:cubicBezTo>
                <a:lnTo>
                  <a:pt x="4043288" y="6266149"/>
                </a:lnTo>
                <a:cubicBezTo>
                  <a:pt x="3790582" y="6518855"/>
                  <a:pt x="3380861" y="6518855"/>
                  <a:pt x="3128155" y="6266149"/>
                </a:cubicBezTo>
                <a:lnTo>
                  <a:pt x="3110241" y="6248235"/>
                </a:lnTo>
                <a:cubicBezTo>
                  <a:pt x="2857533" y="5995527"/>
                  <a:pt x="2857533" y="5585807"/>
                  <a:pt x="3110240" y="5333099"/>
                </a:cubicBezTo>
                <a:lnTo>
                  <a:pt x="3198844" y="5244495"/>
                </a:lnTo>
                <a:cubicBezTo>
                  <a:pt x="3325198" y="5118143"/>
                  <a:pt x="3490804" y="5054965"/>
                  <a:pt x="3656412" y="5054965"/>
                </a:cubicBezTo>
                <a:close/>
                <a:moveTo>
                  <a:pt x="6776647" y="4307086"/>
                </a:moveTo>
                <a:lnTo>
                  <a:pt x="6776647" y="5306043"/>
                </a:lnTo>
                <a:lnTo>
                  <a:pt x="5224689" y="6858000"/>
                </a:lnTo>
                <a:lnTo>
                  <a:pt x="4225733" y="6858000"/>
                </a:lnTo>
                <a:close/>
                <a:moveTo>
                  <a:pt x="6776647" y="1775039"/>
                </a:moveTo>
                <a:lnTo>
                  <a:pt x="6776647" y="3615452"/>
                </a:lnTo>
                <a:lnTo>
                  <a:pt x="5493702" y="4898396"/>
                </a:lnTo>
                <a:cubicBezTo>
                  <a:pt x="5240995" y="5151104"/>
                  <a:pt x="4831276" y="5151103"/>
                  <a:pt x="4578567" y="4898396"/>
                </a:cubicBezTo>
                <a:lnTo>
                  <a:pt x="4560653" y="4880482"/>
                </a:lnTo>
                <a:cubicBezTo>
                  <a:pt x="4307946" y="4627775"/>
                  <a:pt x="4307946" y="4218054"/>
                  <a:pt x="4560653" y="3965347"/>
                </a:cubicBezTo>
                <a:lnTo>
                  <a:pt x="6660166" y="1865835"/>
                </a:lnTo>
                <a:cubicBezTo>
                  <a:pt x="6691755" y="1834247"/>
                  <a:pt x="6725796" y="1806607"/>
                  <a:pt x="6761678" y="1782916"/>
                </a:cubicBezTo>
                <a:close/>
                <a:moveTo>
                  <a:pt x="5881240" y="18786"/>
                </a:moveTo>
                <a:cubicBezTo>
                  <a:pt x="6096236" y="18786"/>
                  <a:pt x="6311231" y="100804"/>
                  <a:pt x="6475267" y="264840"/>
                </a:cubicBezTo>
                <a:lnTo>
                  <a:pt x="6498525" y="288097"/>
                </a:lnTo>
                <a:cubicBezTo>
                  <a:pt x="6826598" y="616169"/>
                  <a:pt x="6826598" y="1148079"/>
                  <a:pt x="6498525" y="1476151"/>
                </a:cubicBezTo>
                <a:lnTo>
                  <a:pt x="2949108" y="5025568"/>
                </a:lnTo>
                <a:cubicBezTo>
                  <a:pt x="2621036" y="5353640"/>
                  <a:pt x="2089127" y="5353640"/>
                  <a:pt x="1761054" y="5025568"/>
                </a:cubicBezTo>
                <a:lnTo>
                  <a:pt x="1737797" y="5002311"/>
                </a:lnTo>
                <a:cubicBezTo>
                  <a:pt x="1409725" y="4674239"/>
                  <a:pt x="1409725" y="4142329"/>
                  <a:pt x="1737797" y="3814257"/>
                </a:cubicBezTo>
                <a:lnTo>
                  <a:pt x="5287213" y="264840"/>
                </a:lnTo>
                <a:cubicBezTo>
                  <a:pt x="5451251" y="100804"/>
                  <a:pt x="5666245" y="18785"/>
                  <a:pt x="5881240" y="18786"/>
                </a:cubicBezTo>
                <a:close/>
                <a:moveTo>
                  <a:pt x="3421136" y="0"/>
                </a:moveTo>
                <a:lnTo>
                  <a:pt x="5065590" y="0"/>
                </a:lnTo>
                <a:lnTo>
                  <a:pt x="5058235" y="13976"/>
                </a:lnTo>
                <a:cubicBezTo>
                  <a:pt x="5037063" y="46043"/>
                  <a:pt x="5012362" y="76465"/>
                  <a:pt x="4984132" y="104695"/>
                </a:cubicBezTo>
                <a:lnTo>
                  <a:pt x="1478980" y="3609848"/>
                </a:lnTo>
                <a:cubicBezTo>
                  <a:pt x="1253141" y="3835687"/>
                  <a:pt x="886985" y="3835687"/>
                  <a:pt x="661145" y="3609848"/>
                </a:cubicBezTo>
                <a:lnTo>
                  <a:pt x="645135" y="3593837"/>
                </a:lnTo>
                <a:cubicBezTo>
                  <a:pt x="419295" y="3367998"/>
                  <a:pt x="419295" y="3001841"/>
                  <a:pt x="645135" y="2776002"/>
                </a:cubicBezTo>
                <a:close/>
                <a:moveTo>
                  <a:pt x="1313944" y="0"/>
                </a:moveTo>
                <a:lnTo>
                  <a:pt x="2570790" y="0"/>
                </a:lnTo>
                <a:lnTo>
                  <a:pt x="2582282" y="38778"/>
                </a:lnTo>
                <a:cubicBezTo>
                  <a:pt x="2617570" y="221036"/>
                  <a:pt x="2564639" y="416997"/>
                  <a:pt x="2423489" y="558147"/>
                </a:cubicBezTo>
                <a:lnTo>
                  <a:pt x="1003226" y="1978410"/>
                </a:lnTo>
                <a:cubicBezTo>
                  <a:pt x="777387" y="2204250"/>
                  <a:pt x="411230" y="2204250"/>
                  <a:pt x="185390" y="1978410"/>
                </a:cubicBezTo>
                <a:lnTo>
                  <a:pt x="169380" y="1962401"/>
                </a:lnTo>
                <a:cubicBezTo>
                  <a:pt x="-56460" y="1736561"/>
                  <a:pt x="-56460" y="1370404"/>
                  <a:pt x="169380" y="1144565"/>
                </a:cubicBezTo>
                <a:close/>
              </a:path>
            </a:pathLst>
          </a:custGeom>
          <a:effectLst>
            <a:innerShdw blurRad="63500" dist="50800" dir="16200000">
              <a:prstClr val="black">
                <a:alpha val="50000"/>
              </a:prstClr>
            </a:innerShdw>
          </a:effectLst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B50E22A4-73C0-3BBB-F4A0-AFD65C7200C8}"/>
              </a:ext>
            </a:extLst>
          </p:cNvPr>
          <p:cNvSpPr txBox="1"/>
          <p:nvPr/>
        </p:nvSpPr>
        <p:spPr>
          <a:xfrm>
            <a:off x="-943651" y="133620"/>
            <a:ext cx="677664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rgbClr val="D65D26"/>
                </a:solidFill>
                <a:latin typeface="Inter" panose="02000503000000020004" pitchFamily="2" charset="0"/>
                <a:ea typeface="Inter" panose="02000503000000020004" pitchFamily="2" charset="0"/>
              </a:rPr>
              <a:t>Part 4: </a:t>
            </a:r>
            <a:r>
              <a:rPr lang="en-US" sz="3600" dirty="0">
                <a:solidFill>
                  <a:srgbClr val="EDEDED"/>
                </a:solidFill>
                <a:latin typeface="Inter" panose="02000503000000020004" pitchFamily="2" charset="0"/>
                <a:ea typeface="Inter" panose="02000503000000020004" pitchFamily="2" charset="0"/>
              </a:rPr>
              <a:t>Demonstration:</a:t>
            </a:r>
          </a:p>
          <a:p>
            <a:pPr algn="ctr"/>
            <a:r>
              <a:rPr lang="en-US" sz="3600" dirty="0">
                <a:solidFill>
                  <a:srgbClr val="EDEDED"/>
                </a:solidFill>
                <a:latin typeface="Inter" panose="02000503000000020004" pitchFamily="2" charset="0"/>
                <a:ea typeface="Inter" panose="02000503000000020004" pitchFamily="2" charset="0"/>
              </a:rPr>
              <a:t>optimization through simulation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2907D18-0168-8E40-4C0C-583BBFBA1A9E}"/>
              </a:ext>
            </a:extLst>
          </p:cNvPr>
          <p:cNvSpPr txBox="1"/>
          <p:nvPr/>
        </p:nvSpPr>
        <p:spPr>
          <a:xfrm>
            <a:off x="314122" y="2518389"/>
            <a:ext cx="49151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D65D26"/>
                </a:solidFill>
                <a:latin typeface="Montserrat" pitchFamily="2" charset="0"/>
                <a:ea typeface="Inter" panose="02000503000000020004" pitchFamily="2" charset="0"/>
              </a:rPr>
              <a:t>4.2</a:t>
            </a:r>
            <a:r>
              <a:rPr lang="en-US" sz="2000" b="1" dirty="0">
                <a:solidFill>
                  <a:srgbClr val="EDEDED"/>
                </a:solidFill>
                <a:latin typeface="Montserrat" pitchFamily="2" charset="0"/>
                <a:ea typeface="Inter" panose="02000503000000020004" pitchFamily="2" charset="0"/>
              </a:rPr>
              <a:t> How Performance Is Estimated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4BCBC41-30E3-242D-FF3E-2B067B86DACC}"/>
              </a:ext>
            </a:extLst>
          </p:cNvPr>
          <p:cNvSpPr txBox="1"/>
          <p:nvPr/>
        </p:nvSpPr>
        <p:spPr>
          <a:xfrm>
            <a:off x="279595" y="3518164"/>
            <a:ext cx="358303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EDEDED"/>
                </a:solidFill>
                <a:latin typeface="Montserrat" pitchFamily="2" charset="0"/>
              </a:rPr>
              <a:t>Stochastic simulation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EDEDED"/>
                </a:solidFill>
                <a:latin typeface="Montserrat" pitchFamily="2" charset="0"/>
              </a:rPr>
              <a:t>Multiple replications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EDEDED"/>
                </a:solidFill>
                <a:latin typeface="Montserrat" pitchFamily="2" charset="0"/>
              </a:rPr>
              <a:t>Sample mean as estimator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9DC2F6C-A486-D1E4-9213-6D0238037AA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595" y="4970054"/>
            <a:ext cx="1690916" cy="1754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42879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20000">
              <a:schemeClr val="bg1"/>
            </a:gs>
            <a:gs pos="78000">
              <a:schemeClr val="tx1">
                <a:lumMod val="95000"/>
                <a:lumOff val="5000"/>
              </a:schemeClr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2C5FCC4-BB62-AA59-4C87-6FF0DE985E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>
            <a:extLst>
              <a:ext uri="{FF2B5EF4-FFF2-40B4-BE49-F238E27FC236}">
                <a16:creationId xmlns:a16="http://schemas.microsoft.com/office/drawing/2014/main" id="{4ACDD30F-835A-4A13-92A2-E54034C6D7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417"/>
          <a:stretch>
            <a:fillRect/>
          </a:stretch>
        </p:blipFill>
        <p:spPr>
          <a:xfrm>
            <a:off x="4559473" y="-866155"/>
            <a:ext cx="7632527" cy="7724155"/>
          </a:xfrm>
          <a:custGeom>
            <a:avLst/>
            <a:gdLst>
              <a:gd name="connsiteX0" fmla="*/ 3656412 w 6776647"/>
              <a:gd name="connsiteY0" fmla="*/ 5054965 h 6858000"/>
              <a:gd name="connsiteX1" fmla="*/ 4113979 w 6776647"/>
              <a:gd name="connsiteY1" fmla="*/ 5244495 h 6858000"/>
              <a:gd name="connsiteX2" fmla="*/ 4131893 w 6776647"/>
              <a:gd name="connsiteY2" fmla="*/ 5262409 h 6858000"/>
              <a:gd name="connsiteX3" fmla="*/ 4131892 w 6776647"/>
              <a:gd name="connsiteY3" fmla="*/ 6177545 h 6858000"/>
              <a:gd name="connsiteX4" fmla="*/ 4043288 w 6776647"/>
              <a:gd name="connsiteY4" fmla="*/ 6266149 h 6858000"/>
              <a:gd name="connsiteX5" fmla="*/ 3128155 w 6776647"/>
              <a:gd name="connsiteY5" fmla="*/ 6266149 h 6858000"/>
              <a:gd name="connsiteX6" fmla="*/ 3110241 w 6776647"/>
              <a:gd name="connsiteY6" fmla="*/ 6248235 h 6858000"/>
              <a:gd name="connsiteX7" fmla="*/ 3110240 w 6776647"/>
              <a:gd name="connsiteY7" fmla="*/ 5333099 h 6858000"/>
              <a:gd name="connsiteX8" fmla="*/ 3198844 w 6776647"/>
              <a:gd name="connsiteY8" fmla="*/ 5244495 h 6858000"/>
              <a:gd name="connsiteX9" fmla="*/ 3656412 w 6776647"/>
              <a:gd name="connsiteY9" fmla="*/ 5054965 h 6858000"/>
              <a:gd name="connsiteX10" fmla="*/ 6776647 w 6776647"/>
              <a:gd name="connsiteY10" fmla="*/ 4307086 h 6858000"/>
              <a:gd name="connsiteX11" fmla="*/ 6776647 w 6776647"/>
              <a:gd name="connsiteY11" fmla="*/ 5306043 h 6858000"/>
              <a:gd name="connsiteX12" fmla="*/ 5224689 w 6776647"/>
              <a:gd name="connsiteY12" fmla="*/ 6858000 h 6858000"/>
              <a:gd name="connsiteX13" fmla="*/ 4225733 w 6776647"/>
              <a:gd name="connsiteY13" fmla="*/ 6858000 h 6858000"/>
              <a:gd name="connsiteX14" fmla="*/ 6776647 w 6776647"/>
              <a:gd name="connsiteY14" fmla="*/ 1775039 h 6858000"/>
              <a:gd name="connsiteX15" fmla="*/ 6776647 w 6776647"/>
              <a:gd name="connsiteY15" fmla="*/ 3615452 h 6858000"/>
              <a:gd name="connsiteX16" fmla="*/ 5493702 w 6776647"/>
              <a:gd name="connsiteY16" fmla="*/ 4898396 h 6858000"/>
              <a:gd name="connsiteX17" fmla="*/ 4578567 w 6776647"/>
              <a:gd name="connsiteY17" fmla="*/ 4898396 h 6858000"/>
              <a:gd name="connsiteX18" fmla="*/ 4560653 w 6776647"/>
              <a:gd name="connsiteY18" fmla="*/ 4880482 h 6858000"/>
              <a:gd name="connsiteX19" fmla="*/ 4560653 w 6776647"/>
              <a:gd name="connsiteY19" fmla="*/ 3965347 h 6858000"/>
              <a:gd name="connsiteX20" fmla="*/ 6660166 w 6776647"/>
              <a:gd name="connsiteY20" fmla="*/ 1865835 h 6858000"/>
              <a:gd name="connsiteX21" fmla="*/ 6761678 w 6776647"/>
              <a:gd name="connsiteY21" fmla="*/ 1782916 h 6858000"/>
              <a:gd name="connsiteX22" fmla="*/ 5881240 w 6776647"/>
              <a:gd name="connsiteY22" fmla="*/ 18786 h 6858000"/>
              <a:gd name="connsiteX23" fmla="*/ 6475267 w 6776647"/>
              <a:gd name="connsiteY23" fmla="*/ 264840 h 6858000"/>
              <a:gd name="connsiteX24" fmla="*/ 6498525 w 6776647"/>
              <a:gd name="connsiteY24" fmla="*/ 288097 h 6858000"/>
              <a:gd name="connsiteX25" fmla="*/ 6498525 w 6776647"/>
              <a:gd name="connsiteY25" fmla="*/ 1476151 h 6858000"/>
              <a:gd name="connsiteX26" fmla="*/ 2949108 w 6776647"/>
              <a:gd name="connsiteY26" fmla="*/ 5025568 h 6858000"/>
              <a:gd name="connsiteX27" fmla="*/ 1761054 w 6776647"/>
              <a:gd name="connsiteY27" fmla="*/ 5025568 h 6858000"/>
              <a:gd name="connsiteX28" fmla="*/ 1737797 w 6776647"/>
              <a:gd name="connsiteY28" fmla="*/ 5002311 h 6858000"/>
              <a:gd name="connsiteX29" fmla="*/ 1737797 w 6776647"/>
              <a:gd name="connsiteY29" fmla="*/ 3814257 h 6858000"/>
              <a:gd name="connsiteX30" fmla="*/ 5287213 w 6776647"/>
              <a:gd name="connsiteY30" fmla="*/ 264840 h 6858000"/>
              <a:gd name="connsiteX31" fmla="*/ 5881240 w 6776647"/>
              <a:gd name="connsiteY31" fmla="*/ 18786 h 6858000"/>
              <a:gd name="connsiteX32" fmla="*/ 3421136 w 6776647"/>
              <a:gd name="connsiteY32" fmla="*/ 0 h 6858000"/>
              <a:gd name="connsiteX33" fmla="*/ 5065590 w 6776647"/>
              <a:gd name="connsiteY33" fmla="*/ 0 h 6858000"/>
              <a:gd name="connsiteX34" fmla="*/ 5058235 w 6776647"/>
              <a:gd name="connsiteY34" fmla="*/ 13976 h 6858000"/>
              <a:gd name="connsiteX35" fmla="*/ 4984132 w 6776647"/>
              <a:gd name="connsiteY35" fmla="*/ 104695 h 6858000"/>
              <a:gd name="connsiteX36" fmla="*/ 1478980 w 6776647"/>
              <a:gd name="connsiteY36" fmla="*/ 3609848 h 6858000"/>
              <a:gd name="connsiteX37" fmla="*/ 661145 w 6776647"/>
              <a:gd name="connsiteY37" fmla="*/ 3609848 h 6858000"/>
              <a:gd name="connsiteX38" fmla="*/ 645135 w 6776647"/>
              <a:gd name="connsiteY38" fmla="*/ 3593837 h 6858000"/>
              <a:gd name="connsiteX39" fmla="*/ 645135 w 6776647"/>
              <a:gd name="connsiteY39" fmla="*/ 2776002 h 6858000"/>
              <a:gd name="connsiteX40" fmla="*/ 1313944 w 6776647"/>
              <a:gd name="connsiteY40" fmla="*/ 0 h 6858000"/>
              <a:gd name="connsiteX41" fmla="*/ 2570790 w 6776647"/>
              <a:gd name="connsiteY41" fmla="*/ 0 h 6858000"/>
              <a:gd name="connsiteX42" fmla="*/ 2582282 w 6776647"/>
              <a:gd name="connsiteY42" fmla="*/ 38778 h 6858000"/>
              <a:gd name="connsiteX43" fmla="*/ 2423489 w 6776647"/>
              <a:gd name="connsiteY43" fmla="*/ 558147 h 6858000"/>
              <a:gd name="connsiteX44" fmla="*/ 1003226 w 6776647"/>
              <a:gd name="connsiteY44" fmla="*/ 1978410 h 6858000"/>
              <a:gd name="connsiteX45" fmla="*/ 185390 w 6776647"/>
              <a:gd name="connsiteY45" fmla="*/ 1978410 h 6858000"/>
              <a:gd name="connsiteX46" fmla="*/ 169380 w 6776647"/>
              <a:gd name="connsiteY46" fmla="*/ 1962401 h 6858000"/>
              <a:gd name="connsiteX47" fmla="*/ 169380 w 6776647"/>
              <a:gd name="connsiteY47" fmla="*/ 114456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</a:cxnLst>
            <a:rect l="l" t="t" r="r" b="b"/>
            <a:pathLst>
              <a:path w="6776647" h="6858000">
                <a:moveTo>
                  <a:pt x="3656412" y="5054965"/>
                </a:moveTo>
                <a:cubicBezTo>
                  <a:pt x="3822019" y="5054965"/>
                  <a:pt x="3987625" y="5118142"/>
                  <a:pt x="4113979" y="5244495"/>
                </a:cubicBezTo>
                <a:lnTo>
                  <a:pt x="4131893" y="5262409"/>
                </a:lnTo>
                <a:cubicBezTo>
                  <a:pt x="4384601" y="5515117"/>
                  <a:pt x="4384601" y="5924838"/>
                  <a:pt x="4131892" y="6177545"/>
                </a:cubicBezTo>
                <a:lnTo>
                  <a:pt x="4043288" y="6266149"/>
                </a:lnTo>
                <a:cubicBezTo>
                  <a:pt x="3790582" y="6518855"/>
                  <a:pt x="3380861" y="6518855"/>
                  <a:pt x="3128155" y="6266149"/>
                </a:cubicBezTo>
                <a:lnTo>
                  <a:pt x="3110241" y="6248235"/>
                </a:lnTo>
                <a:cubicBezTo>
                  <a:pt x="2857533" y="5995527"/>
                  <a:pt x="2857533" y="5585807"/>
                  <a:pt x="3110240" y="5333099"/>
                </a:cubicBezTo>
                <a:lnTo>
                  <a:pt x="3198844" y="5244495"/>
                </a:lnTo>
                <a:cubicBezTo>
                  <a:pt x="3325198" y="5118143"/>
                  <a:pt x="3490804" y="5054965"/>
                  <a:pt x="3656412" y="5054965"/>
                </a:cubicBezTo>
                <a:close/>
                <a:moveTo>
                  <a:pt x="6776647" y="4307086"/>
                </a:moveTo>
                <a:lnTo>
                  <a:pt x="6776647" y="5306043"/>
                </a:lnTo>
                <a:lnTo>
                  <a:pt x="5224689" y="6858000"/>
                </a:lnTo>
                <a:lnTo>
                  <a:pt x="4225733" y="6858000"/>
                </a:lnTo>
                <a:close/>
                <a:moveTo>
                  <a:pt x="6776647" y="1775039"/>
                </a:moveTo>
                <a:lnTo>
                  <a:pt x="6776647" y="3615452"/>
                </a:lnTo>
                <a:lnTo>
                  <a:pt x="5493702" y="4898396"/>
                </a:lnTo>
                <a:cubicBezTo>
                  <a:pt x="5240995" y="5151104"/>
                  <a:pt x="4831276" y="5151103"/>
                  <a:pt x="4578567" y="4898396"/>
                </a:cubicBezTo>
                <a:lnTo>
                  <a:pt x="4560653" y="4880482"/>
                </a:lnTo>
                <a:cubicBezTo>
                  <a:pt x="4307946" y="4627775"/>
                  <a:pt x="4307946" y="4218054"/>
                  <a:pt x="4560653" y="3965347"/>
                </a:cubicBezTo>
                <a:lnTo>
                  <a:pt x="6660166" y="1865835"/>
                </a:lnTo>
                <a:cubicBezTo>
                  <a:pt x="6691755" y="1834247"/>
                  <a:pt x="6725796" y="1806607"/>
                  <a:pt x="6761678" y="1782916"/>
                </a:cubicBezTo>
                <a:close/>
                <a:moveTo>
                  <a:pt x="5881240" y="18786"/>
                </a:moveTo>
                <a:cubicBezTo>
                  <a:pt x="6096236" y="18786"/>
                  <a:pt x="6311231" y="100804"/>
                  <a:pt x="6475267" y="264840"/>
                </a:cubicBezTo>
                <a:lnTo>
                  <a:pt x="6498525" y="288097"/>
                </a:lnTo>
                <a:cubicBezTo>
                  <a:pt x="6826598" y="616169"/>
                  <a:pt x="6826598" y="1148079"/>
                  <a:pt x="6498525" y="1476151"/>
                </a:cubicBezTo>
                <a:lnTo>
                  <a:pt x="2949108" y="5025568"/>
                </a:lnTo>
                <a:cubicBezTo>
                  <a:pt x="2621036" y="5353640"/>
                  <a:pt x="2089127" y="5353640"/>
                  <a:pt x="1761054" y="5025568"/>
                </a:cubicBezTo>
                <a:lnTo>
                  <a:pt x="1737797" y="5002311"/>
                </a:lnTo>
                <a:cubicBezTo>
                  <a:pt x="1409725" y="4674239"/>
                  <a:pt x="1409725" y="4142329"/>
                  <a:pt x="1737797" y="3814257"/>
                </a:cubicBezTo>
                <a:lnTo>
                  <a:pt x="5287213" y="264840"/>
                </a:lnTo>
                <a:cubicBezTo>
                  <a:pt x="5451251" y="100804"/>
                  <a:pt x="5666245" y="18785"/>
                  <a:pt x="5881240" y="18786"/>
                </a:cubicBezTo>
                <a:close/>
                <a:moveTo>
                  <a:pt x="3421136" y="0"/>
                </a:moveTo>
                <a:lnTo>
                  <a:pt x="5065590" y="0"/>
                </a:lnTo>
                <a:lnTo>
                  <a:pt x="5058235" y="13976"/>
                </a:lnTo>
                <a:cubicBezTo>
                  <a:pt x="5037063" y="46043"/>
                  <a:pt x="5012362" y="76465"/>
                  <a:pt x="4984132" y="104695"/>
                </a:cubicBezTo>
                <a:lnTo>
                  <a:pt x="1478980" y="3609848"/>
                </a:lnTo>
                <a:cubicBezTo>
                  <a:pt x="1253141" y="3835687"/>
                  <a:pt x="886985" y="3835687"/>
                  <a:pt x="661145" y="3609848"/>
                </a:cubicBezTo>
                <a:lnTo>
                  <a:pt x="645135" y="3593837"/>
                </a:lnTo>
                <a:cubicBezTo>
                  <a:pt x="419295" y="3367998"/>
                  <a:pt x="419295" y="3001841"/>
                  <a:pt x="645135" y="2776002"/>
                </a:cubicBezTo>
                <a:close/>
                <a:moveTo>
                  <a:pt x="1313944" y="0"/>
                </a:moveTo>
                <a:lnTo>
                  <a:pt x="2570790" y="0"/>
                </a:lnTo>
                <a:lnTo>
                  <a:pt x="2582282" y="38778"/>
                </a:lnTo>
                <a:cubicBezTo>
                  <a:pt x="2617570" y="221036"/>
                  <a:pt x="2564639" y="416997"/>
                  <a:pt x="2423489" y="558147"/>
                </a:cubicBezTo>
                <a:lnTo>
                  <a:pt x="1003226" y="1978410"/>
                </a:lnTo>
                <a:cubicBezTo>
                  <a:pt x="777387" y="2204250"/>
                  <a:pt x="411230" y="2204250"/>
                  <a:pt x="185390" y="1978410"/>
                </a:cubicBezTo>
                <a:lnTo>
                  <a:pt x="169380" y="1962401"/>
                </a:lnTo>
                <a:cubicBezTo>
                  <a:pt x="-56460" y="1736561"/>
                  <a:pt x="-56460" y="1370404"/>
                  <a:pt x="169380" y="1144565"/>
                </a:cubicBezTo>
                <a:close/>
              </a:path>
            </a:pathLst>
          </a:custGeom>
          <a:effectLst>
            <a:innerShdw blurRad="63500" dist="50800" dir="16200000">
              <a:prstClr val="black">
                <a:alpha val="50000"/>
              </a:prstClr>
            </a:innerShdw>
          </a:effectLst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129F478D-47B0-68AD-A72B-98E2EB93A4E4}"/>
              </a:ext>
            </a:extLst>
          </p:cNvPr>
          <p:cNvSpPr txBox="1"/>
          <p:nvPr/>
        </p:nvSpPr>
        <p:spPr>
          <a:xfrm>
            <a:off x="-943651" y="133620"/>
            <a:ext cx="677664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rgbClr val="D65D26"/>
                </a:solidFill>
                <a:latin typeface="Inter" panose="02000503000000020004" pitchFamily="2" charset="0"/>
                <a:ea typeface="Inter" panose="02000503000000020004" pitchFamily="2" charset="0"/>
              </a:rPr>
              <a:t>Part 4: </a:t>
            </a:r>
            <a:r>
              <a:rPr lang="en-US" sz="3600" dirty="0">
                <a:solidFill>
                  <a:srgbClr val="EDEDED"/>
                </a:solidFill>
                <a:latin typeface="Inter" panose="02000503000000020004" pitchFamily="2" charset="0"/>
                <a:ea typeface="Inter" panose="02000503000000020004" pitchFamily="2" charset="0"/>
              </a:rPr>
              <a:t>Demonstration:</a:t>
            </a:r>
          </a:p>
          <a:p>
            <a:pPr algn="ctr"/>
            <a:r>
              <a:rPr lang="en-US" sz="3600" dirty="0">
                <a:solidFill>
                  <a:srgbClr val="EDEDED"/>
                </a:solidFill>
                <a:latin typeface="Inter" panose="02000503000000020004" pitchFamily="2" charset="0"/>
                <a:ea typeface="Inter" panose="02000503000000020004" pitchFamily="2" charset="0"/>
              </a:rPr>
              <a:t>optimization through simulation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F887FEC-5EC3-4FD2-B34E-FA291736B70E}"/>
              </a:ext>
            </a:extLst>
          </p:cNvPr>
          <p:cNvSpPr txBox="1"/>
          <p:nvPr/>
        </p:nvSpPr>
        <p:spPr>
          <a:xfrm>
            <a:off x="314122" y="2518389"/>
            <a:ext cx="45833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D65D26"/>
                </a:solidFill>
                <a:latin typeface="Montserrat" pitchFamily="2" charset="0"/>
                <a:ea typeface="Inter" panose="02000503000000020004" pitchFamily="2" charset="0"/>
              </a:rPr>
              <a:t>4.3</a:t>
            </a:r>
            <a:r>
              <a:rPr lang="en-US" sz="2000" b="1" dirty="0">
                <a:solidFill>
                  <a:srgbClr val="EDEDED"/>
                </a:solidFill>
                <a:latin typeface="Montserrat" pitchFamily="2" charset="0"/>
                <a:ea typeface="Inter" panose="02000503000000020004" pitchFamily="2" charset="0"/>
              </a:rPr>
              <a:t> Exploring the Decision Space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FE855D-BA1C-90DB-1E28-AA601E2CE44D}"/>
              </a:ext>
            </a:extLst>
          </p:cNvPr>
          <p:cNvSpPr txBox="1"/>
          <p:nvPr/>
        </p:nvSpPr>
        <p:spPr>
          <a:xfrm>
            <a:off x="279595" y="3518164"/>
            <a:ext cx="398057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EDEDED"/>
                </a:solidFill>
                <a:latin typeface="Montserrat" pitchFamily="2" charset="0"/>
              </a:rPr>
              <a:t>Finite set of candidate policies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EDEDED"/>
                </a:solidFill>
                <a:latin typeface="Montserrat" pitchFamily="2" charset="0"/>
              </a:rPr>
              <a:t>Structured, not random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EDEDED"/>
                </a:solidFill>
                <a:latin typeface="Montserrat" pitchFamily="2" charset="0"/>
              </a:rPr>
              <a:t>Equal evaluation conditions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7A50B37-1BFB-AC73-D100-D5973050944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595" y="4970054"/>
            <a:ext cx="1690916" cy="1754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08250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20000">
              <a:schemeClr val="bg1"/>
            </a:gs>
            <a:gs pos="78000">
              <a:schemeClr val="tx1">
                <a:lumMod val="95000"/>
                <a:lumOff val="5000"/>
              </a:schemeClr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3B0B64-20F6-5F37-F73E-3BBF1C6AF9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>
            <a:extLst>
              <a:ext uri="{FF2B5EF4-FFF2-40B4-BE49-F238E27FC236}">
                <a16:creationId xmlns:a16="http://schemas.microsoft.com/office/drawing/2014/main" id="{A5D3B0FF-6825-EED5-943C-594FCA95C4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417"/>
          <a:stretch>
            <a:fillRect/>
          </a:stretch>
        </p:blipFill>
        <p:spPr>
          <a:xfrm>
            <a:off x="4559473" y="-866155"/>
            <a:ext cx="7632527" cy="7724155"/>
          </a:xfrm>
          <a:custGeom>
            <a:avLst/>
            <a:gdLst>
              <a:gd name="connsiteX0" fmla="*/ 3656412 w 6776647"/>
              <a:gd name="connsiteY0" fmla="*/ 5054965 h 6858000"/>
              <a:gd name="connsiteX1" fmla="*/ 4113979 w 6776647"/>
              <a:gd name="connsiteY1" fmla="*/ 5244495 h 6858000"/>
              <a:gd name="connsiteX2" fmla="*/ 4131893 w 6776647"/>
              <a:gd name="connsiteY2" fmla="*/ 5262409 h 6858000"/>
              <a:gd name="connsiteX3" fmla="*/ 4131892 w 6776647"/>
              <a:gd name="connsiteY3" fmla="*/ 6177545 h 6858000"/>
              <a:gd name="connsiteX4" fmla="*/ 4043288 w 6776647"/>
              <a:gd name="connsiteY4" fmla="*/ 6266149 h 6858000"/>
              <a:gd name="connsiteX5" fmla="*/ 3128155 w 6776647"/>
              <a:gd name="connsiteY5" fmla="*/ 6266149 h 6858000"/>
              <a:gd name="connsiteX6" fmla="*/ 3110241 w 6776647"/>
              <a:gd name="connsiteY6" fmla="*/ 6248235 h 6858000"/>
              <a:gd name="connsiteX7" fmla="*/ 3110240 w 6776647"/>
              <a:gd name="connsiteY7" fmla="*/ 5333099 h 6858000"/>
              <a:gd name="connsiteX8" fmla="*/ 3198844 w 6776647"/>
              <a:gd name="connsiteY8" fmla="*/ 5244495 h 6858000"/>
              <a:gd name="connsiteX9" fmla="*/ 3656412 w 6776647"/>
              <a:gd name="connsiteY9" fmla="*/ 5054965 h 6858000"/>
              <a:gd name="connsiteX10" fmla="*/ 6776647 w 6776647"/>
              <a:gd name="connsiteY10" fmla="*/ 4307086 h 6858000"/>
              <a:gd name="connsiteX11" fmla="*/ 6776647 w 6776647"/>
              <a:gd name="connsiteY11" fmla="*/ 5306043 h 6858000"/>
              <a:gd name="connsiteX12" fmla="*/ 5224689 w 6776647"/>
              <a:gd name="connsiteY12" fmla="*/ 6858000 h 6858000"/>
              <a:gd name="connsiteX13" fmla="*/ 4225733 w 6776647"/>
              <a:gd name="connsiteY13" fmla="*/ 6858000 h 6858000"/>
              <a:gd name="connsiteX14" fmla="*/ 6776647 w 6776647"/>
              <a:gd name="connsiteY14" fmla="*/ 1775039 h 6858000"/>
              <a:gd name="connsiteX15" fmla="*/ 6776647 w 6776647"/>
              <a:gd name="connsiteY15" fmla="*/ 3615452 h 6858000"/>
              <a:gd name="connsiteX16" fmla="*/ 5493702 w 6776647"/>
              <a:gd name="connsiteY16" fmla="*/ 4898396 h 6858000"/>
              <a:gd name="connsiteX17" fmla="*/ 4578567 w 6776647"/>
              <a:gd name="connsiteY17" fmla="*/ 4898396 h 6858000"/>
              <a:gd name="connsiteX18" fmla="*/ 4560653 w 6776647"/>
              <a:gd name="connsiteY18" fmla="*/ 4880482 h 6858000"/>
              <a:gd name="connsiteX19" fmla="*/ 4560653 w 6776647"/>
              <a:gd name="connsiteY19" fmla="*/ 3965347 h 6858000"/>
              <a:gd name="connsiteX20" fmla="*/ 6660166 w 6776647"/>
              <a:gd name="connsiteY20" fmla="*/ 1865835 h 6858000"/>
              <a:gd name="connsiteX21" fmla="*/ 6761678 w 6776647"/>
              <a:gd name="connsiteY21" fmla="*/ 1782916 h 6858000"/>
              <a:gd name="connsiteX22" fmla="*/ 5881240 w 6776647"/>
              <a:gd name="connsiteY22" fmla="*/ 18786 h 6858000"/>
              <a:gd name="connsiteX23" fmla="*/ 6475267 w 6776647"/>
              <a:gd name="connsiteY23" fmla="*/ 264840 h 6858000"/>
              <a:gd name="connsiteX24" fmla="*/ 6498525 w 6776647"/>
              <a:gd name="connsiteY24" fmla="*/ 288097 h 6858000"/>
              <a:gd name="connsiteX25" fmla="*/ 6498525 w 6776647"/>
              <a:gd name="connsiteY25" fmla="*/ 1476151 h 6858000"/>
              <a:gd name="connsiteX26" fmla="*/ 2949108 w 6776647"/>
              <a:gd name="connsiteY26" fmla="*/ 5025568 h 6858000"/>
              <a:gd name="connsiteX27" fmla="*/ 1761054 w 6776647"/>
              <a:gd name="connsiteY27" fmla="*/ 5025568 h 6858000"/>
              <a:gd name="connsiteX28" fmla="*/ 1737797 w 6776647"/>
              <a:gd name="connsiteY28" fmla="*/ 5002311 h 6858000"/>
              <a:gd name="connsiteX29" fmla="*/ 1737797 w 6776647"/>
              <a:gd name="connsiteY29" fmla="*/ 3814257 h 6858000"/>
              <a:gd name="connsiteX30" fmla="*/ 5287213 w 6776647"/>
              <a:gd name="connsiteY30" fmla="*/ 264840 h 6858000"/>
              <a:gd name="connsiteX31" fmla="*/ 5881240 w 6776647"/>
              <a:gd name="connsiteY31" fmla="*/ 18786 h 6858000"/>
              <a:gd name="connsiteX32" fmla="*/ 3421136 w 6776647"/>
              <a:gd name="connsiteY32" fmla="*/ 0 h 6858000"/>
              <a:gd name="connsiteX33" fmla="*/ 5065590 w 6776647"/>
              <a:gd name="connsiteY33" fmla="*/ 0 h 6858000"/>
              <a:gd name="connsiteX34" fmla="*/ 5058235 w 6776647"/>
              <a:gd name="connsiteY34" fmla="*/ 13976 h 6858000"/>
              <a:gd name="connsiteX35" fmla="*/ 4984132 w 6776647"/>
              <a:gd name="connsiteY35" fmla="*/ 104695 h 6858000"/>
              <a:gd name="connsiteX36" fmla="*/ 1478980 w 6776647"/>
              <a:gd name="connsiteY36" fmla="*/ 3609848 h 6858000"/>
              <a:gd name="connsiteX37" fmla="*/ 661145 w 6776647"/>
              <a:gd name="connsiteY37" fmla="*/ 3609848 h 6858000"/>
              <a:gd name="connsiteX38" fmla="*/ 645135 w 6776647"/>
              <a:gd name="connsiteY38" fmla="*/ 3593837 h 6858000"/>
              <a:gd name="connsiteX39" fmla="*/ 645135 w 6776647"/>
              <a:gd name="connsiteY39" fmla="*/ 2776002 h 6858000"/>
              <a:gd name="connsiteX40" fmla="*/ 1313944 w 6776647"/>
              <a:gd name="connsiteY40" fmla="*/ 0 h 6858000"/>
              <a:gd name="connsiteX41" fmla="*/ 2570790 w 6776647"/>
              <a:gd name="connsiteY41" fmla="*/ 0 h 6858000"/>
              <a:gd name="connsiteX42" fmla="*/ 2582282 w 6776647"/>
              <a:gd name="connsiteY42" fmla="*/ 38778 h 6858000"/>
              <a:gd name="connsiteX43" fmla="*/ 2423489 w 6776647"/>
              <a:gd name="connsiteY43" fmla="*/ 558147 h 6858000"/>
              <a:gd name="connsiteX44" fmla="*/ 1003226 w 6776647"/>
              <a:gd name="connsiteY44" fmla="*/ 1978410 h 6858000"/>
              <a:gd name="connsiteX45" fmla="*/ 185390 w 6776647"/>
              <a:gd name="connsiteY45" fmla="*/ 1978410 h 6858000"/>
              <a:gd name="connsiteX46" fmla="*/ 169380 w 6776647"/>
              <a:gd name="connsiteY46" fmla="*/ 1962401 h 6858000"/>
              <a:gd name="connsiteX47" fmla="*/ 169380 w 6776647"/>
              <a:gd name="connsiteY47" fmla="*/ 114456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</a:cxnLst>
            <a:rect l="l" t="t" r="r" b="b"/>
            <a:pathLst>
              <a:path w="6776647" h="6858000">
                <a:moveTo>
                  <a:pt x="3656412" y="5054965"/>
                </a:moveTo>
                <a:cubicBezTo>
                  <a:pt x="3822019" y="5054965"/>
                  <a:pt x="3987625" y="5118142"/>
                  <a:pt x="4113979" y="5244495"/>
                </a:cubicBezTo>
                <a:lnTo>
                  <a:pt x="4131893" y="5262409"/>
                </a:lnTo>
                <a:cubicBezTo>
                  <a:pt x="4384601" y="5515117"/>
                  <a:pt x="4384601" y="5924838"/>
                  <a:pt x="4131892" y="6177545"/>
                </a:cubicBezTo>
                <a:lnTo>
                  <a:pt x="4043288" y="6266149"/>
                </a:lnTo>
                <a:cubicBezTo>
                  <a:pt x="3790582" y="6518855"/>
                  <a:pt x="3380861" y="6518855"/>
                  <a:pt x="3128155" y="6266149"/>
                </a:cubicBezTo>
                <a:lnTo>
                  <a:pt x="3110241" y="6248235"/>
                </a:lnTo>
                <a:cubicBezTo>
                  <a:pt x="2857533" y="5995527"/>
                  <a:pt x="2857533" y="5585807"/>
                  <a:pt x="3110240" y="5333099"/>
                </a:cubicBezTo>
                <a:lnTo>
                  <a:pt x="3198844" y="5244495"/>
                </a:lnTo>
                <a:cubicBezTo>
                  <a:pt x="3325198" y="5118143"/>
                  <a:pt x="3490804" y="5054965"/>
                  <a:pt x="3656412" y="5054965"/>
                </a:cubicBezTo>
                <a:close/>
                <a:moveTo>
                  <a:pt x="6776647" y="4307086"/>
                </a:moveTo>
                <a:lnTo>
                  <a:pt x="6776647" y="5306043"/>
                </a:lnTo>
                <a:lnTo>
                  <a:pt x="5224689" y="6858000"/>
                </a:lnTo>
                <a:lnTo>
                  <a:pt x="4225733" y="6858000"/>
                </a:lnTo>
                <a:close/>
                <a:moveTo>
                  <a:pt x="6776647" y="1775039"/>
                </a:moveTo>
                <a:lnTo>
                  <a:pt x="6776647" y="3615452"/>
                </a:lnTo>
                <a:lnTo>
                  <a:pt x="5493702" y="4898396"/>
                </a:lnTo>
                <a:cubicBezTo>
                  <a:pt x="5240995" y="5151104"/>
                  <a:pt x="4831276" y="5151103"/>
                  <a:pt x="4578567" y="4898396"/>
                </a:cubicBezTo>
                <a:lnTo>
                  <a:pt x="4560653" y="4880482"/>
                </a:lnTo>
                <a:cubicBezTo>
                  <a:pt x="4307946" y="4627775"/>
                  <a:pt x="4307946" y="4218054"/>
                  <a:pt x="4560653" y="3965347"/>
                </a:cubicBezTo>
                <a:lnTo>
                  <a:pt x="6660166" y="1865835"/>
                </a:lnTo>
                <a:cubicBezTo>
                  <a:pt x="6691755" y="1834247"/>
                  <a:pt x="6725796" y="1806607"/>
                  <a:pt x="6761678" y="1782916"/>
                </a:cubicBezTo>
                <a:close/>
                <a:moveTo>
                  <a:pt x="5881240" y="18786"/>
                </a:moveTo>
                <a:cubicBezTo>
                  <a:pt x="6096236" y="18786"/>
                  <a:pt x="6311231" y="100804"/>
                  <a:pt x="6475267" y="264840"/>
                </a:cubicBezTo>
                <a:lnTo>
                  <a:pt x="6498525" y="288097"/>
                </a:lnTo>
                <a:cubicBezTo>
                  <a:pt x="6826598" y="616169"/>
                  <a:pt x="6826598" y="1148079"/>
                  <a:pt x="6498525" y="1476151"/>
                </a:cubicBezTo>
                <a:lnTo>
                  <a:pt x="2949108" y="5025568"/>
                </a:lnTo>
                <a:cubicBezTo>
                  <a:pt x="2621036" y="5353640"/>
                  <a:pt x="2089127" y="5353640"/>
                  <a:pt x="1761054" y="5025568"/>
                </a:cubicBezTo>
                <a:lnTo>
                  <a:pt x="1737797" y="5002311"/>
                </a:lnTo>
                <a:cubicBezTo>
                  <a:pt x="1409725" y="4674239"/>
                  <a:pt x="1409725" y="4142329"/>
                  <a:pt x="1737797" y="3814257"/>
                </a:cubicBezTo>
                <a:lnTo>
                  <a:pt x="5287213" y="264840"/>
                </a:lnTo>
                <a:cubicBezTo>
                  <a:pt x="5451251" y="100804"/>
                  <a:pt x="5666245" y="18785"/>
                  <a:pt x="5881240" y="18786"/>
                </a:cubicBezTo>
                <a:close/>
                <a:moveTo>
                  <a:pt x="3421136" y="0"/>
                </a:moveTo>
                <a:lnTo>
                  <a:pt x="5065590" y="0"/>
                </a:lnTo>
                <a:lnTo>
                  <a:pt x="5058235" y="13976"/>
                </a:lnTo>
                <a:cubicBezTo>
                  <a:pt x="5037063" y="46043"/>
                  <a:pt x="5012362" y="76465"/>
                  <a:pt x="4984132" y="104695"/>
                </a:cubicBezTo>
                <a:lnTo>
                  <a:pt x="1478980" y="3609848"/>
                </a:lnTo>
                <a:cubicBezTo>
                  <a:pt x="1253141" y="3835687"/>
                  <a:pt x="886985" y="3835687"/>
                  <a:pt x="661145" y="3609848"/>
                </a:cubicBezTo>
                <a:lnTo>
                  <a:pt x="645135" y="3593837"/>
                </a:lnTo>
                <a:cubicBezTo>
                  <a:pt x="419295" y="3367998"/>
                  <a:pt x="419295" y="3001841"/>
                  <a:pt x="645135" y="2776002"/>
                </a:cubicBezTo>
                <a:close/>
                <a:moveTo>
                  <a:pt x="1313944" y="0"/>
                </a:moveTo>
                <a:lnTo>
                  <a:pt x="2570790" y="0"/>
                </a:lnTo>
                <a:lnTo>
                  <a:pt x="2582282" y="38778"/>
                </a:lnTo>
                <a:cubicBezTo>
                  <a:pt x="2617570" y="221036"/>
                  <a:pt x="2564639" y="416997"/>
                  <a:pt x="2423489" y="558147"/>
                </a:cubicBezTo>
                <a:lnTo>
                  <a:pt x="1003226" y="1978410"/>
                </a:lnTo>
                <a:cubicBezTo>
                  <a:pt x="777387" y="2204250"/>
                  <a:pt x="411230" y="2204250"/>
                  <a:pt x="185390" y="1978410"/>
                </a:cubicBezTo>
                <a:lnTo>
                  <a:pt x="169380" y="1962401"/>
                </a:lnTo>
                <a:cubicBezTo>
                  <a:pt x="-56460" y="1736561"/>
                  <a:pt x="-56460" y="1370404"/>
                  <a:pt x="169380" y="1144565"/>
                </a:cubicBezTo>
                <a:close/>
              </a:path>
            </a:pathLst>
          </a:custGeom>
          <a:effectLst>
            <a:innerShdw blurRad="63500" dist="50800" dir="16200000">
              <a:prstClr val="black">
                <a:alpha val="50000"/>
              </a:prstClr>
            </a:innerShdw>
          </a:effectLst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6BEA22F3-E343-4C86-9BF5-8369859A89FA}"/>
              </a:ext>
            </a:extLst>
          </p:cNvPr>
          <p:cNvSpPr txBox="1"/>
          <p:nvPr/>
        </p:nvSpPr>
        <p:spPr>
          <a:xfrm>
            <a:off x="-943651" y="133620"/>
            <a:ext cx="677664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rgbClr val="D65D26"/>
                </a:solidFill>
                <a:latin typeface="Inter" panose="02000503000000020004" pitchFamily="2" charset="0"/>
                <a:ea typeface="Inter" panose="02000503000000020004" pitchFamily="2" charset="0"/>
              </a:rPr>
              <a:t>Part 4: </a:t>
            </a:r>
            <a:r>
              <a:rPr lang="en-US" sz="3600" dirty="0">
                <a:solidFill>
                  <a:srgbClr val="EDEDED"/>
                </a:solidFill>
                <a:latin typeface="Inter" panose="02000503000000020004" pitchFamily="2" charset="0"/>
                <a:ea typeface="Inter" panose="02000503000000020004" pitchFamily="2" charset="0"/>
              </a:rPr>
              <a:t>Demonstration:</a:t>
            </a:r>
          </a:p>
          <a:p>
            <a:pPr algn="ctr"/>
            <a:r>
              <a:rPr lang="en-US" sz="3600" dirty="0">
                <a:solidFill>
                  <a:srgbClr val="EDEDED"/>
                </a:solidFill>
                <a:latin typeface="Inter" panose="02000503000000020004" pitchFamily="2" charset="0"/>
                <a:ea typeface="Inter" panose="02000503000000020004" pitchFamily="2" charset="0"/>
              </a:rPr>
              <a:t>optimization through simulation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785B073-16DB-5E7E-3676-EFB41075AD3F}"/>
              </a:ext>
            </a:extLst>
          </p:cNvPr>
          <p:cNvSpPr txBox="1"/>
          <p:nvPr/>
        </p:nvSpPr>
        <p:spPr>
          <a:xfrm>
            <a:off x="314122" y="2518389"/>
            <a:ext cx="518924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D65D26"/>
                </a:solidFill>
                <a:latin typeface="Montserrat" pitchFamily="2" charset="0"/>
                <a:ea typeface="Inter" panose="02000503000000020004" pitchFamily="2" charset="0"/>
              </a:rPr>
              <a:t>4.4</a:t>
            </a:r>
            <a:r>
              <a:rPr lang="en-US" sz="2000" b="1" dirty="0">
                <a:solidFill>
                  <a:srgbClr val="EDEDED"/>
                </a:solidFill>
                <a:latin typeface="Montserrat" pitchFamily="2" charset="0"/>
                <a:ea typeface="Inter" panose="02000503000000020004" pitchFamily="2" charset="0"/>
              </a:rPr>
              <a:t> Interpreting Optimization Results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788E175-53F9-ED98-7F65-72B8CF574BD1}"/>
              </a:ext>
            </a:extLst>
          </p:cNvPr>
          <p:cNvSpPr txBox="1"/>
          <p:nvPr/>
        </p:nvSpPr>
        <p:spPr>
          <a:xfrm>
            <a:off x="8279" y="3503254"/>
            <a:ext cx="436369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EDEDED"/>
                </a:solidFill>
                <a:latin typeface="Montserrat" pitchFamily="2" charset="0"/>
              </a:rPr>
              <a:t>Each point = one evaluated policy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EDEDED"/>
                </a:solidFill>
                <a:latin typeface="Montserrat" pitchFamily="2" charset="0"/>
              </a:rPr>
              <a:t>Axes = competing objectives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EDEDED"/>
                </a:solidFill>
                <a:latin typeface="Montserrat" pitchFamily="2" charset="0"/>
              </a:rPr>
              <a:t>Color reveals decision structure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21D0D12-F822-9290-2233-9691C0527CE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595" y="4970054"/>
            <a:ext cx="1690916" cy="175432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652B704-27DD-7F51-E983-6D93E93A5FE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1974" y="2868315"/>
            <a:ext cx="8220075" cy="3989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94223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20000">
              <a:schemeClr val="bg1">
                <a:lumMod val="95000"/>
              </a:schemeClr>
            </a:gs>
            <a:gs pos="78000">
              <a:schemeClr val="tx1">
                <a:lumMod val="95000"/>
                <a:lumOff val="5000"/>
              </a:schemeClr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37A06C-FB2B-3B0E-A4C9-D9FCC17BAA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>
            <a:extLst>
              <a:ext uri="{FF2B5EF4-FFF2-40B4-BE49-F238E27FC236}">
                <a16:creationId xmlns:a16="http://schemas.microsoft.com/office/drawing/2014/main" id="{20CE0298-B011-39D2-4C16-342007CD08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417"/>
          <a:stretch>
            <a:fillRect/>
          </a:stretch>
        </p:blipFill>
        <p:spPr>
          <a:xfrm>
            <a:off x="4559473" y="-866155"/>
            <a:ext cx="7632527" cy="7724155"/>
          </a:xfrm>
          <a:custGeom>
            <a:avLst/>
            <a:gdLst>
              <a:gd name="connsiteX0" fmla="*/ 3656412 w 6776647"/>
              <a:gd name="connsiteY0" fmla="*/ 5054965 h 6858000"/>
              <a:gd name="connsiteX1" fmla="*/ 4113979 w 6776647"/>
              <a:gd name="connsiteY1" fmla="*/ 5244495 h 6858000"/>
              <a:gd name="connsiteX2" fmla="*/ 4131893 w 6776647"/>
              <a:gd name="connsiteY2" fmla="*/ 5262409 h 6858000"/>
              <a:gd name="connsiteX3" fmla="*/ 4131892 w 6776647"/>
              <a:gd name="connsiteY3" fmla="*/ 6177545 h 6858000"/>
              <a:gd name="connsiteX4" fmla="*/ 4043288 w 6776647"/>
              <a:gd name="connsiteY4" fmla="*/ 6266149 h 6858000"/>
              <a:gd name="connsiteX5" fmla="*/ 3128155 w 6776647"/>
              <a:gd name="connsiteY5" fmla="*/ 6266149 h 6858000"/>
              <a:gd name="connsiteX6" fmla="*/ 3110241 w 6776647"/>
              <a:gd name="connsiteY6" fmla="*/ 6248235 h 6858000"/>
              <a:gd name="connsiteX7" fmla="*/ 3110240 w 6776647"/>
              <a:gd name="connsiteY7" fmla="*/ 5333099 h 6858000"/>
              <a:gd name="connsiteX8" fmla="*/ 3198844 w 6776647"/>
              <a:gd name="connsiteY8" fmla="*/ 5244495 h 6858000"/>
              <a:gd name="connsiteX9" fmla="*/ 3656412 w 6776647"/>
              <a:gd name="connsiteY9" fmla="*/ 5054965 h 6858000"/>
              <a:gd name="connsiteX10" fmla="*/ 6776647 w 6776647"/>
              <a:gd name="connsiteY10" fmla="*/ 4307086 h 6858000"/>
              <a:gd name="connsiteX11" fmla="*/ 6776647 w 6776647"/>
              <a:gd name="connsiteY11" fmla="*/ 5306043 h 6858000"/>
              <a:gd name="connsiteX12" fmla="*/ 5224689 w 6776647"/>
              <a:gd name="connsiteY12" fmla="*/ 6858000 h 6858000"/>
              <a:gd name="connsiteX13" fmla="*/ 4225733 w 6776647"/>
              <a:gd name="connsiteY13" fmla="*/ 6858000 h 6858000"/>
              <a:gd name="connsiteX14" fmla="*/ 6776647 w 6776647"/>
              <a:gd name="connsiteY14" fmla="*/ 1775039 h 6858000"/>
              <a:gd name="connsiteX15" fmla="*/ 6776647 w 6776647"/>
              <a:gd name="connsiteY15" fmla="*/ 3615452 h 6858000"/>
              <a:gd name="connsiteX16" fmla="*/ 5493702 w 6776647"/>
              <a:gd name="connsiteY16" fmla="*/ 4898396 h 6858000"/>
              <a:gd name="connsiteX17" fmla="*/ 4578567 w 6776647"/>
              <a:gd name="connsiteY17" fmla="*/ 4898396 h 6858000"/>
              <a:gd name="connsiteX18" fmla="*/ 4560653 w 6776647"/>
              <a:gd name="connsiteY18" fmla="*/ 4880482 h 6858000"/>
              <a:gd name="connsiteX19" fmla="*/ 4560653 w 6776647"/>
              <a:gd name="connsiteY19" fmla="*/ 3965347 h 6858000"/>
              <a:gd name="connsiteX20" fmla="*/ 6660166 w 6776647"/>
              <a:gd name="connsiteY20" fmla="*/ 1865835 h 6858000"/>
              <a:gd name="connsiteX21" fmla="*/ 6761678 w 6776647"/>
              <a:gd name="connsiteY21" fmla="*/ 1782916 h 6858000"/>
              <a:gd name="connsiteX22" fmla="*/ 5881240 w 6776647"/>
              <a:gd name="connsiteY22" fmla="*/ 18786 h 6858000"/>
              <a:gd name="connsiteX23" fmla="*/ 6475267 w 6776647"/>
              <a:gd name="connsiteY23" fmla="*/ 264840 h 6858000"/>
              <a:gd name="connsiteX24" fmla="*/ 6498525 w 6776647"/>
              <a:gd name="connsiteY24" fmla="*/ 288097 h 6858000"/>
              <a:gd name="connsiteX25" fmla="*/ 6498525 w 6776647"/>
              <a:gd name="connsiteY25" fmla="*/ 1476151 h 6858000"/>
              <a:gd name="connsiteX26" fmla="*/ 2949108 w 6776647"/>
              <a:gd name="connsiteY26" fmla="*/ 5025568 h 6858000"/>
              <a:gd name="connsiteX27" fmla="*/ 1761054 w 6776647"/>
              <a:gd name="connsiteY27" fmla="*/ 5025568 h 6858000"/>
              <a:gd name="connsiteX28" fmla="*/ 1737797 w 6776647"/>
              <a:gd name="connsiteY28" fmla="*/ 5002311 h 6858000"/>
              <a:gd name="connsiteX29" fmla="*/ 1737797 w 6776647"/>
              <a:gd name="connsiteY29" fmla="*/ 3814257 h 6858000"/>
              <a:gd name="connsiteX30" fmla="*/ 5287213 w 6776647"/>
              <a:gd name="connsiteY30" fmla="*/ 264840 h 6858000"/>
              <a:gd name="connsiteX31" fmla="*/ 5881240 w 6776647"/>
              <a:gd name="connsiteY31" fmla="*/ 18786 h 6858000"/>
              <a:gd name="connsiteX32" fmla="*/ 3421136 w 6776647"/>
              <a:gd name="connsiteY32" fmla="*/ 0 h 6858000"/>
              <a:gd name="connsiteX33" fmla="*/ 5065590 w 6776647"/>
              <a:gd name="connsiteY33" fmla="*/ 0 h 6858000"/>
              <a:gd name="connsiteX34" fmla="*/ 5058235 w 6776647"/>
              <a:gd name="connsiteY34" fmla="*/ 13976 h 6858000"/>
              <a:gd name="connsiteX35" fmla="*/ 4984132 w 6776647"/>
              <a:gd name="connsiteY35" fmla="*/ 104695 h 6858000"/>
              <a:gd name="connsiteX36" fmla="*/ 1478980 w 6776647"/>
              <a:gd name="connsiteY36" fmla="*/ 3609848 h 6858000"/>
              <a:gd name="connsiteX37" fmla="*/ 661145 w 6776647"/>
              <a:gd name="connsiteY37" fmla="*/ 3609848 h 6858000"/>
              <a:gd name="connsiteX38" fmla="*/ 645135 w 6776647"/>
              <a:gd name="connsiteY38" fmla="*/ 3593837 h 6858000"/>
              <a:gd name="connsiteX39" fmla="*/ 645135 w 6776647"/>
              <a:gd name="connsiteY39" fmla="*/ 2776002 h 6858000"/>
              <a:gd name="connsiteX40" fmla="*/ 1313944 w 6776647"/>
              <a:gd name="connsiteY40" fmla="*/ 0 h 6858000"/>
              <a:gd name="connsiteX41" fmla="*/ 2570790 w 6776647"/>
              <a:gd name="connsiteY41" fmla="*/ 0 h 6858000"/>
              <a:gd name="connsiteX42" fmla="*/ 2582282 w 6776647"/>
              <a:gd name="connsiteY42" fmla="*/ 38778 h 6858000"/>
              <a:gd name="connsiteX43" fmla="*/ 2423489 w 6776647"/>
              <a:gd name="connsiteY43" fmla="*/ 558147 h 6858000"/>
              <a:gd name="connsiteX44" fmla="*/ 1003226 w 6776647"/>
              <a:gd name="connsiteY44" fmla="*/ 1978410 h 6858000"/>
              <a:gd name="connsiteX45" fmla="*/ 185390 w 6776647"/>
              <a:gd name="connsiteY45" fmla="*/ 1978410 h 6858000"/>
              <a:gd name="connsiteX46" fmla="*/ 169380 w 6776647"/>
              <a:gd name="connsiteY46" fmla="*/ 1962401 h 6858000"/>
              <a:gd name="connsiteX47" fmla="*/ 169380 w 6776647"/>
              <a:gd name="connsiteY47" fmla="*/ 114456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</a:cxnLst>
            <a:rect l="l" t="t" r="r" b="b"/>
            <a:pathLst>
              <a:path w="6776647" h="6858000">
                <a:moveTo>
                  <a:pt x="3656412" y="5054965"/>
                </a:moveTo>
                <a:cubicBezTo>
                  <a:pt x="3822019" y="5054965"/>
                  <a:pt x="3987625" y="5118142"/>
                  <a:pt x="4113979" y="5244495"/>
                </a:cubicBezTo>
                <a:lnTo>
                  <a:pt x="4131893" y="5262409"/>
                </a:lnTo>
                <a:cubicBezTo>
                  <a:pt x="4384601" y="5515117"/>
                  <a:pt x="4384601" y="5924838"/>
                  <a:pt x="4131892" y="6177545"/>
                </a:cubicBezTo>
                <a:lnTo>
                  <a:pt x="4043288" y="6266149"/>
                </a:lnTo>
                <a:cubicBezTo>
                  <a:pt x="3790582" y="6518855"/>
                  <a:pt x="3380861" y="6518855"/>
                  <a:pt x="3128155" y="6266149"/>
                </a:cubicBezTo>
                <a:lnTo>
                  <a:pt x="3110241" y="6248235"/>
                </a:lnTo>
                <a:cubicBezTo>
                  <a:pt x="2857533" y="5995527"/>
                  <a:pt x="2857533" y="5585807"/>
                  <a:pt x="3110240" y="5333099"/>
                </a:cubicBezTo>
                <a:lnTo>
                  <a:pt x="3198844" y="5244495"/>
                </a:lnTo>
                <a:cubicBezTo>
                  <a:pt x="3325198" y="5118143"/>
                  <a:pt x="3490804" y="5054965"/>
                  <a:pt x="3656412" y="5054965"/>
                </a:cubicBezTo>
                <a:close/>
                <a:moveTo>
                  <a:pt x="6776647" y="4307086"/>
                </a:moveTo>
                <a:lnTo>
                  <a:pt x="6776647" y="5306043"/>
                </a:lnTo>
                <a:lnTo>
                  <a:pt x="5224689" y="6858000"/>
                </a:lnTo>
                <a:lnTo>
                  <a:pt x="4225733" y="6858000"/>
                </a:lnTo>
                <a:close/>
                <a:moveTo>
                  <a:pt x="6776647" y="1775039"/>
                </a:moveTo>
                <a:lnTo>
                  <a:pt x="6776647" y="3615452"/>
                </a:lnTo>
                <a:lnTo>
                  <a:pt x="5493702" y="4898396"/>
                </a:lnTo>
                <a:cubicBezTo>
                  <a:pt x="5240995" y="5151104"/>
                  <a:pt x="4831276" y="5151103"/>
                  <a:pt x="4578567" y="4898396"/>
                </a:cubicBezTo>
                <a:lnTo>
                  <a:pt x="4560653" y="4880482"/>
                </a:lnTo>
                <a:cubicBezTo>
                  <a:pt x="4307946" y="4627775"/>
                  <a:pt x="4307946" y="4218054"/>
                  <a:pt x="4560653" y="3965347"/>
                </a:cubicBezTo>
                <a:lnTo>
                  <a:pt x="6660166" y="1865835"/>
                </a:lnTo>
                <a:cubicBezTo>
                  <a:pt x="6691755" y="1834247"/>
                  <a:pt x="6725796" y="1806607"/>
                  <a:pt x="6761678" y="1782916"/>
                </a:cubicBezTo>
                <a:close/>
                <a:moveTo>
                  <a:pt x="5881240" y="18786"/>
                </a:moveTo>
                <a:cubicBezTo>
                  <a:pt x="6096236" y="18786"/>
                  <a:pt x="6311231" y="100804"/>
                  <a:pt x="6475267" y="264840"/>
                </a:cubicBezTo>
                <a:lnTo>
                  <a:pt x="6498525" y="288097"/>
                </a:lnTo>
                <a:cubicBezTo>
                  <a:pt x="6826598" y="616169"/>
                  <a:pt x="6826598" y="1148079"/>
                  <a:pt x="6498525" y="1476151"/>
                </a:cubicBezTo>
                <a:lnTo>
                  <a:pt x="2949108" y="5025568"/>
                </a:lnTo>
                <a:cubicBezTo>
                  <a:pt x="2621036" y="5353640"/>
                  <a:pt x="2089127" y="5353640"/>
                  <a:pt x="1761054" y="5025568"/>
                </a:cubicBezTo>
                <a:lnTo>
                  <a:pt x="1737797" y="5002311"/>
                </a:lnTo>
                <a:cubicBezTo>
                  <a:pt x="1409725" y="4674239"/>
                  <a:pt x="1409725" y="4142329"/>
                  <a:pt x="1737797" y="3814257"/>
                </a:cubicBezTo>
                <a:lnTo>
                  <a:pt x="5287213" y="264840"/>
                </a:lnTo>
                <a:cubicBezTo>
                  <a:pt x="5451251" y="100804"/>
                  <a:pt x="5666245" y="18785"/>
                  <a:pt x="5881240" y="18786"/>
                </a:cubicBezTo>
                <a:close/>
                <a:moveTo>
                  <a:pt x="3421136" y="0"/>
                </a:moveTo>
                <a:lnTo>
                  <a:pt x="5065590" y="0"/>
                </a:lnTo>
                <a:lnTo>
                  <a:pt x="5058235" y="13976"/>
                </a:lnTo>
                <a:cubicBezTo>
                  <a:pt x="5037063" y="46043"/>
                  <a:pt x="5012362" y="76465"/>
                  <a:pt x="4984132" y="104695"/>
                </a:cubicBezTo>
                <a:lnTo>
                  <a:pt x="1478980" y="3609848"/>
                </a:lnTo>
                <a:cubicBezTo>
                  <a:pt x="1253141" y="3835687"/>
                  <a:pt x="886985" y="3835687"/>
                  <a:pt x="661145" y="3609848"/>
                </a:cubicBezTo>
                <a:lnTo>
                  <a:pt x="645135" y="3593837"/>
                </a:lnTo>
                <a:cubicBezTo>
                  <a:pt x="419295" y="3367998"/>
                  <a:pt x="419295" y="3001841"/>
                  <a:pt x="645135" y="2776002"/>
                </a:cubicBezTo>
                <a:close/>
                <a:moveTo>
                  <a:pt x="1313944" y="0"/>
                </a:moveTo>
                <a:lnTo>
                  <a:pt x="2570790" y="0"/>
                </a:lnTo>
                <a:lnTo>
                  <a:pt x="2582282" y="38778"/>
                </a:lnTo>
                <a:cubicBezTo>
                  <a:pt x="2617570" y="221036"/>
                  <a:pt x="2564639" y="416997"/>
                  <a:pt x="2423489" y="558147"/>
                </a:cubicBezTo>
                <a:lnTo>
                  <a:pt x="1003226" y="1978410"/>
                </a:lnTo>
                <a:cubicBezTo>
                  <a:pt x="777387" y="2204250"/>
                  <a:pt x="411230" y="2204250"/>
                  <a:pt x="185390" y="1978410"/>
                </a:cubicBezTo>
                <a:lnTo>
                  <a:pt x="169380" y="1962401"/>
                </a:lnTo>
                <a:cubicBezTo>
                  <a:pt x="-56460" y="1736561"/>
                  <a:pt x="-56460" y="1370404"/>
                  <a:pt x="169380" y="1144565"/>
                </a:cubicBezTo>
                <a:close/>
              </a:path>
            </a:pathLst>
          </a:custGeom>
          <a:effectLst>
            <a:innerShdw blurRad="63500" dist="50800" dir="16200000">
              <a:prstClr val="black">
                <a:alpha val="50000"/>
              </a:prstClr>
            </a:innerShdw>
          </a:effectLst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F58C5928-10E9-780D-B37F-27DFCEE2839F}"/>
              </a:ext>
            </a:extLst>
          </p:cNvPr>
          <p:cNvSpPr txBox="1"/>
          <p:nvPr/>
        </p:nvSpPr>
        <p:spPr>
          <a:xfrm>
            <a:off x="-1140425" y="2672756"/>
            <a:ext cx="677664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chemeClr val="bg1">
                    <a:lumMod val="75000"/>
                  </a:schemeClr>
                </a:solidFill>
                <a:latin typeface="Montserrat" pitchFamily="2" charset="0"/>
                <a:ea typeface="Inter" panose="02000503000000020004" pitchFamily="2" charset="0"/>
              </a:rPr>
              <a:t>Thank you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2097775-B1E4-6DB4-05D4-31800DE9F888}"/>
              </a:ext>
            </a:extLst>
          </p:cNvPr>
          <p:cNvSpPr txBox="1"/>
          <p:nvPr/>
        </p:nvSpPr>
        <p:spPr>
          <a:xfrm>
            <a:off x="-1140424" y="4119047"/>
            <a:ext cx="677664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rgbClr val="D65D26"/>
                </a:solidFill>
                <a:latin typeface="Montserrat" pitchFamily="2" charset="0"/>
                <a:ea typeface="Inter" panose="02000503000000020004" pitchFamily="2" charset="0"/>
              </a:rPr>
              <a:t>Questions?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B112D78-66C6-7E26-03F3-0131D433F84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22128" y="-201933"/>
            <a:ext cx="2136272" cy="2216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43540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129</TotalTime>
  <Words>495</Words>
  <Application>Microsoft Office PowerPoint</Application>
  <PresentationFormat>Widescreen</PresentationFormat>
  <Paragraphs>107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Arial</vt:lpstr>
      <vt:lpstr>Calibri</vt:lpstr>
      <vt:lpstr>Calibri Light</vt:lpstr>
      <vt:lpstr>Inter</vt:lpstr>
      <vt:lpstr>Montserrat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Faisal Naem</dc:creator>
  <cp:lastModifiedBy>Faisal Naem</cp:lastModifiedBy>
  <cp:revision>9</cp:revision>
  <dcterms:created xsi:type="dcterms:W3CDTF">2025-12-16T16:08:56Z</dcterms:created>
  <dcterms:modified xsi:type="dcterms:W3CDTF">2025-12-23T12:16:37Z</dcterms:modified>
</cp:coreProperties>
</file>