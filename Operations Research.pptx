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0: Introduction" id="{53949132-1756-4C98-BA09-BA8FAFB6D166}">
          <p14:sldIdLst>
            <p14:sldId id="257"/>
            <p14:sldId id="258"/>
          </p14:sldIdLst>
        </p14:section>
        <p14:section name="Part 1: Problem Framing: Black-Box Simulation Optimization" id="{8683B296-63A4-44B3-A69A-6ED38BD2616A}">
          <p14:sldIdLst>
            <p14:sldId id="259"/>
          </p14:sldIdLst>
        </p14:section>
        <p14:section name="Part 2: Core OR challenge: optimizing under noise and limited budget" id="{83F3F71D-ACEB-462A-8F9B-DA73417E4CED}">
          <p14:sldIdLst>
            <p14:sldId id="260"/>
          </p14:sldIdLst>
        </p14:section>
        <p14:section name="Part 3: Demonstration: optimization through simulation" id="{9ECDE5F2-DEEC-4FFA-B398-3C0546F77280}">
          <p14:sldIdLst>
            <p14:sldId id="261"/>
          </p14:sldIdLst>
        </p14:section>
        <p14:section name="Part 4: Implications: applications and key takeaways" id="{9CCA7B6F-DCCF-42BE-9291-75CB4C7F03FA}">
          <p14:sldIdLst>
            <p14:sldId id="262"/>
          </p14:sldIdLst>
        </p14:section>
        <p14:section name="Part 5: Thank you and questions" id="{0ABCD72E-AF0D-404B-9FED-13CEBBEBF61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5D26"/>
    <a:srgbClr val="191970"/>
    <a:srgbClr val="36454F"/>
    <a:srgbClr val="383838"/>
    <a:srgbClr val="3C4142"/>
    <a:srgbClr val="5D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>
        <p:scale>
          <a:sx n="50" d="100"/>
          <a:sy n="50" d="100"/>
        </p:scale>
        <p:origin x="738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746A2C-2688-99F3-3BE5-70CD89246A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E70CC-6D8D-435E-229A-1B8E504DAC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A3F73-276D-4D06-A959-F6C1EBE6FB8D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70F7C-2E76-BEF1-BE5C-CE8ED673F9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71F03-30A1-C133-691C-19CBF8C0E9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877BD-1EE3-4ADB-B91C-8DACBD66F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508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A7B33-C2DF-4645-9AC7-92080901716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2EDDA-DB12-4862-9182-4C7198C3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37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FF1A4-C592-93C0-8134-EE659A2FC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80C6C-9A0D-C282-BB87-FCBC2502F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E4480-221E-BB12-3FD3-9A77B0DB6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3B5-1469-4001-9C5D-FEE416E463A0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1BDEB-F856-B6B7-44A8-DD0CE51BA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0D059-3FD4-F991-6490-59C0A3791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F2C9-A395-4D56-BDE2-190AB1915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5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79FE-8785-D176-41CB-E0969E30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7BB9E-0C05-10DF-0C83-C7C73D093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0FC4F-900A-F40F-6A30-FAC185509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3B5-1469-4001-9C5D-FEE416E463A0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FA288-9F55-4155-4C30-66F0FA71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EFBA2-9668-B422-E5CD-9F76FB82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F2C9-A395-4D56-BDE2-190AB1915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7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20BD-A6B9-F6A9-0926-A44CC73E3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AED41-B243-3E80-AEF0-E90A2052A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EFB01-F7FF-1CBB-1C9B-D56A0407F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3B5-1469-4001-9C5D-FEE416E463A0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038E6-C552-B324-6AB4-818229D3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58AFC-CCFA-18E4-75F1-16F5C004A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F2C9-A395-4D56-BDE2-190AB1915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27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DE9A5-0F4B-C0F4-BE53-32A43056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DB13C-DE9A-D847-9636-AFF75694B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B30EB-26BE-DBB2-FF7D-9716629C4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155C6-2CAE-9B6D-F734-CED3505EC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3B5-1469-4001-9C5D-FEE416E463A0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86988-4D84-3D4F-B0C9-9C0ACEF9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0C15-1838-0441-C020-5DC13D3B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F2C9-A395-4D56-BDE2-190AB1915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18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ABB3-45EE-4A79-CD64-F09B22FC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AA654-F07B-5CA5-3D27-0928E74DA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9AF6B-6E7E-AAC3-8D0E-DE290CF1D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16C1B-820C-0419-E533-FB05433BAC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EB55B-8C78-E7C6-5CE6-A9C7C056E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88E546-B552-D1D6-340A-E7F627B18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3B5-1469-4001-9C5D-FEE416E463A0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8BA665-6A54-2CB0-BDEA-C2C7A729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A1D655-2CDF-B95B-B800-B6F373CC5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F2C9-A395-4D56-BDE2-190AB1915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1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AA77-47AA-E6FD-4ED8-E7FBBE84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CD7BD-1E03-6707-9AD5-58787A500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3B5-1469-4001-9C5D-FEE416E463A0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C12E4-F8B6-A7F6-A583-D2FFA962E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DCA8C-718A-66F9-96B3-380FD61E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F2C9-A395-4D56-BDE2-190AB1915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8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3AABE-8597-A74C-DCF6-D004D1BED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3B5-1469-4001-9C5D-FEE416E463A0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9A4A0-93DF-54D4-FDDD-E72D8EE8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BA48-0DF5-5B68-1AC0-ABA755BDA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F2C9-A395-4D56-BDE2-190AB1915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14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60E0-83C8-FAB6-E9F9-B2F84CA5B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61797-A291-875E-54E1-0939DDDA2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19906-18D9-9412-DCDA-6A7D6198A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A81E1-7E5E-AF53-8DFB-C9CE2DB05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3B5-1469-4001-9C5D-FEE416E463A0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6765C-C52F-6AF1-CC1B-662EB1BF2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92435-D43E-E065-7DBC-4DFF700B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F2C9-A395-4D56-BDE2-190AB1915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49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344C-8E6F-207A-3FDE-4033CCC4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C83868-A28C-B3D2-48FE-231AEB0FC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3C4F5-81BE-1273-32D0-6695BD29C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8943C-4544-D640-00DF-0A382BAB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3B5-1469-4001-9C5D-FEE416E463A0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7D303-B820-9A78-AE9F-1EEE9C3F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490AD-1FEC-BA8A-33A8-B003DA472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F2C9-A395-4D56-BDE2-190AB1915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49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F7C6-DA35-9259-6943-16A9DEC10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8DAC5-313A-749A-4E22-766A1B272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07635-194F-6341-8DAE-8612934AF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3B5-1469-4001-9C5D-FEE416E463A0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D377E-2727-BC25-1D57-3BC2E870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FDDAE-8721-E1E4-0AA0-F9B0F203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F2C9-A395-4D56-BDE2-190AB1915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82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37C5B2-4172-3CAF-C9A9-C8FDD0643C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36DCE-6271-214C-DDB7-CC6D52262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50F6-A2FA-9289-63EE-2EEA43129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3B5-1469-4001-9C5D-FEE416E463A0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A8ADC-5C73-FB2C-2CA8-71E9F2110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9F0F0-4E2B-06F7-4C9C-0E1CDB4B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F2C9-A395-4D56-BDE2-190AB1915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3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1A8AAE-CE0F-9395-45E5-CABAFC850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E79D2-F9C0-A74E-5F7B-46315AF99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F3685-AA07-27A4-62E2-6A5516C08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393B5-1469-4001-9C5D-FEE416E463A0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2E63-F6EC-3605-A46C-4AF86393E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F7864-42FB-985E-7A1F-340ECE286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6F2C9-A395-4D56-BDE2-190AB1915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52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bg2">
                <a:lumMod val="25000"/>
              </a:schemeClr>
            </a:gs>
            <a:gs pos="78000">
              <a:schemeClr val="tx1">
                <a:lumMod val="85000"/>
                <a:lumOff val="1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5BF78C5D-3F75-F715-16A8-F3C42641D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17"/>
          <a:stretch>
            <a:fillRect/>
          </a:stretch>
        </p:blipFill>
        <p:spPr>
          <a:xfrm>
            <a:off x="4559473" y="-866155"/>
            <a:ext cx="7632527" cy="7724155"/>
          </a:xfrm>
          <a:custGeom>
            <a:avLst/>
            <a:gdLst>
              <a:gd name="connsiteX0" fmla="*/ 3656412 w 6776647"/>
              <a:gd name="connsiteY0" fmla="*/ 5054965 h 6858000"/>
              <a:gd name="connsiteX1" fmla="*/ 4113979 w 6776647"/>
              <a:gd name="connsiteY1" fmla="*/ 5244495 h 6858000"/>
              <a:gd name="connsiteX2" fmla="*/ 4131893 w 6776647"/>
              <a:gd name="connsiteY2" fmla="*/ 5262409 h 6858000"/>
              <a:gd name="connsiteX3" fmla="*/ 4131892 w 6776647"/>
              <a:gd name="connsiteY3" fmla="*/ 6177545 h 6858000"/>
              <a:gd name="connsiteX4" fmla="*/ 4043288 w 6776647"/>
              <a:gd name="connsiteY4" fmla="*/ 6266149 h 6858000"/>
              <a:gd name="connsiteX5" fmla="*/ 3128155 w 6776647"/>
              <a:gd name="connsiteY5" fmla="*/ 6266149 h 6858000"/>
              <a:gd name="connsiteX6" fmla="*/ 3110241 w 6776647"/>
              <a:gd name="connsiteY6" fmla="*/ 6248235 h 6858000"/>
              <a:gd name="connsiteX7" fmla="*/ 3110240 w 6776647"/>
              <a:gd name="connsiteY7" fmla="*/ 5333099 h 6858000"/>
              <a:gd name="connsiteX8" fmla="*/ 3198844 w 6776647"/>
              <a:gd name="connsiteY8" fmla="*/ 5244495 h 6858000"/>
              <a:gd name="connsiteX9" fmla="*/ 3656412 w 6776647"/>
              <a:gd name="connsiteY9" fmla="*/ 5054965 h 6858000"/>
              <a:gd name="connsiteX10" fmla="*/ 6776647 w 6776647"/>
              <a:gd name="connsiteY10" fmla="*/ 4307086 h 6858000"/>
              <a:gd name="connsiteX11" fmla="*/ 6776647 w 6776647"/>
              <a:gd name="connsiteY11" fmla="*/ 5306043 h 6858000"/>
              <a:gd name="connsiteX12" fmla="*/ 5224689 w 6776647"/>
              <a:gd name="connsiteY12" fmla="*/ 6858000 h 6858000"/>
              <a:gd name="connsiteX13" fmla="*/ 4225733 w 6776647"/>
              <a:gd name="connsiteY13" fmla="*/ 6858000 h 6858000"/>
              <a:gd name="connsiteX14" fmla="*/ 6776647 w 6776647"/>
              <a:gd name="connsiteY14" fmla="*/ 1775039 h 6858000"/>
              <a:gd name="connsiteX15" fmla="*/ 6776647 w 6776647"/>
              <a:gd name="connsiteY15" fmla="*/ 3615452 h 6858000"/>
              <a:gd name="connsiteX16" fmla="*/ 5493702 w 6776647"/>
              <a:gd name="connsiteY16" fmla="*/ 4898396 h 6858000"/>
              <a:gd name="connsiteX17" fmla="*/ 4578567 w 6776647"/>
              <a:gd name="connsiteY17" fmla="*/ 4898396 h 6858000"/>
              <a:gd name="connsiteX18" fmla="*/ 4560653 w 6776647"/>
              <a:gd name="connsiteY18" fmla="*/ 4880482 h 6858000"/>
              <a:gd name="connsiteX19" fmla="*/ 4560653 w 6776647"/>
              <a:gd name="connsiteY19" fmla="*/ 3965347 h 6858000"/>
              <a:gd name="connsiteX20" fmla="*/ 6660166 w 6776647"/>
              <a:gd name="connsiteY20" fmla="*/ 1865835 h 6858000"/>
              <a:gd name="connsiteX21" fmla="*/ 6761678 w 6776647"/>
              <a:gd name="connsiteY21" fmla="*/ 1782916 h 6858000"/>
              <a:gd name="connsiteX22" fmla="*/ 5881240 w 6776647"/>
              <a:gd name="connsiteY22" fmla="*/ 18786 h 6858000"/>
              <a:gd name="connsiteX23" fmla="*/ 6475267 w 6776647"/>
              <a:gd name="connsiteY23" fmla="*/ 264840 h 6858000"/>
              <a:gd name="connsiteX24" fmla="*/ 6498525 w 6776647"/>
              <a:gd name="connsiteY24" fmla="*/ 288097 h 6858000"/>
              <a:gd name="connsiteX25" fmla="*/ 6498525 w 6776647"/>
              <a:gd name="connsiteY25" fmla="*/ 1476151 h 6858000"/>
              <a:gd name="connsiteX26" fmla="*/ 2949108 w 6776647"/>
              <a:gd name="connsiteY26" fmla="*/ 5025568 h 6858000"/>
              <a:gd name="connsiteX27" fmla="*/ 1761054 w 6776647"/>
              <a:gd name="connsiteY27" fmla="*/ 5025568 h 6858000"/>
              <a:gd name="connsiteX28" fmla="*/ 1737797 w 6776647"/>
              <a:gd name="connsiteY28" fmla="*/ 5002311 h 6858000"/>
              <a:gd name="connsiteX29" fmla="*/ 1737797 w 6776647"/>
              <a:gd name="connsiteY29" fmla="*/ 3814257 h 6858000"/>
              <a:gd name="connsiteX30" fmla="*/ 5287213 w 6776647"/>
              <a:gd name="connsiteY30" fmla="*/ 264840 h 6858000"/>
              <a:gd name="connsiteX31" fmla="*/ 5881240 w 6776647"/>
              <a:gd name="connsiteY31" fmla="*/ 18786 h 6858000"/>
              <a:gd name="connsiteX32" fmla="*/ 3421136 w 6776647"/>
              <a:gd name="connsiteY32" fmla="*/ 0 h 6858000"/>
              <a:gd name="connsiteX33" fmla="*/ 5065590 w 6776647"/>
              <a:gd name="connsiteY33" fmla="*/ 0 h 6858000"/>
              <a:gd name="connsiteX34" fmla="*/ 5058235 w 6776647"/>
              <a:gd name="connsiteY34" fmla="*/ 13976 h 6858000"/>
              <a:gd name="connsiteX35" fmla="*/ 4984132 w 6776647"/>
              <a:gd name="connsiteY35" fmla="*/ 104695 h 6858000"/>
              <a:gd name="connsiteX36" fmla="*/ 1478980 w 6776647"/>
              <a:gd name="connsiteY36" fmla="*/ 3609848 h 6858000"/>
              <a:gd name="connsiteX37" fmla="*/ 661145 w 6776647"/>
              <a:gd name="connsiteY37" fmla="*/ 3609848 h 6858000"/>
              <a:gd name="connsiteX38" fmla="*/ 645135 w 6776647"/>
              <a:gd name="connsiteY38" fmla="*/ 3593837 h 6858000"/>
              <a:gd name="connsiteX39" fmla="*/ 645135 w 6776647"/>
              <a:gd name="connsiteY39" fmla="*/ 2776002 h 6858000"/>
              <a:gd name="connsiteX40" fmla="*/ 1313944 w 6776647"/>
              <a:gd name="connsiteY40" fmla="*/ 0 h 6858000"/>
              <a:gd name="connsiteX41" fmla="*/ 2570790 w 6776647"/>
              <a:gd name="connsiteY41" fmla="*/ 0 h 6858000"/>
              <a:gd name="connsiteX42" fmla="*/ 2582282 w 6776647"/>
              <a:gd name="connsiteY42" fmla="*/ 38778 h 6858000"/>
              <a:gd name="connsiteX43" fmla="*/ 2423489 w 6776647"/>
              <a:gd name="connsiteY43" fmla="*/ 558147 h 6858000"/>
              <a:gd name="connsiteX44" fmla="*/ 1003226 w 6776647"/>
              <a:gd name="connsiteY44" fmla="*/ 1978410 h 6858000"/>
              <a:gd name="connsiteX45" fmla="*/ 185390 w 6776647"/>
              <a:gd name="connsiteY45" fmla="*/ 1978410 h 6858000"/>
              <a:gd name="connsiteX46" fmla="*/ 169380 w 6776647"/>
              <a:gd name="connsiteY46" fmla="*/ 1962401 h 6858000"/>
              <a:gd name="connsiteX47" fmla="*/ 169380 w 6776647"/>
              <a:gd name="connsiteY47" fmla="*/ 11445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76647" h="6858000">
                <a:moveTo>
                  <a:pt x="3656412" y="5054965"/>
                </a:moveTo>
                <a:cubicBezTo>
                  <a:pt x="3822019" y="5054965"/>
                  <a:pt x="3987625" y="5118142"/>
                  <a:pt x="4113979" y="5244495"/>
                </a:cubicBezTo>
                <a:lnTo>
                  <a:pt x="4131893" y="5262409"/>
                </a:lnTo>
                <a:cubicBezTo>
                  <a:pt x="4384601" y="5515117"/>
                  <a:pt x="4384601" y="5924838"/>
                  <a:pt x="4131892" y="6177545"/>
                </a:cubicBezTo>
                <a:lnTo>
                  <a:pt x="4043288" y="6266149"/>
                </a:lnTo>
                <a:cubicBezTo>
                  <a:pt x="3790582" y="6518855"/>
                  <a:pt x="3380861" y="6518855"/>
                  <a:pt x="3128155" y="6266149"/>
                </a:cubicBezTo>
                <a:lnTo>
                  <a:pt x="3110241" y="6248235"/>
                </a:lnTo>
                <a:cubicBezTo>
                  <a:pt x="2857533" y="5995527"/>
                  <a:pt x="2857533" y="5585807"/>
                  <a:pt x="3110240" y="5333099"/>
                </a:cubicBezTo>
                <a:lnTo>
                  <a:pt x="3198844" y="5244495"/>
                </a:lnTo>
                <a:cubicBezTo>
                  <a:pt x="3325198" y="5118143"/>
                  <a:pt x="3490804" y="5054965"/>
                  <a:pt x="3656412" y="5054965"/>
                </a:cubicBezTo>
                <a:close/>
                <a:moveTo>
                  <a:pt x="6776647" y="4307086"/>
                </a:moveTo>
                <a:lnTo>
                  <a:pt x="6776647" y="5306043"/>
                </a:lnTo>
                <a:lnTo>
                  <a:pt x="5224689" y="6858000"/>
                </a:lnTo>
                <a:lnTo>
                  <a:pt x="4225733" y="6858000"/>
                </a:lnTo>
                <a:close/>
                <a:moveTo>
                  <a:pt x="6776647" y="1775039"/>
                </a:moveTo>
                <a:lnTo>
                  <a:pt x="6776647" y="3615452"/>
                </a:lnTo>
                <a:lnTo>
                  <a:pt x="5493702" y="4898396"/>
                </a:lnTo>
                <a:cubicBezTo>
                  <a:pt x="5240995" y="5151104"/>
                  <a:pt x="4831276" y="5151103"/>
                  <a:pt x="4578567" y="4898396"/>
                </a:cubicBezTo>
                <a:lnTo>
                  <a:pt x="4560653" y="4880482"/>
                </a:lnTo>
                <a:cubicBezTo>
                  <a:pt x="4307946" y="4627775"/>
                  <a:pt x="4307946" y="4218054"/>
                  <a:pt x="4560653" y="3965347"/>
                </a:cubicBezTo>
                <a:lnTo>
                  <a:pt x="6660166" y="1865835"/>
                </a:lnTo>
                <a:cubicBezTo>
                  <a:pt x="6691755" y="1834247"/>
                  <a:pt x="6725796" y="1806607"/>
                  <a:pt x="6761678" y="1782916"/>
                </a:cubicBezTo>
                <a:close/>
                <a:moveTo>
                  <a:pt x="5881240" y="18786"/>
                </a:moveTo>
                <a:cubicBezTo>
                  <a:pt x="6096236" y="18786"/>
                  <a:pt x="6311231" y="100804"/>
                  <a:pt x="6475267" y="264840"/>
                </a:cubicBezTo>
                <a:lnTo>
                  <a:pt x="6498525" y="288097"/>
                </a:lnTo>
                <a:cubicBezTo>
                  <a:pt x="6826598" y="616169"/>
                  <a:pt x="6826598" y="1148079"/>
                  <a:pt x="6498525" y="1476151"/>
                </a:cubicBezTo>
                <a:lnTo>
                  <a:pt x="2949108" y="5025568"/>
                </a:lnTo>
                <a:cubicBezTo>
                  <a:pt x="2621036" y="5353640"/>
                  <a:pt x="2089127" y="5353640"/>
                  <a:pt x="1761054" y="5025568"/>
                </a:cubicBezTo>
                <a:lnTo>
                  <a:pt x="1737797" y="5002311"/>
                </a:lnTo>
                <a:cubicBezTo>
                  <a:pt x="1409725" y="4674239"/>
                  <a:pt x="1409725" y="4142329"/>
                  <a:pt x="1737797" y="3814257"/>
                </a:cubicBezTo>
                <a:lnTo>
                  <a:pt x="5287213" y="264840"/>
                </a:lnTo>
                <a:cubicBezTo>
                  <a:pt x="5451251" y="100804"/>
                  <a:pt x="5666245" y="18785"/>
                  <a:pt x="5881240" y="18786"/>
                </a:cubicBezTo>
                <a:close/>
                <a:moveTo>
                  <a:pt x="3421136" y="0"/>
                </a:moveTo>
                <a:lnTo>
                  <a:pt x="5065590" y="0"/>
                </a:lnTo>
                <a:lnTo>
                  <a:pt x="5058235" y="13976"/>
                </a:lnTo>
                <a:cubicBezTo>
                  <a:pt x="5037063" y="46043"/>
                  <a:pt x="5012362" y="76465"/>
                  <a:pt x="4984132" y="104695"/>
                </a:cubicBezTo>
                <a:lnTo>
                  <a:pt x="1478980" y="3609848"/>
                </a:lnTo>
                <a:cubicBezTo>
                  <a:pt x="1253141" y="3835687"/>
                  <a:pt x="886985" y="3835687"/>
                  <a:pt x="661145" y="3609848"/>
                </a:cubicBezTo>
                <a:lnTo>
                  <a:pt x="645135" y="3593837"/>
                </a:lnTo>
                <a:cubicBezTo>
                  <a:pt x="419295" y="3367998"/>
                  <a:pt x="419295" y="3001841"/>
                  <a:pt x="645135" y="2776002"/>
                </a:cubicBezTo>
                <a:close/>
                <a:moveTo>
                  <a:pt x="1313944" y="0"/>
                </a:moveTo>
                <a:lnTo>
                  <a:pt x="2570790" y="0"/>
                </a:lnTo>
                <a:lnTo>
                  <a:pt x="2582282" y="38778"/>
                </a:lnTo>
                <a:cubicBezTo>
                  <a:pt x="2617570" y="221036"/>
                  <a:pt x="2564639" y="416997"/>
                  <a:pt x="2423489" y="558147"/>
                </a:cubicBezTo>
                <a:lnTo>
                  <a:pt x="1003226" y="1978410"/>
                </a:lnTo>
                <a:cubicBezTo>
                  <a:pt x="777387" y="2204250"/>
                  <a:pt x="411230" y="2204250"/>
                  <a:pt x="185390" y="1978410"/>
                </a:cubicBezTo>
                <a:lnTo>
                  <a:pt x="169380" y="1962401"/>
                </a:lnTo>
                <a:cubicBezTo>
                  <a:pt x="-56460" y="1736561"/>
                  <a:pt x="-56460" y="1370404"/>
                  <a:pt x="169380" y="1144565"/>
                </a:cubicBezTo>
                <a:close/>
              </a:path>
            </a:pathLst>
          </a:cu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0A1ECC6-8360-1A20-B6E8-5B840B0796CE}"/>
              </a:ext>
            </a:extLst>
          </p:cNvPr>
          <p:cNvSpPr txBox="1"/>
          <p:nvPr/>
        </p:nvSpPr>
        <p:spPr>
          <a:xfrm>
            <a:off x="0" y="2118975"/>
            <a:ext cx="6776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D65D26"/>
                </a:solidFill>
                <a:latin typeface="Inter" panose="02000503000000020004" pitchFamily="2" charset="0"/>
                <a:ea typeface="Inter" panose="02000503000000020004" pitchFamily="2" charset="0"/>
              </a:rPr>
              <a:t>An introduction </a:t>
            </a:r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to Black-Box Simulation Optimization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12FF8-F556-C0ED-75E6-497AB418E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128" y="-201933"/>
            <a:ext cx="2136272" cy="2216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73EA27-6CAE-0260-4F7B-4704A67C351C}"/>
              </a:ext>
            </a:extLst>
          </p:cNvPr>
          <p:cNvSpPr txBox="1"/>
          <p:nvPr/>
        </p:nvSpPr>
        <p:spPr>
          <a:xfrm>
            <a:off x="179249" y="5392112"/>
            <a:ext cx="2367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A project made for </a:t>
            </a:r>
            <a:r>
              <a:rPr lang="en-US" sz="1200" dirty="0">
                <a:solidFill>
                  <a:srgbClr val="D65D26"/>
                </a:solidFill>
                <a:latin typeface="Montserrat" pitchFamily="2" charset="0"/>
              </a:rPr>
              <a:t>Operations Research</a:t>
            </a:r>
          </a:p>
          <a:p>
            <a:endParaRPr lang="en-US" sz="1200" dirty="0">
              <a:solidFill>
                <a:srgbClr val="D65D26"/>
              </a:solidFill>
              <a:latin typeface="Montserrat" pitchFamily="2" charset="0"/>
            </a:endParaRPr>
          </a:p>
          <a:p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Supervised by Prof. </a:t>
            </a:r>
            <a:r>
              <a:rPr lang="en-US" sz="1200" dirty="0">
                <a:solidFill>
                  <a:srgbClr val="D65D26"/>
                </a:solidFill>
                <a:latin typeface="Montserrat" pitchFamily="2" charset="0"/>
              </a:rPr>
              <a:t>Marwa Jaradat</a:t>
            </a:r>
          </a:p>
          <a:p>
            <a:endParaRPr lang="en-US" sz="1200" dirty="0">
              <a:solidFill>
                <a:srgbClr val="D65D26"/>
              </a:solidFill>
              <a:latin typeface="Montserra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FE4A4E-50B6-D5A8-8A2B-9C0582788290}"/>
              </a:ext>
            </a:extLst>
          </p:cNvPr>
          <p:cNvSpPr txBox="1"/>
          <p:nvPr/>
        </p:nvSpPr>
        <p:spPr>
          <a:xfrm>
            <a:off x="87809" y="3755543"/>
            <a:ext cx="23674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Project made by:</a:t>
            </a:r>
          </a:p>
          <a:p>
            <a:endParaRPr lang="en-US" sz="1200" dirty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Ahmad Zayed (</a:t>
            </a:r>
            <a:r>
              <a:rPr lang="en-US" sz="1200" dirty="0">
                <a:solidFill>
                  <a:srgbClr val="D65D26"/>
                </a:solidFill>
                <a:latin typeface="Montserrat" pitchFamily="2" charset="0"/>
              </a:rPr>
              <a:t>221983</a:t>
            </a:r>
          </a:p>
          <a:p>
            <a:pPr marL="228600" indent="-228600">
              <a:buFontTx/>
              <a:buAutoNum type="arabicPeriod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Tala Al-Akhras (</a:t>
            </a:r>
            <a:r>
              <a:rPr lang="en-US" sz="1200" dirty="0">
                <a:solidFill>
                  <a:srgbClr val="D65D26"/>
                </a:solidFill>
                <a:latin typeface="Montserrat" pitchFamily="2" charset="0"/>
              </a:rPr>
              <a:t>231353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)</a:t>
            </a:r>
          </a:p>
          <a:p>
            <a:pPr marL="228600" indent="-228600">
              <a:buFontTx/>
              <a:buAutoNum type="arabicPeriod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Faisal Naem (</a:t>
            </a:r>
            <a:r>
              <a:rPr lang="en-US" sz="1200" dirty="0">
                <a:solidFill>
                  <a:srgbClr val="D65D26"/>
                </a:solidFill>
                <a:latin typeface="Montserrat" pitchFamily="2" charset="0"/>
              </a:rPr>
              <a:t>221983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)</a:t>
            </a:r>
          </a:p>
          <a:p>
            <a:pPr marL="228600" indent="-228600">
              <a:buFontTx/>
              <a:buAutoNum type="arabicPeriod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Leen Joudeh(</a:t>
            </a:r>
            <a:r>
              <a:rPr lang="en-US" sz="1200" dirty="0">
                <a:solidFill>
                  <a:srgbClr val="D65D26"/>
                </a:solidFill>
                <a:latin typeface="Montserrat" pitchFamily="2" charset="0"/>
              </a:rPr>
              <a:t>221952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)</a:t>
            </a:r>
          </a:p>
          <a:p>
            <a:endParaRPr lang="en-US" sz="1200" dirty="0">
              <a:solidFill>
                <a:srgbClr val="D65D26"/>
              </a:solidFill>
              <a:latin typeface="Montserrat" pitchFamily="2" charset="0"/>
            </a:endParaRPr>
          </a:p>
          <a:p>
            <a:endParaRPr lang="en-US" sz="1200" dirty="0">
              <a:solidFill>
                <a:srgbClr val="D65D26"/>
              </a:solidFill>
              <a:latin typeface="Montserrat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E4D41FA-2288-862E-6D0C-4D91BF1B2223}"/>
              </a:ext>
            </a:extLst>
          </p:cNvPr>
          <p:cNvSpPr/>
          <p:nvPr/>
        </p:nvSpPr>
        <p:spPr>
          <a:xfrm>
            <a:off x="400368" y="7398011"/>
            <a:ext cx="2146300" cy="197514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D65D26"/>
                </a:solidFill>
                <a:latin typeface="Montserrat" pitchFamily="2" charset="0"/>
              </a:rPr>
              <a:t>Part 1: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rPr>
              <a:t>Problem Framing: Black-Box Simulation Optimization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3C43E5-B52F-CD3E-C911-C04D5B8F3EC4}"/>
              </a:ext>
            </a:extLst>
          </p:cNvPr>
          <p:cNvSpPr/>
          <p:nvPr/>
        </p:nvSpPr>
        <p:spPr>
          <a:xfrm>
            <a:off x="2864168" y="7398011"/>
            <a:ext cx="2247900" cy="197514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D65D26"/>
                </a:solidFill>
                <a:latin typeface="Montserrat" pitchFamily="2" charset="0"/>
              </a:rPr>
              <a:t>Part 2: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rPr>
              <a:t>Core OR challenge: optimizing under noise and limited budget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FA622D-290C-77D1-D93D-D75B73CB5E08}"/>
              </a:ext>
            </a:extLst>
          </p:cNvPr>
          <p:cNvSpPr/>
          <p:nvPr/>
        </p:nvSpPr>
        <p:spPr>
          <a:xfrm>
            <a:off x="456690" y="9479891"/>
            <a:ext cx="2242378" cy="2057971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D65D26"/>
                </a:solidFill>
                <a:latin typeface="Montserrat" pitchFamily="2" charset="0"/>
              </a:rPr>
              <a:t>Part 3: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rPr>
              <a:t>Demonstration:</a:t>
            </a:r>
          </a:p>
          <a:p>
            <a:pPr algn="ctr"/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rPr>
              <a:t>optimization through simulation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F976F9-C8C8-C88B-5505-1C9C32E70F3A}"/>
              </a:ext>
            </a:extLst>
          </p:cNvPr>
          <p:cNvSpPr/>
          <p:nvPr/>
        </p:nvSpPr>
        <p:spPr>
          <a:xfrm>
            <a:off x="2869690" y="9479891"/>
            <a:ext cx="2242378" cy="2057971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D65D26"/>
                </a:solidFill>
                <a:latin typeface="Montserrat" pitchFamily="2" charset="0"/>
              </a:rPr>
              <a:t>Part 4: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rPr>
              <a:t>Implications:</a:t>
            </a:r>
          </a:p>
          <a:p>
            <a:pPr algn="ctr"/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rPr>
              <a:t>applications and key takeaways</a:t>
            </a:r>
          </a:p>
        </p:txBody>
      </p:sp>
    </p:spTree>
    <p:extLst>
      <p:ext uri="{BB962C8B-B14F-4D97-AF65-F5344CB8AC3E}">
        <p14:creationId xmlns:p14="http://schemas.microsoft.com/office/powerpoint/2010/main" val="1629625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bg2">
                <a:lumMod val="25000"/>
              </a:schemeClr>
            </a:gs>
            <a:gs pos="78000">
              <a:schemeClr val="tx1">
                <a:lumMod val="85000"/>
                <a:lumOff val="1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3F697-EA32-8C84-20FE-B07A69138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ED53A0A2-9EC3-189A-13AC-3C1CDF3A6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17"/>
          <a:stretch>
            <a:fillRect/>
          </a:stretch>
        </p:blipFill>
        <p:spPr>
          <a:xfrm>
            <a:off x="4559473" y="-866155"/>
            <a:ext cx="7632527" cy="7724155"/>
          </a:xfrm>
          <a:custGeom>
            <a:avLst/>
            <a:gdLst>
              <a:gd name="connsiteX0" fmla="*/ 3656412 w 6776647"/>
              <a:gd name="connsiteY0" fmla="*/ 5054965 h 6858000"/>
              <a:gd name="connsiteX1" fmla="*/ 4113979 w 6776647"/>
              <a:gd name="connsiteY1" fmla="*/ 5244495 h 6858000"/>
              <a:gd name="connsiteX2" fmla="*/ 4131893 w 6776647"/>
              <a:gd name="connsiteY2" fmla="*/ 5262409 h 6858000"/>
              <a:gd name="connsiteX3" fmla="*/ 4131892 w 6776647"/>
              <a:gd name="connsiteY3" fmla="*/ 6177545 h 6858000"/>
              <a:gd name="connsiteX4" fmla="*/ 4043288 w 6776647"/>
              <a:gd name="connsiteY4" fmla="*/ 6266149 h 6858000"/>
              <a:gd name="connsiteX5" fmla="*/ 3128155 w 6776647"/>
              <a:gd name="connsiteY5" fmla="*/ 6266149 h 6858000"/>
              <a:gd name="connsiteX6" fmla="*/ 3110241 w 6776647"/>
              <a:gd name="connsiteY6" fmla="*/ 6248235 h 6858000"/>
              <a:gd name="connsiteX7" fmla="*/ 3110240 w 6776647"/>
              <a:gd name="connsiteY7" fmla="*/ 5333099 h 6858000"/>
              <a:gd name="connsiteX8" fmla="*/ 3198844 w 6776647"/>
              <a:gd name="connsiteY8" fmla="*/ 5244495 h 6858000"/>
              <a:gd name="connsiteX9" fmla="*/ 3656412 w 6776647"/>
              <a:gd name="connsiteY9" fmla="*/ 5054965 h 6858000"/>
              <a:gd name="connsiteX10" fmla="*/ 6776647 w 6776647"/>
              <a:gd name="connsiteY10" fmla="*/ 4307086 h 6858000"/>
              <a:gd name="connsiteX11" fmla="*/ 6776647 w 6776647"/>
              <a:gd name="connsiteY11" fmla="*/ 5306043 h 6858000"/>
              <a:gd name="connsiteX12" fmla="*/ 5224689 w 6776647"/>
              <a:gd name="connsiteY12" fmla="*/ 6858000 h 6858000"/>
              <a:gd name="connsiteX13" fmla="*/ 4225733 w 6776647"/>
              <a:gd name="connsiteY13" fmla="*/ 6858000 h 6858000"/>
              <a:gd name="connsiteX14" fmla="*/ 6776647 w 6776647"/>
              <a:gd name="connsiteY14" fmla="*/ 1775039 h 6858000"/>
              <a:gd name="connsiteX15" fmla="*/ 6776647 w 6776647"/>
              <a:gd name="connsiteY15" fmla="*/ 3615452 h 6858000"/>
              <a:gd name="connsiteX16" fmla="*/ 5493702 w 6776647"/>
              <a:gd name="connsiteY16" fmla="*/ 4898396 h 6858000"/>
              <a:gd name="connsiteX17" fmla="*/ 4578567 w 6776647"/>
              <a:gd name="connsiteY17" fmla="*/ 4898396 h 6858000"/>
              <a:gd name="connsiteX18" fmla="*/ 4560653 w 6776647"/>
              <a:gd name="connsiteY18" fmla="*/ 4880482 h 6858000"/>
              <a:gd name="connsiteX19" fmla="*/ 4560653 w 6776647"/>
              <a:gd name="connsiteY19" fmla="*/ 3965347 h 6858000"/>
              <a:gd name="connsiteX20" fmla="*/ 6660166 w 6776647"/>
              <a:gd name="connsiteY20" fmla="*/ 1865835 h 6858000"/>
              <a:gd name="connsiteX21" fmla="*/ 6761678 w 6776647"/>
              <a:gd name="connsiteY21" fmla="*/ 1782916 h 6858000"/>
              <a:gd name="connsiteX22" fmla="*/ 5881240 w 6776647"/>
              <a:gd name="connsiteY22" fmla="*/ 18786 h 6858000"/>
              <a:gd name="connsiteX23" fmla="*/ 6475267 w 6776647"/>
              <a:gd name="connsiteY23" fmla="*/ 264840 h 6858000"/>
              <a:gd name="connsiteX24" fmla="*/ 6498525 w 6776647"/>
              <a:gd name="connsiteY24" fmla="*/ 288097 h 6858000"/>
              <a:gd name="connsiteX25" fmla="*/ 6498525 w 6776647"/>
              <a:gd name="connsiteY25" fmla="*/ 1476151 h 6858000"/>
              <a:gd name="connsiteX26" fmla="*/ 2949108 w 6776647"/>
              <a:gd name="connsiteY26" fmla="*/ 5025568 h 6858000"/>
              <a:gd name="connsiteX27" fmla="*/ 1761054 w 6776647"/>
              <a:gd name="connsiteY27" fmla="*/ 5025568 h 6858000"/>
              <a:gd name="connsiteX28" fmla="*/ 1737797 w 6776647"/>
              <a:gd name="connsiteY28" fmla="*/ 5002311 h 6858000"/>
              <a:gd name="connsiteX29" fmla="*/ 1737797 w 6776647"/>
              <a:gd name="connsiteY29" fmla="*/ 3814257 h 6858000"/>
              <a:gd name="connsiteX30" fmla="*/ 5287213 w 6776647"/>
              <a:gd name="connsiteY30" fmla="*/ 264840 h 6858000"/>
              <a:gd name="connsiteX31" fmla="*/ 5881240 w 6776647"/>
              <a:gd name="connsiteY31" fmla="*/ 18786 h 6858000"/>
              <a:gd name="connsiteX32" fmla="*/ 3421136 w 6776647"/>
              <a:gd name="connsiteY32" fmla="*/ 0 h 6858000"/>
              <a:gd name="connsiteX33" fmla="*/ 5065590 w 6776647"/>
              <a:gd name="connsiteY33" fmla="*/ 0 h 6858000"/>
              <a:gd name="connsiteX34" fmla="*/ 5058235 w 6776647"/>
              <a:gd name="connsiteY34" fmla="*/ 13976 h 6858000"/>
              <a:gd name="connsiteX35" fmla="*/ 4984132 w 6776647"/>
              <a:gd name="connsiteY35" fmla="*/ 104695 h 6858000"/>
              <a:gd name="connsiteX36" fmla="*/ 1478980 w 6776647"/>
              <a:gd name="connsiteY36" fmla="*/ 3609848 h 6858000"/>
              <a:gd name="connsiteX37" fmla="*/ 661145 w 6776647"/>
              <a:gd name="connsiteY37" fmla="*/ 3609848 h 6858000"/>
              <a:gd name="connsiteX38" fmla="*/ 645135 w 6776647"/>
              <a:gd name="connsiteY38" fmla="*/ 3593837 h 6858000"/>
              <a:gd name="connsiteX39" fmla="*/ 645135 w 6776647"/>
              <a:gd name="connsiteY39" fmla="*/ 2776002 h 6858000"/>
              <a:gd name="connsiteX40" fmla="*/ 1313944 w 6776647"/>
              <a:gd name="connsiteY40" fmla="*/ 0 h 6858000"/>
              <a:gd name="connsiteX41" fmla="*/ 2570790 w 6776647"/>
              <a:gd name="connsiteY41" fmla="*/ 0 h 6858000"/>
              <a:gd name="connsiteX42" fmla="*/ 2582282 w 6776647"/>
              <a:gd name="connsiteY42" fmla="*/ 38778 h 6858000"/>
              <a:gd name="connsiteX43" fmla="*/ 2423489 w 6776647"/>
              <a:gd name="connsiteY43" fmla="*/ 558147 h 6858000"/>
              <a:gd name="connsiteX44" fmla="*/ 1003226 w 6776647"/>
              <a:gd name="connsiteY44" fmla="*/ 1978410 h 6858000"/>
              <a:gd name="connsiteX45" fmla="*/ 185390 w 6776647"/>
              <a:gd name="connsiteY45" fmla="*/ 1978410 h 6858000"/>
              <a:gd name="connsiteX46" fmla="*/ 169380 w 6776647"/>
              <a:gd name="connsiteY46" fmla="*/ 1962401 h 6858000"/>
              <a:gd name="connsiteX47" fmla="*/ 169380 w 6776647"/>
              <a:gd name="connsiteY47" fmla="*/ 11445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76647" h="6858000">
                <a:moveTo>
                  <a:pt x="3656412" y="5054965"/>
                </a:moveTo>
                <a:cubicBezTo>
                  <a:pt x="3822019" y="5054965"/>
                  <a:pt x="3987625" y="5118142"/>
                  <a:pt x="4113979" y="5244495"/>
                </a:cubicBezTo>
                <a:lnTo>
                  <a:pt x="4131893" y="5262409"/>
                </a:lnTo>
                <a:cubicBezTo>
                  <a:pt x="4384601" y="5515117"/>
                  <a:pt x="4384601" y="5924838"/>
                  <a:pt x="4131892" y="6177545"/>
                </a:cubicBezTo>
                <a:lnTo>
                  <a:pt x="4043288" y="6266149"/>
                </a:lnTo>
                <a:cubicBezTo>
                  <a:pt x="3790582" y="6518855"/>
                  <a:pt x="3380861" y="6518855"/>
                  <a:pt x="3128155" y="6266149"/>
                </a:cubicBezTo>
                <a:lnTo>
                  <a:pt x="3110241" y="6248235"/>
                </a:lnTo>
                <a:cubicBezTo>
                  <a:pt x="2857533" y="5995527"/>
                  <a:pt x="2857533" y="5585807"/>
                  <a:pt x="3110240" y="5333099"/>
                </a:cubicBezTo>
                <a:lnTo>
                  <a:pt x="3198844" y="5244495"/>
                </a:lnTo>
                <a:cubicBezTo>
                  <a:pt x="3325198" y="5118143"/>
                  <a:pt x="3490804" y="5054965"/>
                  <a:pt x="3656412" y="5054965"/>
                </a:cubicBezTo>
                <a:close/>
                <a:moveTo>
                  <a:pt x="6776647" y="4307086"/>
                </a:moveTo>
                <a:lnTo>
                  <a:pt x="6776647" y="5306043"/>
                </a:lnTo>
                <a:lnTo>
                  <a:pt x="5224689" y="6858000"/>
                </a:lnTo>
                <a:lnTo>
                  <a:pt x="4225733" y="6858000"/>
                </a:lnTo>
                <a:close/>
                <a:moveTo>
                  <a:pt x="6776647" y="1775039"/>
                </a:moveTo>
                <a:lnTo>
                  <a:pt x="6776647" y="3615452"/>
                </a:lnTo>
                <a:lnTo>
                  <a:pt x="5493702" y="4898396"/>
                </a:lnTo>
                <a:cubicBezTo>
                  <a:pt x="5240995" y="5151104"/>
                  <a:pt x="4831276" y="5151103"/>
                  <a:pt x="4578567" y="4898396"/>
                </a:cubicBezTo>
                <a:lnTo>
                  <a:pt x="4560653" y="4880482"/>
                </a:lnTo>
                <a:cubicBezTo>
                  <a:pt x="4307946" y="4627775"/>
                  <a:pt x="4307946" y="4218054"/>
                  <a:pt x="4560653" y="3965347"/>
                </a:cubicBezTo>
                <a:lnTo>
                  <a:pt x="6660166" y="1865835"/>
                </a:lnTo>
                <a:cubicBezTo>
                  <a:pt x="6691755" y="1834247"/>
                  <a:pt x="6725796" y="1806607"/>
                  <a:pt x="6761678" y="1782916"/>
                </a:cubicBezTo>
                <a:close/>
                <a:moveTo>
                  <a:pt x="5881240" y="18786"/>
                </a:moveTo>
                <a:cubicBezTo>
                  <a:pt x="6096236" y="18786"/>
                  <a:pt x="6311231" y="100804"/>
                  <a:pt x="6475267" y="264840"/>
                </a:cubicBezTo>
                <a:lnTo>
                  <a:pt x="6498525" y="288097"/>
                </a:lnTo>
                <a:cubicBezTo>
                  <a:pt x="6826598" y="616169"/>
                  <a:pt x="6826598" y="1148079"/>
                  <a:pt x="6498525" y="1476151"/>
                </a:cubicBezTo>
                <a:lnTo>
                  <a:pt x="2949108" y="5025568"/>
                </a:lnTo>
                <a:cubicBezTo>
                  <a:pt x="2621036" y="5353640"/>
                  <a:pt x="2089127" y="5353640"/>
                  <a:pt x="1761054" y="5025568"/>
                </a:cubicBezTo>
                <a:lnTo>
                  <a:pt x="1737797" y="5002311"/>
                </a:lnTo>
                <a:cubicBezTo>
                  <a:pt x="1409725" y="4674239"/>
                  <a:pt x="1409725" y="4142329"/>
                  <a:pt x="1737797" y="3814257"/>
                </a:cubicBezTo>
                <a:lnTo>
                  <a:pt x="5287213" y="264840"/>
                </a:lnTo>
                <a:cubicBezTo>
                  <a:pt x="5451251" y="100804"/>
                  <a:pt x="5666245" y="18785"/>
                  <a:pt x="5881240" y="18786"/>
                </a:cubicBezTo>
                <a:close/>
                <a:moveTo>
                  <a:pt x="3421136" y="0"/>
                </a:moveTo>
                <a:lnTo>
                  <a:pt x="5065590" y="0"/>
                </a:lnTo>
                <a:lnTo>
                  <a:pt x="5058235" y="13976"/>
                </a:lnTo>
                <a:cubicBezTo>
                  <a:pt x="5037063" y="46043"/>
                  <a:pt x="5012362" y="76465"/>
                  <a:pt x="4984132" y="104695"/>
                </a:cubicBezTo>
                <a:lnTo>
                  <a:pt x="1478980" y="3609848"/>
                </a:lnTo>
                <a:cubicBezTo>
                  <a:pt x="1253141" y="3835687"/>
                  <a:pt x="886985" y="3835687"/>
                  <a:pt x="661145" y="3609848"/>
                </a:cubicBezTo>
                <a:lnTo>
                  <a:pt x="645135" y="3593837"/>
                </a:lnTo>
                <a:cubicBezTo>
                  <a:pt x="419295" y="3367998"/>
                  <a:pt x="419295" y="3001841"/>
                  <a:pt x="645135" y="2776002"/>
                </a:cubicBezTo>
                <a:close/>
                <a:moveTo>
                  <a:pt x="1313944" y="0"/>
                </a:moveTo>
                <a:lnTo>
                  <a:pt x="2570790" y="0"/>
                </a:lnTo>
                <a:lnTo>
                  <a:pt x="2582282" y="38778"/>
                </a:lnTo>
                <a:cubicBezTo>
                  <a:pt x="2617570" y="221036"/>
                  <a:pt x="2564639" y="416997"/>
                  <a:pt x="2423489" y="558147"/>
                </a:cubicBezTo>
                <a:lnTo>
                  <a:pt x="1003226" y="1978410"/>
                </a:lnTo>
                <a:cubicBezTo>
                  <a:pt x="777387" y="2204250"/>
                  <a:pt x="411230" y="2204250"/>
                  <a:pt x="185390" y="1978410"/>
                </a:cubicBezTo>
                <a:lnTo>
                  <a:pt x="169380" y="1962401"/>
                </a:lnTo>
                <a:cubicBezTo>
                  <a:pt x="-56460" y="1736561"/>
                  <a:pt x="-56460" y="1370404"/>
                  <a:pt x="169380" y="1144565"/>
                </a:cubicBezTo>
                <a:close/>
              </a:path>
            </a:pathLst>
          </a:cu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3006616-36DE-DE0D-250A-A0F1569D8DCB}"/>
              </a:ext>
            </a:extLst>
          </p:cNvPr>
          <p:cNvSpPr txBox="1"/>
          <p:nvPr/>
        </p:nvSpPr>
        <p:spPr>
          <a:xfrm>
            <a:off x="-49048" y="332468"/>
            <a:ext cx="6776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D65D26"/>
                </a:solidFill>
                <a:latin typeface="Inter" panose="02000503000000020004" pitchFamily="2" charset="0"/>
                <a:ea typeface="Inter" panose="02000503000000020004" pitchFamily="2" charset="0"/>
              </a:rPr>
              <a:t>An introduction </a:t>
            </a:r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to Black-Box Simulation Optimization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7079AD-0F79-D2A7-962A-0114B281A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02747" y="-97408"/>
            <a:ext cx="2136272" cy="2216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6260EA-F671-205F-4033-66F045FFEEA9}"/>
              </a:ext>
            </a:extLst>
          </p:cNvPr>
          <p:cNvSpPr txBox="1"/>
          <p:nvPr/>
        </p:nvSpPr>
        <p:spPr>
          <a:xfrm>
            <a:off x="-3702747" y="5657671"/>
            <a:ext cx="2367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A project made for </a:t>
            </a:r>
            <a:r>
              <a:rPr lang="en-US" sz="1200" dirty="0">
                <a:solidFill>
                  <a:srgbClr val="D65D26"/>
                </a:solidFill>
                <a:latin typeface="Montserrat" pitchFamily="2" charset="0"/>
              </a:rPr>
              <a:t>Operations Research</a:t>
            </a:r>
          </a:p>
          <a:p>
            <a:endParaRPr lang="en-US" sz="1200" dirty="0">
              <a:solidFill>
                <a:srgbClr val="D65D26"/>
              </a:solidFill>
              <a:latin typeface="Montserrat" pitchFamily="2" charset="0"/>
            </a:endParaRPr>
          </a:p>
          <a:p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Supervised by Prof. </a:t>
            </a:r>
            <a:r>
              <a:rPr lang="en-US" sz="1200" dirty="0">
                <a:solidFill>
                  <a:srgbClr val="D65D26"/>
                </a:solidFill>
                <a:latin typeface="Montserrat" pitchFamily="2" charset="0"/>
              </a:rPr>
              <a:t>Marwa Jaradat</a:t>
            </a:r>
          </a:p>
          <a:p>
            <a:endParaRPr lang="en-US" sz="1200" dirty="0">
              <a:solidFill>
                <a:srgbClr val="D65D26"/>
              </a:solidFill>
              <a:latin typeface="Montserra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FF92C-D765-A31A-306D-0F0D964907C5}"/>
              </a:ext>
            </a:extLst>
          </p:cNvPr>
          <p:cNvSpPr txBox="1"/>
          <p:nvPr/>
        </p:nvSpPr>
        <p:spPr>
          <a:xfrm>
            <a:off x="-3702747" y="3429000"/>
            <a:ext cx="23674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Project made by:</a:t>
            </a:r>
          </a:p>
          <a:p>
            <a:endParaRPr lang="en-US" sz="1200" dirty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Ahmad Zayed (</a:t>
            </a:r>
            <a:r>
              <a:rPr lang="en-US" sz="1200" dirty="0">
                <a:solidFill>
                  <a:srgbClr val="D65D26"/>
                </a:solidFill>
                <a:latin typeface="Montserrat" pitchFamily="2" charset="0"/>
              </a:rPr>
              <a:t>221983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)</a:t>
            </a:r>
          </a:p>
          <a:p>
            <a:pPr marL="228600" indent="-228600">
              <a:buFontTx/>
              <a:buAutoNum type="arabicPeriod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Leen Joudeh(</a:t>
            </a:r>
            <a:r>
              <a:rPr lang="en-US" sz="1200" dirty="0">
                <a:solidFill>
                  <a:srgbClr val="D65D26"/>
                </a:solidFill>
                <a:latin typeface="Montserrat" pitchFamily="2" charset="0"/>
              </a:rPr>
              <a:t>221952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)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Faisal Naem (</a:t>
            </a:r>
            <a:r>
              <a:rPr lang="en-US" sz="1200" dirty="0">
                <a:solidFill>
                  <a:srgbClr val="D65D26"/>
                </a:solidFill>
                <a:latin typeface="Montserrat" pitchFamily="2" charset="0"/>
              </a:rPr>
              <a:t>221983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)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Tala Al-Akhras (</a:t>
            </a:r>
            <a:r>
              <a:rPr lang="en-US" sz="1200" dirty="0">
                <a:solidFill>
                  <a:srgbClr val="D65D26"/>
                </a:solidFill>
                <a:latin typeface="Montserrat" pitchFamily="2" charset="0"/>
              </a:rPr>
              <a:t>231353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)</a:t>
            </a:r>
          </a:p>
          <a:p>
            <a:endParaRPr lang="en-US" sz="1200" dirty="0">
              <a:solidFill>
                <a:srgbClr val="D65D26"/>
              </a:solidFill>
              <a:latin typeface="Montserrat" pitchFamily="2" charset="0"/>
            </a:endParaRPr>
          </a:p>
          <a:p>
            <a:endParaRPr lang="en-US" sz="1200" dirty="0">
              <a:solidFill>
                <a:srgbClr val="D65D26"/>
              </a:solidFill>
              <a:latin typeface="Montserrat" pitchFamily="2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2DF0FA-9BE9-D6B7-FF45-CBA1C3AEB8A0}"/>
              </a:ext>
            </a:extLst>
          </p:cNvPr>
          <p:cNvSpPr/>
          <p:nvPr/>
        </p:nvSpPr>
        <p:spPr>
          <a:xfrm>
            <a:off x="558800" y="2452020"/>
            <a:ext cx="2146300" cy="197514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D65D26"/>
                </a:solidFill>
                <a:latin typeface="Montserrat" pitchFamily="2" charset="0"/>
              </a:rPr>
              <a:t>Part 1: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rPr>
              <a:t>Problem Framing: Black-Box Simulation Optimization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9257D52-8D1C-69CA-B943-AA70EDEB9090}"/>
              </a:ext>
            </a:extLst>
          </p:cNvPr>
          <p:cNvSpPr/>
          <p:nvPr/>
        </p:nvSpPr>
        <p:spPr>
          <a:xfrm>
            <a:off x="3022600" y="2452020"/>
            <a:ext cx="2247900" cy="197514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D65D26"/>
                </a:solidFill>
                <a:latin typeface="Montserrat" pitchFamily="2" charset="0"/>
              </a:rPr>
              <a:t>Part 2: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rPr>
              <a:t>Core OR challenge: optimizing under noise and limited budget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A3FE18-768B-DA55-1E9F-672AEB1F663D}"/>
              </a:ext>
            </a:extLst>
          </p:cNvPr>
          <p:cNvSpPr/>
          <p:nvPr/>
        </p:nvSpPr>
        <p:spPr>
          <a:xfrm>
            <a:off x="615122" y="4533900"/>
            <a:ext cx="2242378" cy="2057971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D65D26"/>
                </a:solidFill>
                <a:latin typeface="Montserrat" pitchFamily="2" charset="0"/>
              </a:rPr>
              <a:t>Part 3: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rPr>
              <a:t>Demonstration:</a:t>
            </a:r>
          </a:p>
          <a:p>
            <a:pPr algn="ctr"/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rPr>
              <a:t>optimization through simulation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9FE931-A27B-CAD7-0837-72918D0BBB3A}"/>
              </a:ext>
            </a:extLst>
          </p:cNvPr>
          <p:cNvSpPr/>
          <p:nvPr/>
        </p:nvSpPr>
        <p:spPr>
          <a:xfrm>
            <a:off x="3028122" y="4533900"/>
            <a:ext cx="2242378" cy="2057971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D65D26"/>
                </a:solidFill>
                <a:latin typeface="Montserrat" pitchFamily="2" charset="0"/>
              </a:rPr>
              <a:t>Part 4: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rPr>
              <a:t>Implications:</a:t>
            </a:r>
          </a:p>
          <a:p>
            <a:pPr algn="ctr"/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rPr>
              <a:t>applications and key takeaways</a:t>
            </a:r>
          </a:p>
        </p:txBody>
      </p:sp>
    </p:spTree>
    <p:extLst>
      <p:ext uri="{BB962C8B-B14F-4D97-AF65-F5344CB8AC3E}">
        <p14:creationId xmlns:p14="http://schemas.microsoft.com/office/powerpoint/2010/main" val="13272620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bg2">
                <a:lumMod val="25000"/>
              </a:schemeClr>
            </a:gs>
            <a:gs pos="78000">
              <a:schemeClr val="tx1">
                <a:lumMod val="85000"/>
                <a:lumOff val="1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FB8BF-6C59-E7DE-B5FF-BC2F51E8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40BC3011-C918-2796-0C7A-F36518FCE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17"/>
          <a:stretch>
            <a:fillRect/>
          </a:stretch>
        </p:blipFill>
        <p:spPr>
          <a:xfrm>
            <a:off x="4559473" y="-866155"/>
            <a:ext cx="7632527" cy="7724155"/>
          </a:xfrm>
          <a:custGeom>
            <a:avLst/>
            <a:gdLst>
              <a:gd name="connsiteX0" fmla="*/ 3656412 w 6776647"/>
              <a:gd name="connsiteY0" fmla="*/ 5054965 h 6858000"/>
              <a:gd name="connsiteX1" fmla="*/ 4113979 w 6776647"/>
              <a:gd name="connsiteY1" fmla="*/ 5244495 h 6858000"/>
              <a:gd name="connsiteX2" fmla="*/ 4131893 w 6776647"/>
              <a:gd name="connsiteY2" fmla="*/ 5262409 h 6858000"/>
              <a:gd name="connsiteX3" fmla="*/ 4131892 w 6776647"/>
              <a:gd name="connsiteY3" fmla="*/ 6177545 h 6858000"/>
              <a:gd name="connsiteX4" fmla="*/ 4043288 w 6776647"/>
              <a:gd name="connsiteY4" fmla="*/ 6266149 h 6858000"/>
              <a:gd name="connsiteX5" fmla="*/ 3128155 w 6776647"/>
              <a:gd name="connsiteY5" fmla="*/ 6266149 h 6858000"/>
              <a:gd name="connsiteX6" fmla="*/ 3110241 w 6776647"/>
              <a:gd name="connsiteY6" fmla="*/ 6248235 h 6858000"/>
              <a:gd name="connsiteX7" fmla="*/ 3110240 w 6776647"/>
              <a:gd name="connsiteY7" fmla="*/ 5333099 h 6858000"/>
              <a:gd name="connsiteX8" fmla="*/ 3198844 w 6776647"/>
              <a:gd name="connsiteY8" fmla="*/ 5244495 h 6858000"/>
              <a:gd name="connsiteX9" fmla="*/ 3656412 w 6776647"/>
              <a:gd name="connsiteY9" fmla="*/ 5054965 h 6858000"/>
              <a:gd name="connsiteX10" fmla="*/ 6776647 w 6776647"/>
              <a:gd name="connsiteY10" fmla="*/ 4307086 h 6858000"/>
              <a:gd name="connsiteX11" fmla="*/ 6776647 w 6776647"/>
              <a:gd name="connsiteY11" fmla="*/ 5306043 h 6858000"/>
              <a:gd name="connsiteX12" fmla="*/ 5224689 w 6776647"/>
              <a:gd name="connsiteY12" fmla="*/ 6858000 h 6858000"/>
              <a:gd name="connsiteX13" fmla="*/ 4225733 w 6776647"/>
              <a:gd name="connsiteY13" fmla="*/ 6858000 h 6858000"/>
              <a:gd name="connsiteX14" fmla="*/ 6776647 w 6776647"/>
              <a:gd name="connsiteY14" fmla="*/ 1775039 h 6858000"/>
              <a:gd name="connsiteX15" fmla="*/ 6776647 w 6776647"/>
              <a:gd name="connsiteY15" fmla="*/ 3615452 h 6858000"/>
              <a:gd name="connsiteX16" fmla="*/ 5493702 w 6776647"/>
              <a:gd name="connsiteY16" fmla="*/ 4898396 h 6858000"/>
              <a:gd name="connsiteX17" fmla="*/ 4578567 w 6776647"/>
              <a:gd name="connsiteY17" fmla="*/ 4898396 h 6858000"/>
              <a:gd name="connsiteX18" fmla="*/ 4560653 w 6776647"/>
              <a:gd name="connsiteY18" fmla="*/ 4880482 h 6858000"/>
              <a:gd name="connsiteX19" fmla="*/ 4560653 w 6776647"/>
              <a:gd name="connsiteY19" fmla="*/ 3965347 h 6858000"/>
              <a:gd name="connsiteX20" fmla="*/ 6660166 w 6776647"/>
              <a:gd name="connsiteY20" fmla="*/ 1865835 h 6858000"/>
              <a:gd name="connsiteX21" fmla="*/ 6761678 w 6776647"/>
              <a:gd name="connsiteY21" fmla="*/ 1782916 h 6858000"/>
              <a:gd name="connsiteX22" fmla="*/ 5881240 w 6776647"/>
              <a:gd name="connsiteY22" fmla="*/ 18786 h 6858000"/>
              <a:gd name="connsiteX23" fmla="*/ 6475267 w 6776647"/>
              <a:gd name="connsiteY23" fmla="*/ 264840 h 6858000"/>
              <a:gd name="connsiteX24" fmla="*/ 6498525 w 6776647"/>
              <a:gd name="connsiteY24" fmla="*/ 288097 h 6858000"/>
              <a:gd name="connsiteX25" fmla="*/ 6498525 w 6776647"/>
              <a:gd name="connsiteY25" fmla="*/ 1476151 h 6858000"/>
              <a:gd name="connsiteX26" fmla="*/ 2949108 w 6776647"/>
              <a:gd name="connsiteY26" fmla="*/ 5025568 h 6858000"/>
              <a:gd name="connsiteX27" fmla="*/ 1761054 w 6776647"/>
              <a:gd name="connsiteY27" fmla="*/ 5025568 h 6858000"/>
              <a:gd name="connsiteX28" fmla="*/ 1737797 w 6776647"/>
              <a:gd name="connsiteY28" fmla="*/ 5002311 h 6858000"/>
              <a:gd name="connsiteX29" fmla="*/ 1737797 w 6776647"/>
              <a:gd name="connsiteY29" fmla="*/ 3814257 h 6858000"/>
              <a:gd name="connsiteX30" fmla="*/ 5287213 w 6776647"/>
              <a:gd name="connsiteY30" fmla="*/ 264840 h 6858000"/>
              <a:gd name="connsiteX31" fmla="*/ 5881240 w 6776647"/>
              <a:gd name="connsiteY31" fmla="*/ 18786 h 6858000"/>
              <a:gd name="connsiteX32" fmla="*/ 3421136 w 6776647"/>
              <a:gd name="connsiteY32" fmla="*/ 0 h 6858000"/>
              <a:gd name="connsiteX33" fmla="*/ 5065590 w 6776647"/>
              <a:gd name="connsiteY33" fmla="*/ 0 h 6858000"/>
              <a:gd name="connsiteX34" fmla="*/ 5058235 w 6776647"/>
              <a:gd name="connsiteY34" fmla="*/ 13976 h 6858000"/>
              <a:gd name="connsiteX35" fmla="*/ 4984132 w 6776647"/>
              <a:gd name="connsiteY35" fmla="*/ 104695 h 6858000"/>
              <a:gd name="connsiteX36" fmla="*/ 1478980 w 6776647"/>
              <a:gd name="connsiteY36" fmla="*/ 3609848 h 6858000"/>
              <a:gd name="connsiteX37" fmla="*/ 661145 w 6776647"/>
              <a:gd name="connsiteY37" fmla="*/ 3609848 h 6858000"/>
              <a:gd name="connsiteX38" fmla="*/ 645135 w 6776647"/>
              <a:gd name="connsiteY38" fmla="*/ 3593837 h 6858000"/>
              <a:gd name="connsiteX39" fmla="*/ 645135 w 6776647"/>
              <a:gd name="connsiteY39" fmla="*/ 2776002 h 6858000"/>
              <a:gd name="connsiteX40" fmla="*/ 1313944 w 6776647"/>
              <a:gd name="connsiteY40" fmla="*/ 0 h 6858000"/>
              <a:gd name="connsiteX41" fmla="*/ 2570790 w 6776647"/>
              <a:gd name="connsiteY41" fmla="*/ 0 h 6858000"/>
              <a:gd name="connsiteX42" fmla="*/ 2582282 w 6776647"/>
              <a:gd name="connsiteY42" fmla="*/ 38778 h 6858000"/>
              <a:gd name="connsiteX43" fmla="*/ 2423489 w 6776647"/>
              <a:gd name="connsiteY43" fmla="*/ 558147 h 6858000"/>
              <a:gd name="connsiteX44" fmla="*/ 1003226 w 6776647"/>
              <a:gd name="connsiteY44" fmla="*/ 1978410 h 6858000"/>
              <a:gd name="connsiteX45" fmla="*/ 185390 w 6776647"/>
              <a:gd name="connsiteY45" fmla="*/ 1978410 h 6858000"/>
              <a:gd name="connsiteX46" fmla="*/ 169380 w 6776647"/>
              <a:gd name="connsiteY46" fmla="*/ 1962401 h 6858000"/>
              <a:gd name="connsiteX47" fmla="*/ 169380 w 6776647"/>
              <a:gd name="connsiteY47" fmla="*/ 11445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76647" h="6858000">
                <a:moveTo>
                  <a:pt x="3656412" y="5054965"/>
                </a:moveTo>
                <a:cubicBezTo>
                  <a:pt x="3822019" y="5054965"/>
                  <a:pt x="3987625" y="5118142"/>
                  <a:pt x="4113979" y="5244495"/>
                </a:cubicBezTo>
                <a:lnTo>
                  <a:pt x="4131893" y="5262409"/>
                </a:lnTo>
                <a:cubicBezTo>
                  <a:pt x="4384601" y="5515117"/>
                  <a:pt x="4384601" y="5924838"/>
                  <a:pt x="4131892" y="6177545"/>
                </a:cubicBezTo>
                <a:lnTo>
                  <a:pt x="4043288" y="6266149"/>
                </a:lnTo>
                <a:cubicBezTo>
                  <a:pt x="3790582" y="6518855"/>
                  <a:pt x="3380861" y="6518855"/>
                  <a:pt x="3128155" y="6266149"/>
                </a:cubicBezTo>
                <a:lnTo>
                  <a:pt x="3110241" y="6248235"/>
                </a:lnTo>
                <a:cubicBezTo>
                  <a:pt x="2857533" y="5995527"/>
                  <a:pt x="2857533" y="5585807"/>
                  <a:pt x="3110240" y="5333099"/>
                </a:cubicBezTo>
                <a:lnTo>
                  <a:pt x="3198844" y="5244495"/>
                </a:lnTo>
                <a:cubicBezTo>
                  <a:pt x="3325198" y="5118143"/>
                  <a:pt x="3490804" y="5054965"/>
                  <a:pt x="3656412" y="5054965"/>
                </a:cubicBezTo>
                <a:close/>
                <a:moveTo>
                  <a:pt x="6776647" y="4307086"/>
                </a:moveTo>
                <a:lnTo>
                  <a:pt x="6776647" y="5306043"/>
                </a:lnTo>
                <a:lnTo>
                  <a:pt x="5224689" y="6858000"/>
                </a:lnTo>
                <a:lnTo>
                  <a:pt x="4225733" y="6858000"/>
                </a:lnTo>
                <a:close/>
                <a:moveTo>
                  <a:pt x="6776647" y="1775039"/>
                </a:moveTo>
                <a:lnTo>
                  <a:pt x="6776647" y="3615452"/>
                </a:lnTo>
                <a:lnTo>
                  <a:pt x="5493702" y="4898396"/>
                </a:lnTo>
                <a:cubicBezTo>
                  <a:pt x="5240995" y="5151104"/>
                  <a:pt x="4831276" y="5151103"/>
                  <a:pt x="4578567" y="4898396"/>
                </a:cubicBezTo>
                <a:lnTo>
                  <a:pt x="4560653" y="4880482"/>
                </a:lnTo>
                <a:cubicBezTo>
                  <a:pt x="4307946" y="4627775"/>
                  <a:pt x="4307946" y="4218054"/>
                  <a:pt x="4560653" y="3965347"/>
                </a:cubicBezTo>
                <a:lnTo>
                  <a:pt x="6660166" y="1865835"/>
                </a:lnTo>
                <a:cubicBezTo>
                  <a:pt x="6691755" y="1834247"/>
                  <a:pt x="6725796" y="1806607"/>
                  <a:pt x="6761678" y="1782916"/>
                </a:cubicBezTo>
                <a:close/>
                <a:moveTo>
                  <a:pt x="5881240" y="18786"/>
                </a:moveTo>
                <a:cubicBezTo>
                  <a:pt x="6096236" y="18786"/>
                  <a:pt x="6311231" y="100804"/>
                  <a:pt x="6475267" y="264840"/>
                </a:cubicBezTo>
                <a:lnTo>
                  <a:pt x="6498525" y="288097"/>
                </a:lnTo>
                <a:cubicBezTo>
                  <a:pt x="6826598" y="616169"/>
                  <a:pt x="6826598" y="1148079"/>
                  <a:pt x="6498525" y="1476151"/>
                </a:cubicBezTo>
                <a:lnTo>
                  <a:pt x="2949108" y="5025568"/>
                </a:lnTo>
                <a:cubicBezTo>
                  <a:pt x="2621036" y="5353640"/>
                  <a:pt x="2089127" y="5353640"/>
                  <a:pt x="1761054" y="5025568"/>
                </a:cubicBezTo>
                <a:lnTo>
                  <a:pt x="1737797" y="5002311"/>
                </a:lnTo>
                <a:cubicBezTo>
                  <a:pt x="1409725" y="4674239"/>
                  <a:pt x="1409725" y="4142329"/>
                  <a:pt x="1737797" y="3814257"/>
                </a:cubicBezTo>
                <a:lnTo>
                  <a:pt x="5287213" y="264840"/>
                </a:lnTo>
                <a:cubicBezTo>
                  <a:pt x="5451251" y="100804"/>
                  <a:pt x="5666245" y="18785"/>
                  <a:pt x="5881240" y="18786"/>
                </a:cubicBezTo>
                <a:close/>
                <a:moveTo>
                  <a:pt x="3421136" y="0"/>
                </a:moveTo>
                <a:lnTo>
                  <a:pt x="5065590" y="0"/>
                </a:lnTo>
                <a:lnTo>
                  <a:pt x="5058235" y="13976"/>
                </a:lnTo>
                <a:cubicBezTo>
                  <a:pt x="5037063" y="46043"/>
                  <a:pt x="5012362" y="76465"/>
                  <a:pt x="4984132" y="104695"/>
                </a:cubicBezTo>
                <a:lnTo>
                  <a:pt x="1478980" y="3609848"/>
                </a:lnTo>
                <a:cubicBezTo>
                  <a:pt x="1253141" y="3835687"/>
                  <a:pt x="886985" y="3835687"/>
                  <a:pt x="661145" y="3609848"/>
                </a:cubicBezTo>
                <a:lnTo>
                  <a:pt x="645135" y="3593837"/>
                </a:lnTo>
                <a:cubicBezTo>
                  <a:pt x="419295" y="3367998"/>
                  <a:pt x="419295" y="3001841"/>
                  <a:pt x="645135" y="2776002"/>
                </a:cubicBezTo>
                <a:close/>
                <a:moveTo>
                  <a:pt x="1313944" y="0"/>
                </a:moveTo>
                <a:lnTo>
                  <a:pt x="2570790" y="0"/>
                </a:lnTo>
                <a:lnTo>
                  <a:pt x="2582282" y="38778"/>
                </a:lnTo>
                <a:cubicBezTo>
                  <a:pt x="2617570" y="221036"/>
                  <a:pt x="2564639" y="416997"/>
                  <a:pt x="2423489" y="558147"/>
                </a:cubicBezTo>
                <a:lnTo>
                  <a:pt x="1003226" y="1978410"/>
                </a:lnTo>
                <a:cubicBezTo>
                  <a:pt x="777387" y="2204250"/>
                  <a:pt x="411230" y="2204250"/>
                  <a:pt x="185390" y="1978410"/>
                </a:cubicBezTo>
                <a:lnTo>
                  <a:pt x="169380" y="1962401"/>
                </a:lnTo>
                <a:cubicBezTo>
                  <a:pt x="-56460" y="1736561"/>
                  <a:pt x="-56460" y="1370404"/>
                  <a:pt x="169380" y="1144565"/>
                </a:cubicBezTo>
                <a:close/>
              </a:path>
            </a:pathLst>
          </a:cu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91AEC87-B80D-BE64-4641-27D97805C02A}"/>
              </a:ext>
            </a:extLst>
          </p:cNvPr>
          <p:cNvSpPr txBox="1"/>
          <p:nvPr/>
        </p:nvSpPr>
        <p:spPr>
          <a:xfrm>
            <a:off x="-683224" y="133620"/>
            <a:ext cx="67766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D65D26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1: </a:t>
            </a:r>
            <a:r>
              <a:rPr lang="en-US" sz="3600" dirty="0">
                <a:solidFill>
                  <a:schemeClr val="bg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Problem Framing: Black-Box Simulation Optimization </a:t>
            </a:r>
          </a:p>
        </p:txBody>
      </p:sp>
    </p:spTree>
    <p:extLst>
      <p:ext uri="{BB962C8B-B14F-4D97-AF65-F5344CB8AC3E}">
        <p14:creationId xmlns:p14="http://schemas.microsoft.com/office/powerpoint/2010/main" val="1366942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bg2">
                <a:lumMod val="25000"/>
              </a:schemeClr>
            </a:gs>
            <a:gs pos="78000">
              <a:schemeClr val="tx1">
                <a:lumMod val="85000"/>
                <a:lumOff val="1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1D78F-3021-657E-30E1-AA89AC146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741E462C-BD01-6FA1-0106-163B4DC08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17"/>
          <a:stretch>
            <a:fillRect/>
          </a:stretch>
        </p:blipFill>
        <p:spPr>
          <a:xfrm>
            <a:off x="4559473" y="-866155"/>
            <a:ext cx="7632527" cy="7724155"/>
          </a:xfrm>
          <a:custGeom>
            <a:avLst/>
            <a:gdLst>
              <a:gd name="connsiteX0" fmla="*/ 3656412 w 6776647"/>
              <a:gd name="connsiteY0" fmla="*/ 5054965 h 6858000"/>
              <a:gd name="connsiteX1" fmla="*/ 4113979 w 6776647"/>
              <a:gd name="connsiteY1" fmla="*/ 5244495 h 6858000"/>
              <a:gd name="connsiteX2" fmla="*/ 4131893 w 6776647"/>
              <a:gd name="connsiteY2" fmla="*/ 5262409 h 6858000"/>
              <a:gd name="connsiteX3" fmla="*/ 4131892 w 6776647"/>
              <a:gd name="connsiteY3" fmla="*/ 6177545 h 6858000"/>
              <a:gd name="connsiteX4" fmla="*/ 4043288 w 6776647"/>
              <a:gd name="connsiteY4" fmla="*/ 6266149 h 6858000"/>
              <a:gd name="connsiteX5" fmla="*/ 3128155 w 6776647"/>
              <a:gd name="connsiteY5" fmla="*/ 6266149 h 6858000"/>
              <a:gd name="connsiteX6" fmla="*/ 3110241 w 6776647"/>
              <a:gd name="connsiteY6" fmla="*/ 6248235 h 6858000"/>
              <a:gd name="connsiteX7" fmla="*/ 3110240 w 6776647"/>
              <a:gd name="connsiteY7" fmla="*/ 5333099 h 6858000"/>
              <a:gd name="connsiteX8" fmla="*/ 3198844 w 6776647"/>
              <a:gd name="connsiteY8" fmla="*/ 5244495 h 6858000"/>
              <a:gd name="connsiteX9" fmla="*/ 3656412 w 6776647"/>
              <a:gd name="connsiteY9" fmla="*/ 5054965 h 6858000"/>
              <a:gd name="connsiteX10" fmla="*/ 6776647 w 6776647"/>
              <a:gd name="connsiteY10" fmla="*/ 4307086 h 6858000"/>
              <a:gd name="connsiteX11" fmla="*/ 6776647 w 6776647"/>
              <a:gd name="connsiteY11" fmla="*/ 5306043 h 6858000"/>
              <a:gd name="connsiteX12" fmla="*/ 5224689 w 6776647"/>
              <a:gd name="connsiteY12" fmla="*/ 6858000 h 6858000"/>
              <a:gd name="connsiteX13" fmla="*/ 4225733 w 6776647"/>
              <a:gd name="connsiteY13" fmla="*/ 6858000 h 6858000"/>
              <a:gd name="connsiteX14" fmla="*/ 6776647 w 6776647"/>
              <a:gd name="connsiteY14" fmla="*/ 1775039 h 6858000"/>
              <a:gd name="connsiteX15" fmla="*/ 6776647 w 6776647"/>
              <a:gd name="connsiteY15" fmla="*/ 3615452 h 6858000"/>
              <a:gd name="connsiteX16" fmla="*/ 5493702 w 6776647"/>
              <a:gd name="connsiteY16" fmla="*/ 4898396 h 6858000"/>
              <a:gd name="connsiteX17" fmla="*/ 4578567 w 6776647"/>
              <a:gd name="connsiteY17" fmla="*/ 4898396 h 6858000"/>
              <a:gd name="connsiteX18" fmla="*/ 4560653 w 6776647"/>
              <a:gd name="connsiteY18" fmla="*/ 4880482 h 6858000"/>
              <a:gd name="connsiteX19" fmla="*/ 4560653 w 6776647"/>
              <a:gd name="connsiteY19" fmla="*/ 3965347 h 6858000"/>
              <a:gd name="connsiteX20" fmla="*/ 6660166 w 6776647"/>
              <a:gd name="connsiteY20" fmla="*/ 1865835 h 6858000"/>
              <a:gd name="connsiteX21" fmla="*/ 6761678 w 6776647"/>
              <a:gd name="connsiteY21" fmla="*/ 1782916 h 6858000"/>
              <a:gd name="connsiteX22" fmla="*/ 5881240 w 6776647"/>
              <a:gd name="connsiteY22" fmla="*/ 18786 h 6858000"/>
              <a:gd name="connsiteX23" fmla="*/ 6475267 w 6776647"/>
              <a:gd name="connsiteY23" fmla="*/ 264840 h 6858000"/>
              <a:gd name="connsiteX24" fmla="*/ 6498525 w 6776647"/>
              <a:gd name="connsiteY24" fmla="*/ 288097 h 6858000"/>
              <a:gd name="connsiteX25" fmla="*/ 6498525 w 6776647"/>
              <a:gd name="connsiteY25" fmla="*/ 1476151 h 6858000"/>
              <a:gd name="connsiteX26" fmla="*/ 2949108 w 6776647"/>
              <a:gd name="connsiteY26" fmla="*/ 5025568 h 6858000"/>
              <a:gd name="connsiteX27" fmla="*/ 1761054 w 6776647"/>
              <a:gd name="connsiteY27" fmla="*/ 5025568 h 6858000"/>
              <a:gd name="connsiteX28" fmla="*/ 1737797 w 6776647"/>
              <a:gd name="connsiteY28" fmla="*/ 5002311 h 6858000"/>
              <a:gd name="connsiteX29" fmla="*/ 1737797 w 6776647"/>
              <a:gd name="connsiteY29" fmla="*/ 3814257 h 6858000"/>
              <a:gd name="connsiteX30" fmla="*/ 5287213 w 6776647"/>
              <a:gd name="connsiteY30" fmla="*/ 264840 h 6858000"/>
              <a:gd name="connsiteX31" fmla="*/ 5881240 w 6776647"/>
              <a:gd name="connsiteY31" fmla="*/ 18786 h 6858000"/>
              <a:gd name="connsiteX32" fmla="*/ 3421136 w 6776647"/>
              <a:gd name="connsiteY32" fmla="*/ 0 h 6858000"/>
              <a:gd name="connsiteX33" fmla="*/ 5065590 w 6776647"/>
              <a:gd name="connsiteY33" fmla="*/ 0 h 6858000"/>
              <a:gd name="connsiteX34" fmla="*/ 5058235 w 6776647"/>
              <a:gd name="connsiteY34" fmla="*/ 13976 h 6858000"/>
              <a:gd name="connsiteX35" fmla="*/ 4984132 w 6776647"/>
              <a:gd name="connsiteY35" fmla="*/ 104695 h 6858000"/>
              <a:gd name="connsiteX36" fmla="*/ 1478980 w 6776647"/>
              <a:gd name="connsiteY36" fmla="*/ 3609848 h 6858000"/>
              <a:gd name="connsiteX37" fmla="*/ 661145 w 6776647"/>
              <a:gd name="connsiteY37" fmla="*/ 3609848 h 6858000"/>
              <a:gd name="connsiteX38" fmla="*/ 645135 w 6776647"/>
              <a:gd name="connsiteY38" fmla="*/ 3593837 h 6858000"/>
              <a:gd name="connsiteX39" fmla="*/ 645135 w 6776647"/>
              <a:gd name="connsiteY39" fmla="*/ 2776002 h 6858000"/>
              <a:gd name="connsiteX40" fmla="*/ 1313944 w 6776647"/>
              <a:gd name="connsiteY40" fmla="*/ 0 h 6858000"/>
              <a:gd name="connsiteX41" fmla="*/ 2570790 w 6776647"/>
              <a:gd name="connsiteY41" fmla="*/ 0 h 6858000"/>
              <a:gd name="connsiteX42" fmla="*/ 2582282 w 6776647"/>
              <a:gd name="connsiteY42" fmla="*/ 38778 h 6858000"/>
              <a:gd name="connsiteX43" fmla="*/ 2423489 w 6776647"/>
              <a:gd name="connsiteY43" fmla="*/ 558147 h 6858000"/>
              <a:gd name="connsiteX44" fmla="*/ 1003226 w 6776647"/>
              <a:gd name="connsiteY44" fmla="*/ 1978410 h 6858000"/>
              <a:gd name="connsiteX45" fmla="*/ 185390 w 6776647"/>
              <a:gd name="connsiteY45" fmla="*/ 1978410 h 6858000"/>
              <a:gd name="connsiteX46" fmla="*/ 169380 w 6776647"/>
              <a:gd name="connsiteY46" fmla="*/ 1962401 h 6858000"/>
              <a:gd name="connsiteX47" fmla="*/ 169380 w 6776647"/>
              <a:gd name="connsiteY47" fmla="*/ 11445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76647" h="6858000">
                <a:moveTo>
                  <a:pt x="3656412" y="5054965"/>
                </a:moveTo>
                <a:cubicBezTo>
                  <a:pt x="3822019" y="5054965"/>
                  <a:pt x="3987625" y="5118142"/>
                  <a:pt x="4113979" y="5244495"/>
                </a:cubicBezTo>
                <a:lnTo>
                  <a:pt x="4131893" y="5262409"/>
                </a:lnTo>
                <a:cubicBezTo>
                  <a:pt x="4384601" y="5515117"/>
                  <a:pt x="4384601" y="5924838"/>
                  <a:pt x="4131892" y="6177545"/>
                </a:cubicBezTo>
                <a:lnTo>
                  <a:pt x="4043288" y="6266149"/>
                </a:lnTo>
                <a:cubicBezTo>
                  <a:pt x="3790582" y="6518855"/>
                  <a:pt x="3380861" y="6518855"/>
                  <a:pt x="3128155" y="6266149"/>
                </a:cubicBezTo>
                <a:lnTo>
                  <a:pt x="3110241" y="6248235"/>
                </a:lnTo>
                <a:cubicBezTo>
                  <a:pt x="2857533" y="5995527"/>
                  <a:pt x="2857533" y="5585807"/>
                  <a:pt x="3110240" y="5333099"/>
                </a:cubicBezTo>
                <a:lnTo>
                  <a:pt x="3198844" y="5244495"/>
                </a:lnTo>
                <a:cubicBezTo>
                  <a:pt x="3325198" y="5118143"/>
                  <a:pt x="3490804" y="5054965"/>
                  <a:pt x="3656412" y="5054965"/>
                </a:cubicBezTo>
                <a:close/>
                <a:moveTo>
                  <a:pt x="6776647" y="4307086"/>
                </a:moveTo>
                <a:lnTo>
                  <a:pt x="6776647" y="5306043"/>
                </a:lnTo>
                <a:lnTo>
                  <a:pt x="5224689" y="6858000"/>
                </a:lnTo>
                <a:lnTo>
                  <a:pt x="4225733" y="6858000"/>
                </a:lnTo>
                <a:close/>
                <a:moveTo>
                  <a:pt x="6776647" y="1775039"/>
                </a:moveTo>
                <a:lnTo>
                  <a:pt x="6776647" y="3615452"/>
                </a:lnTo>
                <a:lnTo>
                  <a:pt x="5493702" y="4898396"/>
                </a:lnTo>
                <a:cubicBezTo>
                  <a:pt x="5240995" y="5151104"/>
                  <a:pt x="4831276" y="5151103"/>
                  <a:pt x="4578567" y="4898396"/>
                </a:cubicBezTo>
                <a:lnTo>
                  <a:pt x="4560653" y="4880482"/>
                </a:lnTo>
                <a:cubicBezTo>
                  <a:pt x="4307946" y="4627775"/>
                  <a:pt x="4307946" y="4218054"/>
                  <a:pt x="4560653" y="3965347"/>
                </a:cubicBezTo>
                <a:lnTo>
                  <a:pt x="6660166" y="1865835"/>
                </a:lnTo>
                <a:cubicBezTo>
                  <a:pt x="6691755" y="1834247"/>
                  <a:pt x="6725796" y="1806607"/>
                  <a:pt x="6761678" y="1782916"/>
                </a:cubicBezTo>
                <a:close/>
                <a:moveTo>
                  <a:pt x="5881240" y="18786"/>
                </a:moveTo>
                <a:cubicBezTo>
                  <a:pt x="6096236" y="18786"/>
                  <a:pt x="6311231" y="100804"/>
                  <a:pt x="6475267" y="264840"/>
                </a:cubicBezTo>
                <a:lnTo>
                  <a:pt x="6498525" y="288097"/>
                </a:lnTo>
                <a:cubicBezTo>
                  <a:pt x="6826598" y="616169"/>
                  <a:pt x="6826598" y="1148079"/>
                  <a:pt x="6498525" y="1476151"/>
                </a:cubicBezTo>
                <a:lnTo>
                  <a:pt x="2949108" y="5025568"/>
                </a:lnTo>
                <a:cubicBezTo>
                  <a:pt x="2621036" y="5353640"/>
                  <a:pt x="2089127" y="5353640"/>
                  <a:pt x="1761054" y="5025568"/>
                </a:cubicBezTo>
                <a:lnTo>
                  <a:pt x="1737797" y="5002311"/>
                </a:lnTo>
                <a:cubicBezTo>
                  <a:pt x="1409725" y="4674239"/>
                  <a:pt x="1409725" y="4142329"/>
                  <a:pt x="1737797" y="3814257"/>
                </a:cubicBezTo>
                <a:lnTo>
                  <a:pt x="5287213" y="264840"/>
                </a:lnTo>
                <a:cubicBezTo>
                  <a:pt x="5451251" y="100804"/>
                  <a:pt x="5666245" y="18785"/>
                  <a:pt x="5881240" y="18786"/>
                </a:cubicBezTo>
                <a:close/>
                <a:moveTo>
                  <a:pt x="3421136" y="0"/>
                </a:moveTo>
                <a:lnTo>
                  <a:pt x="5065590" y="0"/>
                </a:lnTo>
                <a:lnTo>
                  <a:pt x="5058235" y="13976"/>
                </a:lnTo>
                <a:cubicBezTo>
                  <a:pt x="5037063" y="46043"/>
                  <a:pt x="5012362" y="76465"/>
                  <a:pt x="4984132" y="104695"/>
                </a:cubicBezTo>
                <a:lnTo>
                  <a:pt x="1478980" y="3609848"/>
                </a:lnTo>
                <a:cubicBezTo>
                  <a:pt x="1253141" y="3835687"/>
                  <a:pt x="886985" y="3835687"/>
                  <a:pt x="661145" y="3609848"/>
                </a:cubicBezTo>
                <a:lnTo>
                  <a:pt x="645135" y="3593837"/>
                </a:lnTo>
                <a:cubicBezTo>
                  <a:pt x="419295" y="3367998"/>
                  <a:pt x="419295" y="3001841"/>
                  <a:pt x="645135" y="2776002"/>
                </a:cubicBezTo>
                <a:close/>
                <a:moveTo>
                  <a:pt x="1313944" y="0"/>
                </a:moveTo>
                <a:lnTo>
                  <a:pt x="2570790" y="0"/>
                </a:lnTo>
                <a:lnTo>
                  <a:pt x="2582282" y="38778"/>
                </a:lnTo>
                <a:cubicBezTo>
                  <a:pt x="2617570" y="221036"/>
                  <a:pt x="2564639" y="416997"/>
                  <a:pt x="2423489" y="558147"/>
                </a:cubicBezTo>
                <a:lnTo>
                  <a:pt x="1003226" y="1978410"/>
                </a:lnTo>
                <a:cubicBezTo>
                  <a:pt x="777387" y="2204250"/>
                  <a:pt x="411230" y="2204250"/>
                  <a:pt x="185390" y="1978410"/>
                </a:cubicBezTo>
                <a:lnTo>
                  <a:pt x="169380" y="1962401"/>
                </a:lnTo>
                <a:cubicBezTo>
                  <a:pt x="-56460" y="1736561"/>
                  <a:pt x="-56460" y="1370404"/>
                  <a:pt x="169380" y="1144565"/>
                </a:cubicBezTo>
                <a:close/>
              </a:path>
            </a:pathLst>
          </a:cu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A7BE123-0B63-DB97-8228-544737CB925B}"/>
              </a:ext>
            </a:extLst>
          </p:cNvPr>
          <p:cNvSpPr txBox="1"/>
          <p:nvPr/>
        </p:nvSpPr>
        <p:spPr>
          <a:xfrm>
            <a:off x="-321274" y="190770"/>
            <a:ext cx="67766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D65D26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2: </a:t>
            </a:r>
            <a:r>
              <a:rPr lang="en-US" sz="3600" dirty="0">
                <a:solidFill>
                  <a:schemeClr val="bg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Core OR challenge: optimizing under noise and limited budget</a:t>
            </a:r>
          </a:p>
        </p:txBody>
      </p:sp>
    </p:spTree>
    <p:extLst>
      <p:ext uri="{BB962C8B-B14F-4D97-AF65-F5344CB8AC3E}">
        <p14:creationId xmlns:p14="http://schemas.microsoft.com/office/powerpoint/2010/main" val="1415343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bg2">
                <a:lumMod val="25000"/>
              </a:schemeClr>
            </a:gs>
            <a:gs pos="78000">
              <a:schemeClr val="tx1">
                <a:lumMod val="85000"/>
                <a:lumOff val="1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1BA63-E233-0D63-801A-A6C7C63F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869934D5-9BB6-904D-B28C-E10F62896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17"/>
          <a:stretch>
            <a:fillRect/>
          </a:stretch>
        </p:blipFill>
        <p:spPr>
          <a:xfrm>
            <a:off x="4559473" y="-866155"/>
            <a:ext cx="7632527" cy="7724155"/>
          </a:xfrm>
          <a:custGeom>
            <a:avLst/>
            <a:gdLst>
              <a:gd name="connsiteX0" fmla="*/ 3656412 w 6776647"/>
              <a:gd name="connsiteY0" fmla="*/ 5054965 h 6858000"/>
              <a:gd name="connsiteX1" fmla="*/ 4113979 w 6776647"/>
              <a:gd name="connsiteY1" fmla="*/ 5244495 h 6858000"/>
              <a:gd name="connsiteX2" fmla="*/ 4131893 w 6776647"/>
              <a:gd name="connsiteY2" fmla="*/ 5262409 h 6858000"/>
              <a:gd name="connsiteX3" fmla="*/ 4131892 w 6776647"/>
              <a:gd name="connsiteY3" fmla="*/ 6177545 h 6858000"/>
              <a:gd name="connsiteX4" fmla="*/ 4043288 w 6776647"/>
              <a:gd name="connsiteY4" fmla="*/ 6266149 h 6858000"/>
              <a:gd name="connsiteX5" fmla="*/ 3128155 w 6776647"/>
              <a:gd name="connsiteY5" fmla="*/ 6266149 h 6858000"/>
              <a:gd name="connsiteX6" fmla="*/ 3110241 w 6776647"/>
              <a:gd name="connsiteY6" fmla="*/ 6248235 h 6858000"/>
              <a:gd name="connsiteX7" fmla="*/ 3110240 w 6776647"/>
              <a:gd name="connsiteY7" fmla="*/ 5333099 h 6858000"/>
              <a:gd name="connsiteX8" fmla="*/ 3198844 w 6776647"/>
              <a:gd name="connsiteY8" fmla="*/ 5244495 h 6858000"/>
              <a:gd name="connsiteX9" fmla="*/ 3656412 w 6776647"/>
              <a:gd name="connsiteY9" fmla="*/ 5054965 h 6858000"/>
              <a:gd name="connsiteX10" fmla="*/ 6776647 w 6776647"/>
              <a:gd name="connsiteY10" fmla="*/ 4307086 h 6858000"/>
              <a:gd name="connsiteX11" fmla="*/ 6776647 w 6776647"/>
              <a:gd name="connsiteY11" fmla="*/ 5306043 h 6858000"/>
              <a:gd name="connsiteX12" fmla="*/ 5224689 w 6776647"/>
              <a:gd name="connsiteY12" fmla="*/ 6858000 h 6858000"/>
              <a:gd name="connsiteX13" fmla="*/ 4225733 w 6776647"/>
              <a:gd name="connsiteY13" fmla="*/ 6858000 h 6858000"/>
              <a:gd name="connsiteX14" fmla="*/ 6776647 w 6776647"/>
              <a:gd name="connsiteY14" fmla="*/ 1775039 h 6858000"/>
              <a:gd name="connsiteX15" fmla="*/ 6776647 w 6776647"/>
              <a:gd name="connsiteY15" fmla="*/ 3615452 h 6858000"/>
              <a:gd name="connsiteX16" fmla="*/ 5493702 w 6776647"/>
              <a:gd name="connsiteY16" fmla="*/ 4898396 h 6858000"/>
              <a:gd name="connsiteX17" fmla="*/ 4578567 w 6776647"/>
              <a:gd name="connsiteY17" fmla="*/ 4898396 h 6858000"/>
              <a:gd name="connsiteX18" fmla="*/ 4560653 w 6776647"/>
              <a:gd name="connsiteY18" fmla="*/ 4880482 h 6858000"/>
              <a:gd name="connsiteX19" fmla="*/ 4560653 w 6776647"/>
              <a:gd name="connsiteY19" fmla="*/ 3965347 h 6858000"/>
              <a:gd name="connsiteX20" fmla="*/ 6660166 w 6776647"/>
              <a:gd name="connsiteY20" fmla="*/ 1865835 h 6858000"/>
              <a:gd name="connsiteX21" fmla="*/ 6761678 w 6776647"/>
              <a:gd name="connsiteY21" fmla="*/ 1782916 h 6858000"/>
              <a:gd name="connsiteX22" fmla="*/ 5881240 w 6776647"/>
              <a:gd name="connsiteY22" fmla="*/ 18786 h 6858000"/>
              <a:gd name="connsiteX23" fmla="*/ 6475267 w 6776647"/>
              <a:gd name="connsiteY23" fmla="*/ 264840 h 6858000"/>
              <a:gd name="connsiteX24" fmla="*/ 6498525 w 6776647"/>
              <a:gd name="connsiteY24" fmla="*/ 288097 h 6858000"/>
              <a:gd name="connsiteX25" fmla="*/ 6498525 w 6776647"/>
              <a:gd name="connsiteY25" fmla="*/ 1476151 h 6858000"/>
              <a:gd name="connsiteX26" fmla="*/ 2949108 w 6776647"/>
              <a:gd name="connsiteY26" fmla="*/ 5025568 h 6858000"/>
              <a:gd name="connsiteX27" fmla="*/ 1761054 w 6776647"/>
              <a:gd name="connsiteY27" fmla="*/ 5025568 h 6858000"/>
              <a:gd name="connsiteX28" fmla="*/ 1737797 w 6776647"/>
              <a:gd name="connsiteY28" fmla="*/ 5002311 h 6858000"/>
              <a:gd name="connsiteX29" fmla="*/ 1737797 w 6776647"/>
              <a:gd name="connsiteY29" fmla="*/ 3814257 h 6858000"/>
              <a:gd name="connsiteX30" fmla="*/ 5287213 w 6776647"/>
              <a:gd name="connsiteY30" fmla="*/ 264840 h 6858000"/>
              <a:gd name="connsiteX31" fmla="*/ 5881240 w 6776647"/>
              <a:gd name="connsiteY31" fmla="*/ 18786 h 6858000"/>
              <a:gd name="connsiteX32" fmla="*/ 3421136 w 6776647"/>
              <a:gd name="connsiteY32" fmla="*/ 0 h 6858000"/>
              <a:gd name="connsiteX33" fmla="*/ 5065590 w 6776647"/>
              <a:gd name="connsiteY33" fmla="*/ 0 h 6858000"/>
              <a:gd name="connsiteX34" fmla="*/ 5058235 w 6776647"/>
              <a:gd name="connsiteY34" fmla="*/ 13976 h 6858000"/>
              <a:gd name="connsiteX35" fmla="*/ 4984132 w 6776647"/>
              <a:gd name="connsiteY35" fmla="*/ 104695 h 6858000"/>
              <a:gd name="connsiteX36" fmla="*/ 1478980 w 6776647"/>
              <a:gd name="connsiteY36" fmla="*/ 3609848 h 6858000"/>
              <a:gd name="connsiteX37" fmla="*/ 661145 w 6776647"/>
              <a:gd name="connsiteY37" fmla="*/ 3609848 h 6858000"/>
              <a:gd name="connsiteX38" fmla="*/ 645135 w 6776647"/>
              <a:gd name="connsiteY38" fmla="*/ 3593837 h 6858000"/>
              <a:gd name="connsiteX39" fmla="*/ 645135 w 6776647"/>
              <a:gd name="connsiteY39" fmla="*/ 2776002 h 6858000"/>
              <a:gd name="connsiteX40" fmla="*/ 1313944 w 6776647"/>
              <a:gd name="connsiteY40" fmla="*/ 0 h 6858000"/>
              <a:gd name="connsiteX41" fmla="*/ 2570790 w 6776647"/>
              <a:gd name="connsiteY41" fmla="*/ 0 h 6858000"/>
              <a:gd name="connsiteX42" fmla="*/ 2582282 w 6776647"/>
              <a:gd name="connsiteY42" fmla="*/ 38778 h 6858000"/>
              <a:gd name="connsiteX43" fmla="*/ 2423489 w 6776647"/>
              <a:gd name="connsiteY43" fmla="*/ 558147 h 6858000"/>
              <a:gd name="connsiteX44" fmla="*/ 1003226 w 6776647"/>
              <a:gd name="connsiteY44" fmla="*/ 1978410 h 6858000"/>
              <a:gd name="connsiteX45" fmla="*/ 185390 w 6776647"/>
              <a:gd name="connsiteY45" fmla="*/ 1978410 h 6858000"/>
              <a:gd name="connsiteX46" fmla="*/ 169380 w 6776647"/>
              <a:gd name="connsiteY46" fmla="*/ 1962401 h 6858000"/>
              <a:gd name="connsiteX47" fmla="*/ 169380 w 6776647"/>
              <a:gd name="connsiteY47" fmla="*/ 11445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76647" h="6858000">
                <a:moveTo>
                  <a:pt x="3656412" y="5054965"/>
                </a:moveTo>
                <a:cubicBezTo>
                  <a:pt x="3822019" y="5054965"/>
                  <a:pt x="3987625" y="5118142"/>
                  <a:pt x="4113979" y="5244495"/>
                </a:cubicBezTo>
                <a:lnTo>
                  <a:pt x="4131893" y="5262409"/>
                </a:lnTo>
                <a:cubicBezTo>
                  <a:pt x="4384601" y="5515117"/>
                  <a:pt x="4384601" y="5924838"/>
                  <a:pt x="4131892" y="6177545"/>
                </a:cubicBezTo>
                <a:lnTo>
                  <a:pt x="4043288" y="6266149"/>
                </a:lnTo>
                <a:cubicBezTo>
                  <a:pt x="3790582" y="6518855"/>
                  <a:pt x="3380861" y="6518855"/>
                  <a:pt x="3128155" y="6266149"/>
                </a:cubicBezTo>
                <a:lnTo>
                  <a:pt x="3110241" y="6248235"/>
                </a:lnTo>
                <a:cubicBezTo>
                  <a:pt x="2857533" y="5995527"/>
                  <a:pt x="2857533" y="5585807"/>
                  <a:pt x="3110240" y="5333099"/>
                </a:cubicBezTo>
                <a:lnTo>
                  <a:pt x="3198844" y="5244495"/>
                </a:lnTo>
                <a:cubicBezTo>
                  <a:pt x="3325198" y="5118143"/>
                  <a:pt x="3490804" y="5054965"/>
                  <a:pt x="3656412" y="5054965"/>
                </a:cubicBezTo>
                <a:close/>
                <a:moveTo>
                  <a:pt x="6776647" y="4307086"/>
                </a:moveTo>
                <a:lnTo>
                  <a:pt x="6776647" y="5306043"/>
                </a:lnTo>
                <a:lnTo>
                  <a:pt x="5224689" y="6858000"/>
                </a:lnTo>
                <a:lnTo>
                  <a:pt x="4225733" y="6858000"/>
                </a:lnTo>
                <a:close/>
                <a:moveTo>
                  <a:pt x="6776647" y="1775039"/>
                </a:moveTo>
                <a:lnTo>
                  <a:pt x="6776647" y="3615452"/>
                </a:lnTo>
                <a:lnTo>
                  <a:pt x="5493702" y="4898396"/>
                </a:lnTo>
                <a:cubicBezTo>
                  <a:pt x="5240995" y="5151104"/>
                  <a:pt x="4831276" y="5151103"/>
                  <a:pt x="4578567" y="4898396"/>
                </a:cubicBezTo>
                <a:lnTo>
                  <a:pt x="4560653" y="4880482"/>
                </a:lnTo>
                <a:cubicBezTo>
                  <a:pt x="4307946" y="4627775"/>
                  <a:pt x="4307946" y="4218054"/>
                  <a:pt x="4560653" y="3965347"/>
                </a:cubicBezTo>
                <a:lnTo>
                  <a:pt x="6660166" y="1865835"/>
                </a:lnTo>
                <a:cubicBezTo>
                  <a:pt x="6691755" y="1834247"/>
                  <a:pt x="6725796" y="1806607"/>
                  <a:pt x="6761678" y="1782916"/>
                </a:cubicBezTo>
                <a:close/>
                <a:moveTo>
                  <a:pt x="5881240" y="18786"/>
                </a:moveTo>
                <a:cubicBezTo>
                  <a:pt x="6096236" y="18786"/>
                  <a:pt x="6311231" y="100804"/>
                  <a:pt x="6475267" y="264840"/>
                </a:cubicBezTo>
                <a:lnTo>
                  <a:pt x="6498525" y="288097"/>
                </a:lnTo>
                <a:cubicBezTo>
                  <a:pt x="6826598" y="616169"/>
                  <a:pt x="6826598" y="1148079"/>
                  <a:pt x="6498525" y="1476151"/>
                </a:cubicBezTo>
                <a:lnTo>
                  <a:pt x="2949108" y="5025568"/>
                </a:lnTo>
                <a:cubicBezTo>
                  <a:pt x="2621036" y="5353640"/>
                  <a:pt x="2089127" y="5353640"/>
                  <a:pt x="1761054" y="5025568"/>
                </a:cubicBezTo>
                <a:lnTo>
                  <a:pt x="1737797" y="5002311"/>
                </a:lnTo>
                <a:cubicBezTo>
                  <a:pt x="1409725" y="4674239"/>
                  <a:pt x="1409725" y="4142329"/>
                  <a:pt x="1737797" y="3814257"/>
                </a:cubicBezTo>
                <a:lnTo>
                  <a:pt x="5287213" y="264840"/>
                </a:lnTo>
                <a:cubicBezTo>
                  <a:pt x="5451251" y="100804"/>
                  <a:pt x="5666245" y="18785"/>
                  <a:pt x="5881240" y="18786"/>
                </a:cubicBezTo>
                <a:close/>
                <a:moveTo>
                  <a:pt x="3421136" y="0"/>
                </a:moveTo>
                <a:lnTo>
                  <a:pt x="5065590" y="0"/>
                </a:lnTo>
                <a:lnTo>
                  <a:pt x="5058235" y="13976"/>
                </a:lnTo>
                <a:cubicBezTo>
                  <a:pt x="5037063" y="46043"/>
                  <a:pt x="5012362" y="76465"/>
                  <a:pt x="4984132" y="104695"/>
                </a:cubicBezTo>
                <a:lnTo>
                  <a:pt x="1478980" y="3609848"/>
                </a:lnTo>
                <a:cubicBezTo>
                  <a:pt x="1253141" y="3835687"/>
                  <a:pt x="886985" y="3835687"/>
                  <a:pt x="661145" y="3609848"/>
                </a:cubicBezTo>
                <a:lnTo>
                  <a:pt x="645135" y="3593837"/>
                </a:lnTo>
                <a:cubicBezTo>
                  <a:pt x="419295" y="3367998"/>
                  <a:pt x="419295" y="3001841"/>
                  <a:pt x="645135" y="2776002"/>
                </a:cubicBezTo>
                <a:close/>
                <a:moveTo>
                  <a:pt x="1313944" y="0"/>
                </a:moveTo>
                <a:lnTo>
                  <a:pt x="2570790" y="0"/>
                </a:lnTo>
                <a:lnTo>
                  <a:pt x="2582282" y="38778"/>
                </a:lnTo>
                <a:cubicBezTo>
                  <a:pt x="2617570" y="221036"/>
                  <a:pt x="2564639" y="416997"/>
                  <a:pt x="2423489" y="558147"/>
                </a:cubicBezTo>
                <a:lnTo>
                  <a:pt x="1003226" y="1978410"/>
                </a:lnTo>
                <a:cubicBezTo>
                  <a:pt x="777387" y="2204250"/>
                  <a:pt x="411230" y="2204250"/>
                  <a:pt x="185390" y="1978410"/>
                </a:cubicBezTo>
                <a:lnTo>
                  <a:pt x="169380" y="1962401"/>
                </a:lnTo>
                <a:cubicBezTo>
                  <a:pt x="-56460" y="1736561"/>
                  <a:pt x="-56460" y="1370404"/>
                  <a:pt x="169380" y="1144565"/>
                </a:cubicBezTo>
                <a:close/>
              </a:path>
            </a:pathLst>
          </a:cu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F82562C-E14A-2B13-8E9B-5BBCF24C04C3}"/>
              </a:ext>
            </a:extLst>
          </p:cNvPr>
          <p:cNvSpPr txBox="1"/>
          <p:nvPr/>
        </p:nvSpPr>
        <p:spPr>
          <a:xfrm>
            <a:off x="-321274" y="190770"/>
            <a:ext cx="67766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D65D26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3: </a:t>
            </a:r>
            <a:r>
              <a:rPr lang="en-US" sz="3600" dirty="0">
                <a:solidFill>
                  <a:schemeClr val="bg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Demonstration:</a:t>
            </a:r>
          </a:p>
          <a:p>
            <a:pPr algn="ctr"/>
            <a:r>
              <a:rPr lang="en-US" sz="3600" dirty="0">
                <a:solidFill>
                  <a:schemeClr val="bg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optimization through simulation</a:t>
            </a:r>
          </a:p>
        </p:txBody>
      </p:sp>
    </p:spTree>
    <p:extLst>
      <p:ext uri="{BB962C8B-B14F-4D97-AF65-F5344CB8AC3E}">
        <p14:creationId xmlns:p14="http://schemas.microsoft.com/office/powerpoint/2010/main" val="93148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bg2">
                <a:lumMod val="25000"/>
              </a:schemeClr>
            </a:gs>
            <a:gs pos="78000">
              <a:schemeClr val="tx1">
                <a:lumMod val="85000"/>
                <a:lumOff val="1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C2B53-0F16-4098-4FA6-84AECE44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EC2E6D6D-1435-D686-1292-060A61CC9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17"/>
          <a:stretch>
            <a:fillRect/>
          </a:stretch>
        </p:blipFill>
        <p:spPr>
          <a:xfrm>
            <a:off x="4559473" y="-866155"/>
            <a:ext cx="7632527" cy="7724155"/>
          </a:xfrm>
          <a:custGeom>
            <a:avLst/>
            <a:gdLst>
              <a:gd name="connsiteX0" fmla="*/ 3656412 w 6776647"/>
              <a:gd name="connsiteY0" fmla="*/ 5054965 h 6858000"/>
              <a:gd name="connsiteX1" fmla="*/ 4113979 w 6776647"/>
              <a:gd name="connsiteY1" fmla="*/ 5244495 h 6858000"/>
              <a:gd name="connsiteX2" fmla="*/ 4131893 w 6776647"/>
              <a:gd name="connsiteY2" fmla="*/ 5262409 h 6858000"/>
              <a:gd name="connsiteX3" fmla="*/ 4131892 w 6776647"/>
              <a:gd name="connsiteY3" fmla="*/ 6177545 h 6858000"/>
              <a:gd name="connsiteX4" fmla="*/ 4043288 w 6776647"/>
              <a:gd name="connsiteY4" fmla="*/ 6266149 h 6858000"/>
              <a:gd name="connsiteX5" fmla="*/ 3128155 w 6776647"/>
              <a:gd name="connsiteY5" fmla="*/ 6266149 h 6858000"/>
              <a:gd name="connsiteX6" fmla="*/ 3110241 w 6776647"/>
              <a:gd name="connsiteY6" fmla="*/ 6248235 h 6858000"/>
              <a:gd name="connsiteX7" fmla="*/ 3110240 w 6776647"/>
              <a:gd name="connsiteY7" fmla="*/ 5333099 h 6858000"/>
              <a:gd name="connsiteX8" fmla="*/ 3198844 w 6776647"/>
              <a:gd name="connsiteY8" fmla="*/ 5244495 h 6858000"/>
              <a:gd name="connsiteX9" fmla="*/ 3656412 w 6776647"/>
              <a:gd name="connsiteY9" fmla="*/ 5054965 h 6858000"/>
              <a:gd name="connsiteX10" fmla="*/ 6776647 w 6776647"/>
              <a:gd name="connsiteY10" fmla="*/ 4307086 h 6858000"/>
              <a:gd name="connsiteX11" fmla="*/ 6776647 w 6776647"/>
              <a:gd name="connsiteY11" fmla="*/ 5306043 h 6858000"/>
              <a:gd name="connsiteX12" fmla="*/ 5224689 w 6776647"/>
              <a:gd name="connsiteY12" fmla="*/ 6858000 h 6858000"/>
              <a:gd name="connsiteX13" fmla="*/ 4225733 w 6776647"/>
              <a:gd name="connsiteY13" fmla="*/ 6858000 h 6858000"/>
              <a:gd name="connsiteX14" fmla="*/ 6776647 w 6776647"/>
              <a:gd name="connsiteY14" fmla="*/ 1775039 h 6858000"/>
              <a:gd name="connsiteX15" fmla="*/ 6776647 w 6776647"/>
              <a:gd name="connsiteY15" fmla="*/ 3615452 h 6858000"/>
              <a:gd name="connsiteX16" fmla="*/ 5493702 w 6776647"/>
              <a:gd name="connsiteY16" fmla="*/ 4898396 h 6858000"/>
              <a:gd name="connsiteX17" fmla="*/ 4578567 w 6776647"/>
              <a:gd name="connsiteY17" fmla="*/ 4898396 h 6858000"/>
              <a:gd name="connsiteX18" fmla="*/ 4560653 w 6776647"/>
              <a:gd name="connsiteY18" fmla="*/ 4880482 h 6858000"/>
              <a:gd name="connsiteX19" fmla="*/ 4560653 w 6776647"/>
              <a:gd name="connsiteY19" fmla="*/ 3965347 h 6858000"/>
              <a:gd name="connsiteX20" fmla="*/ 6660166 w 6776647"/>
              <a:gd name="connsiteY20" fmla="*/ 1865835 h 6858000"/>
              <a:gd name="connsiteX21" fmla="*/ 6761678 w 6776647"/>
              <a:gd name="connsiteY21" fmla="*/ 1782916 h 6858000"/>
              <a:gd name="connsiteX22" fmla="*/ 5881240 w 6776647"/>
              <a:gd name="connsiteY22" fmla="*/ 18786 h 6858000"/>
              <a:gd name="connsiteX23" fmla="*/ 6475267 w 6776647"/>
              <a:gd name="connsiteY23" fmla="*/ 264840 h 6858000"/>
              <a:gd name="connsiteX24" fmla="*/ 6498525 w 6776647"/>
              <a:gd name="connsiteY24" fmla="*/ 288097 h 6858000"/>
              <a:gd name="connsiteX25" fmla="*/ 6498525 w 6776647"/>
              <a:gd name="connsiteY25" fmla="*/ 1476151 h 6858000"/>
              <a:gd name="connsiteX26" fmla="*/ 2949108 w 6776647"/>
              <a:gd name="connsiteY26" fmla="*/ 5025568 h 6858000"/>
              <a:gd name="connsiteX27" fmla="*/ 1761054 w 6776647"/>
              <a:gd name="connsiteY27" fmla="*/ 5025568 h 6858000"/>
              <a:gd name="connsiteX28" fmla="*/ 1737797 w 6776647"/>
              <a:gd name="connsiteY28" fmla="*/ 5002311 h 6858000"/>
              <a:gd name="connsiteX29" fmla="*/ 1737797 w 6776647"/>
              <a:gd name="connsiteY29" fmla="*/ 3814257 h 6858000"/>
              <a:gd name="connsiteX30" fmla="*/ 5287213 w 6776647"/>
              <a:gd name="connsiteY30" fmla="*/ 264840 h 6858000"/>
              <a:gd name="connsiteX31" fmla="*/ 5881240 w 6776647"/>
              <a:gd name="connsiteY31" fmla="*/ 18786 h 6858000"/>
              <a:gd name="connsiteX32" fmla="*/ 3421136 w 6776647"/>
              <a:gd name="connsiteY32" fmla="*/ 0 h 6858000"/>
              <a:gd name="connsiteX33" fmla="*/ 5065590 w 6776647"/>
              <a:gd name="connsiteY33" fmla="*/ 0 h 6858000"/>
              <a:gd name="connsiteX34" fmla="*/ 5058235 w 6776647"/>
              <a:gd name="connsiteY34" fmla="*/ 13976 h 6858000"/>
              <a:gd name="connsiteX35" fmla="*/ 4984132 w 6776647"/>
              <a:gd name="connsiteY35" fmla="*/ 104695 h 6858000"/>
              <a:gd name="connsiteX36" fmla="*/ 1478980 w 6776647"/>
              <a:gd name="connsiteY36" fmla="*/ 3609848 h 6858000"/>
              <a:gd name="connsiteX37" fmla="*/ 661145 w 6776647"/>
              <a:gd name="connsiteY37" fmla="*/ 3609848 h 6858000"/>
              <a:gd name="connsiteX38" fmla="*/ 645135 w 6776647"/>
              <a:gd name="connsiteY38" fmla="*/ 3593837 h 6858000"/>
              <a:gd name="connsiteX39" fmla="*/ 645135 w 6776647"/>
              <a:gd name="connsiteY39" fmla="*/ 2776002 h 6858000"/>
              <a:gd name="connsiteX40" fmla="*/ 1313944 w 6776647"/>
              <a:gd name="connsiteY40" fmla="*/ 0 h 6858000"/>
              <a:gd name="connsiteX41" fmla="*/ 2570790 w 6776647"/>
              <a:gd name="connsiteY41" fmla="*/ 0 h 6858000"/>
              <a:gd name="connsiteX42" fmla="*/ 2582282 w 6776647"/>
              <a:gd name="connsiteY42" fmla="*/ 38778 h 6858000"/>
              <a:gd name="connsiteX43" fmla="*/ 2423489 w 6776647"/>
              <a:gd name="connsiteY43" fmla="*/ 558147 h 6858000"/>
              <a:gd name="connsiteX44" fmla="*/ 1003226 w 6776647"/>
              <a:gd name="connsiteY44" fmla="*/ 1978410 h 6858000"/>
              <a:gd name="connsiteX45" fmla="*/ 185390 w 6776647"/>
              <a:gd name="connsiteY45" fmla="*/ 1978410 h 6858000"/>
              <a:gd name="connsiteX46" fmla="*/ 169380 w 6776647"/>
              <a:gd name="connsiteY46" fmla="*/ 1962401 h 6858000"/>
              <a:gd name="connsiteX47" fmla="*/ 169380 w 6776647"/>
              <a:gd name="connsiteY47" fmla="*/ 11445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76647" h="6858000">
                <a:moveTo>
                  <a:pt x="3656412" y="5054965"/>
                </a:moveTo>
                <a:cubicBezTo>
                  <a:pt x="3822019" y="5054965"/>
                  <a:pt x="3987625" y="5118142"/>
                  <a:pt x="4113979" y="5244495"/>
                </a:cubicBezTo>
                <a:lnTo>
                  <a:pt x="4131893" y="5262409"/>
                </a:lnTo>
                <a:cubicBezTo>
                  <a:pt x="4384601" y="5515117"/>
                  <a:pt x="4384601" y="5924838"/>
                  <a:pt x="4131892" y="6177545"/>
                </a:cubicBezTo>
                <a:lnTo>
                  <a:pt x="4043288" y="6266149"/>
                </a:lnTo>
                <a:cubicBezTo>
                  <a:pt x="3790582" y="6518855"/>
                  <a:pt x="3380861" y="6518855"/>
                  <a:pt x="3128155" y="6266149"/>
                </a:cubicBezTo>
                <a:lnTo>
                  <a:pt x="3110241" y="6248235"/>
                </a:lnTo>
                <a:cubicBezTo>
                  <a:pt x="2857533" y="5995527"/>
                  <a:pt x="2857533" y="5585807"/>
                  <a:pt x="3110240" y="5333099"/>
                </a:cubicBezTo>
                <a:lnTo>
                  <a:pt x="3198844" y="5244495"/>
                </a:lnTo>
                <a:cubicBezTo>
                  <a:pt x="3325198" y="5118143"/>
                  <a:pt x="3490804" y="5054965"/>
                  <a:pt x="3656412" y="5054965"/>
                </a:cubicBezTo>
                <a:close/>
                <a:moveTo>
                  <a:pt x="6776647" y="4307086"/>
                </a:moveTo>
                <a:lnTo>
                  <a:pt x="6776647" y="5306043"/>
                </a:lnTo>
                <a:lnTo>
                  <a:pt x="5224689" y="6858000"/>
                </a:lnTo>
                <a:lnTo>
                  <a:pt x="4225733" y="6858000"/>
                </a:lnTo>
                <a:close/>
                <a:moveTo>
                  <a:pt x="6776647" y="1775039"/>
                </a:moveTo>
                <a:lnTo>
                  <a:pt x="6776647" y="3615452"/>
                </a:lnTo>
                <a:lnTo>
                  <a:pt x="5493702" y="4898396"/>
                </a:lnTo>
                <a:cubicBezTo>
                  <a:pt x="5240995" y="5151104"/>
                  <a:pt x="4831276" y="5151103"/>
                  <a:pt x="4578567" y="4898396"/>
                </a:cubicBezTo>
                <a:lnTo>
                  <a:pt x="4560653" y="4880482"/>
                </a:lnTo>
                <a:cubicBezTo>
                  <a:pt x="4307946" y="4627775"/>
                  <a:pt x="4307946" y="4218054"/>
                  <a:pt x="4560653" y="3965347"/>
                </a:cubicBezTo>
                <a:lnTo>
                  <a:pt x="6660166" y="1865835"/>
                </a:lnTo>
                <a:cubicBezTo>
                  <a:pt x="6691755" y="1834247"/>
                  <a:pt x="6725796" y="1806607"/>
                  <a:pt x="6761678" y="1782916"/>
                </a:cubicBezTo>
                <a:close/>
                <a:moveTo>
                  <a:pt x="5881240" y="18786"/>
                </a:moveTo>
                <a:cubicBezTo>
                  <a:pt x="6096236" y="18786"/>
                  <a:pt x="6311231" y="100804"/>
                  <a:pt x="6475267" y="264840"/>
                </a:cubicBezTo>
                <a:lnTo>
                  <a:pt x="6498525" y="288097"/>
                </a:lnTo>
                <a:cubicBezTo>
                  <a:pt x="6826598" y="616169"/>
                  <a:pt x="6826598" y="1148079"/>
                  <a:pt x="6498525" y="1476151"/>
                </a:cubicBezTo>
                <a:lnTo>
                  <a:pt x="2949108" y="5025568"/>
                </a:lnTo>
                <a:cubicBezTo>
                  <a:pt x="2621036" y="5353640"/>
                  <a:pt x="2089127" y="5353640"/>
                  <a:pt x="1761054" y="5025568"/>
                </a:cubicBezTo>
                <a:lnTo>
                  <a:pt x="1737797" y="5002311"/>
                </a:lnTo>
                <a:cubicBezTo>
                  <a:pt x="1409725" y="4674239"/>
                  <a:pt x="1409725" y="4142329"/>
                  <a:pt x="1737797" y="3814257"/>
                </a:cubicBezTo>
                <a:lnTo>
                  <a:pt x="5287213" y="264840"/>
                </a:lnTo>
                <a:cubicBezTo>
                  <a:pt x="5451251" y="100804"/>
                  <a:pt x="5666245" y="18785"/>
                  <a:pt x="5881240" y="18786"/>
                </a:cubicBezTo>
                <a:close/>
                <a:moveTo>
                  <a:pt x="3421136" y="0"/>
                </a:moveTo>
                <a:lnTo>
                  <a:pt x="5065590" y="0"/>
                </a:lnTo>
                <a:lnTo>
                  <a:pt x="5058235" y="13976"/>
                </a:lnTo>
                <a:cubicBezTo>
                  <a:pt x="5037063" y="46043"/>
                  <a:pt x="5012362" y="76465"/>
                  <a:pt x="4984132" y="104695"/>
                </a:cubicBezTo>
                <a:lnTo>
                  <a:pt x="1478980" y="3609848"/>
                </a:lnTo>
                <a:cubicBezTo>
                  <a:pt x="1253141" y="3835687"/>
                  <a:pt x="886985" y="3835687"/>
                  <a:pt x="661145" y="3609848"/>
                </a:cubicBezTo>
                <a:lnTo>
                  <a:pt x="645135" y="3593837"/>
                </a:lnTo>
                <a:cubicBezTo>
                  <a:pt x="419295" y="3367998"/>
                  <a:pt x="419295" y="3001841"/>
                  <a:pt x="645135" y="2776002"/>
                </a:cubicBezTo>
                <a:close/>
                <a:moveTo>
                  <a:pt x="1313944" y="0"/>
                </a:moveTo>
                <a:lnTo>
                  <a:pt x="2570790" y="0"/>
                </a:lnTo>
                <a:lnTo>
                  <a:pt x="2582282" y="38778"/>
                </a:lnTo>
                <a:cubicBezTo>
                  <a:pt x="2617570" y="221036"/>
                  <a:pt x="2564639" y="416997"/>
                  <a:pt x="2423489" y="558147"/>
                </a:cubicBezTo>
                <a:lnTo>
                  <a:pt x="1003226" y="1978410"/>
                </a:lnTo>
                <a:cubicBezTo>
                  <a:pt x="777387" y="2204250"/>
                  <a:pt x="411230" y="2204250"/>
                  <a:pt x="185390" y="1978410"/>
                </a:cubicBezTo>
                <a:lnTo>
                  <a:pt x="169380" y="1962401"/>
                </a:lnTo>
                <a:cubicBezTo>
                  <a:pt x="-56460" y="1736561"/>
                  <a:pt x="-56460" y="1370404"/>
                  <a:pt x="169380" y="1144565"/>
                </a:cubicBezTo>
                <a:close/>
              </a:path>
            </a:pathLst>
          </a:cu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6DE9D7D-4714-4836-39E8-AE8B473AB89D}"/>
              </a:ext>
            </a:extLst>
          </p:cNvPr>
          <p:cNvSpPr txBox="1"/>
          <p:nvPr/>
        </p:nvSpPr>
        <p:spPr>
          <a:xfrm>
            <a:off x="-321274" y="190770"/>
            <a:ext cx="67766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D65D26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4: </a:t>
            </a:r>
            <a:r>
              <a:rPr lang="en-US" sz="3600" dirty="0">
                <a:solidFill>
                  <a:schemeClr val="bg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Implications:</a:t>
            </a:r>
          </a:p>
          <a:p>
            <a:pPr algn="ctr"/>
            <a:r>
              <a:rPr lang="en-US" sz="3600" dirty="0">
                <a:solidFill>
                  <a:schemeClr val="bg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applications and key takeaways</a:t>
            </a:r>
          </a:p>
        </p:txBody>
      </p:sp>
    </p:spTree>
    <p:extLst>
      <p:ext uri="{BB962C8B-B14F-4D97-AF65-F5344CB8AC3E}">
        <p14:creationId xmlns:p14="http://schemas.microsoft.com/office/powerpoint/2010/main" val="662265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bg2">
                <a:lumMod val="25000"/>
              </a:schemeClr>
            </a:gs>
            <a:gs pos="78000">
              <a:schemeClr val="tx1">
                <a:lumMod val="85000"/>
                <a:lumOff val="1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7A06C-FB2B-3B0E-A4C9-D9FCC17B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20CE0298-B011-39D2-4C16-342007CD0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17"/>
          <a:stretch>
            <a:fillRect/>
          </a:stretch>
        </p:blipFill>
        <p:spPr>
          <a:xfrm>
            <a:off x="4559473" y="-866155"/>
            <a:ext cx="7632527" cy="7724155"/>
          </a:xfrm>
          <a:custGeom>
            <a:avLst/>
            <a:gdLst>
              <a:gd name="connsiteX0" fmla="*/ 3656412 w 6776647"/>
              <a:gd name="connsiteY0" fmla="*/ 5054965 h 6858000"/>
              <a:gd name="connsiteX1" fmla="*/ 4113979 w 6776647"/>
              <a:gd name="connsiteY1" fmla="*/ 5244495 h 6858000"/>
              <a:gd name="connsiteX2" fmla="*/ 4131893 w 6776647"/>
              <a:gd name="connsiteY2" fmla="*/ 5262409 h 6858000"/>
              <a:gd name="connsiteX3" fmla="*/ 4131892 w 6776647"/>
              <a:gd name="connsiteY3" fmla="*/ 6177545 h 6858000"/>
              <a:gd name="connsiteX4" fmla="*/ 4043288 w 6776647"/>
              <a:gd name="connsiteY4" fmla="*/ 6266149 h 6858000"/>
              <a:gd name="connsiteX5" fmla="*/ 3128155 w 6776647"/>
              <a:gd name="connsiteY5" fmla="*/ 6266149 h 6858000"/>
              <a:gd name="connsiteX6" fmla="*/ 3110241 w 6776647"/>
              <a:gd name="connsiteY6" fmla="*/ 6248235 h 6858000"/>
              <a:gd name="connsiteX7" fmla="*/ 3110240 w 6776647"/>
              <a:gd name="connsiteY7" fmla="*/ 5333099 h 6858000"/>
              <a:gd name="connsiteX8" fmla="*/ 3198844 w 6776647"/>
              <a:gd name="connsiteY8" fmla="*/ 5244495 h 6858000"/>
              <a:gd name="connsiteX9" fmla="*/ 3656412 w 6776647"/>
              <a:gd name="connsiteY9" fmla="*/ 5054965 h 6858000"/>
              <a:gd name="connsiteX10" fmla="*/ 6776647 w 6776647"/>
              <a:gd name="connsiteY10" fmla="*/ 4307086 h 6858000"/>
              <a:gd name="connsiteX11" fmla="*/ 6776647 w 6776647"/>
              <a:gd name="connsiteY11" fmla="*/ 5306043 h 6858000"/>
              <a:gd name="connsiteX12" fmla="*/ 5224689 w 6776647"/>
              <a:gd name="connsiteY12" fmla="*/ 6858000 h 6858000"/>
              <a:gd name="connsiteX13" fmla="*/ 4225733 w 6776647"/>
              <a:gd name="connsiteY13" fmla="*/ 6858000 h 6858000"/>
              <a:gd name="connsiteX14" fmla="*/ 6776647 w 6776647"/>
              <a:gd name="connsiteY14" fmla="*/ 1775039 h 6858000"/>
              <a:gd name="connsiteX15" fmla="*/ 6776647 w 6776647"/>
              <a:gd name="connsiteY15" fmla="*/ 3615452 h 6858000"/>
              <a:gd name="connsiteX16" fmla="*/ 5493702 w 6776647"/>
              <a:gd name="connsiteY16" fmla="*/ 4898396 h 6858000"/>
              <a:gd name="connsiteX17" fmla="*/ 4578567 w 6776647"/>
              <a:gd name="connsiteY17" fmla="*/ 4898396 h 6858000"/>
              <a:gd name="connsiteX18" fmla="*/ 4560653 w 6776647"/>
              <a:gd name="connsiteY18" fmla="*/ 4880482 h 6858000"/>
              <a:gd name="connsiteX19" fmla="*/ 4560653 w 6776647"/>
              <a:gd name="connsiteY19" fmla="*/ 3965347 h 6858000"/>
              <a:gd name="connsiteX20" fmla="*/ 6660166 w 6776647"/>
              <a:gd name="connsiteY20" fmla="*/ 1865835 h 6858000"/>
              <a:gd name="connsiteX21" fmla="*/ 6761678 w 6776647"/>
              <a:gd name="connsiteY21" fmla="*/ 1782916 h 6858000"/>
              <a:gd name="connsiteX22" fmla="*/ 5881240 w 6776647"/>
              <a:gd name="connsiteY22" fmla="*/ 18786 h 6858000"/>
              <a:gd name="connsiteX23" fmla="*/ 6475267 w 6776647"/>
              <a:gd name="connsiteY23" fmla="*/ 264840 h 6858000"/>
              <a:gd name="connsiteX24" fmla="*/ 6498525 w 6776647"/>
              <a:gd name="connsiteY24" fmla="*/ 288097 h 6858000"/>
              <a:gd name="connsiteX25" fmla="*/ 6498525 w 6776647"/>
              <a:gd name="connsiteY25" fmla="*/ 1476151 h 6858000"/>
              <a:gd name="connsiteX26" fmla="*/ 2949108 w 6776647"/>
              <a:gd name="connsiteY26" fmla="*/ 5025568 h 6858000"/>
              <a:gd name="connsiteX27" fmla="*/ 1761054 w 6776647"/>
              <a:gd name="connsiteY27" fmla="*/ 5025568 h 6858000"/>
              <a:gd name="connsiteX28" fmla="*/ 1737797 w 6776647"/>
              <a:gd name="connsiteY28" fmla="*/ 5002311 h 6858000"/>
              <a:gd name="connsiteX29" fmla="*/ 1737797 w 6776647"/>
              <a:gd name="connsiteY29" fmla="*/ 3814257 h 6858000"/>
              <a:gd name="connsiteX30" fmla="*/ 5287213 w 6776647"/>
              <a:gd name="connsiteY30" fmla="*/ 264840 h 6858000"/>
              <a:gd name="connsiteX31" fmla="*/ 5881240 w 6776647"/>
              <a:gd name="connsiteY31" fmla="*/ 18786 h 6858000"/>
              <a:gd name="connsiteX32" fmla="*/ 3421136 w 6776647"/>
              <a:gd name="connsiteY32" fmla="*/ 0 h 6858000"/>
              <a:gd name="connsiteX33" fmla="*/ 5065590 w 6776647"/>
              <a:gd name="connsiteY33" fmla="*/ 0 h 6858000"/>
              <a:gd name="connsiteX34" fmla="*/ 5058235 w 6776647"/>
              <a:gd name="connsiteY34" fmla="*/ 13976 h 6858000"/>
              <a:gd name="connsiteX35" fmla="*/ 4984132 w 6776647"/>
              <a:gd name="connsiteY35" fmla="*/ 104695 h 6858000"/>
              <a:gd name="connsiteX36" fmla="*/ 1478980 w 6776647"/>
              <a:gd name="connsiteY36" fmla="*/ 3609848 h 6858000"/>
              <a:gd name="connsiteX37" fmla="*/ 661145 w 6776647"/>
              <a:gd name="connsiteY37" fmla="*/ 3609848 h 6858000"/>
              <a:gd name="connsiteX38" fmla="*/ 645135 w 6776647"/>
              <a:gd name="connsiteY38" fmla="*/ 3593837 h 6858000"/>
              <a:gd name="connsiteX39" fmla="*/ 645135 w 6776647"/>
              <a:gd name="connsiteY39" fmla="*/ 2776002 h 6858000"/>
              <a:gd name="connsiteX40" fmla="*/ 1313944 w 6776647"/>
              <a:gd name="connsiteY40" fmla="*/ 0 h 6858000"/>
              <a:gd name="connsiteX41" fmla="*/ 2570790 w 6776647"/>
              <a:gd name="connsiteY41" fmla="*/ 0 h 6858000"/>
              <a:gd name="connsiteX42" fmla="*/ 2582282 w 6776647"/>
              <a:gd name="connsiteY42" fmla="*/ 38778 h 6858000"/>
              <a:gd name="connsiteX43" fmla="*/ 2423489 w 6776647"/>
              <a:gd name="connsiteY43" fmla="*/ 558147 h 6858000"/>
              <a:gd name="connsiteX44" fmla="*/ 1003226 w 6776647"/>
              <a:gd name="connsiteY44" fmla="*/ 1978410 h 6858000"/>
              <a:gd name="connsiteX45" fmla="*/ 185390 w 6776647"/>
              <a:gd name="connsiteY45" fmla="*/ 1978410 h 6858000"/>
              <a:gd name="connsiteX46" fmla="*/ 169380 w 6776647"/>
              <a:gd name="connsiteY46" fmla="*/ 1962401 h 6858000"/>
              <a:gd name="connsiteX47" fmla="*/ 169380 w 6776647"/>
              <a:gd name="connsiteY47" fmla="*/ 11445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76647" h="6858000">
                <a:moveTo>
                  <a:pt x="3656412" y="5054965"/>
                </a:moveTo>
                <a:cubicBezTo>
                  <a:pt x="3822019" y="5054965"/>
                  <a:pt x="3987625" y="5118142"/>
                  <a:pt x="4113979" y="5244495"/>
                </a:cubicBezTo>
                <a:lnTo>
                  <a:pt x="4131893" y="5262409"/>
                </a:lnTo>
                <a:cubicBezTo>
                  <a:pt x="4384601" y="5515117"/>
                  <a:pt x="4384601" y="5924838"/>
                  <a:pt x="4131892" y="6177545"/>
                </a:cubicBezTo>
                <a:lnTo>
                  <a:pt x="4043288" y="6266149"/>
                </a:lnTo>
                <a:cubicBezTo>
                  <a:pt x="3790582" y="6518855"/>
                  <a:pt x="3380861" y="6518855"/>
                  <a:pt x="3128155" y="6266149"/>
                </a:cubicBezTo>
                <a:lnTo>
                  <a:pt x="3110241" y="6248235"/>
                </a:lnTo>
                <a:cubicBezTo>
                  <a:pt x="2857533" y="5995527"/>
                  <a:pt x="2857533" y="5585807"/>
                  <a:pt x="3110240" y="5333099"/>
                </a:cubicBezTo>
                <a:lnTo>
                  <a:pt x="3198844" y="5244495"/>
                </a:lnTo>
                <a:cubicBezTo>
                  <a:pt x="3325198" y="5118143"/>
                  <a:pt x="3490804" y="5054965"/>
                  <a:pt x="3656412" y="5054965"/>
                </a:cubicBezTo>
                <a:close/>
                <a:moveTo>
                  <a:pt x="6776647" y="4307086"/>
                </a:moveTo>
                <a:lnTo>
                  <a:pt x="6776647" y="5306043"/>
                </a:lnTo>
                <a:lnTo>
                  <a:pt x="5224689" y="6858000"/>
                </a:lnTo>
                <a:lnTo>
                  <a:pt x="4225733" y="6858000"/>
                </a:lnTo>
                <a:close/>
                <a:moveTo>
                  <a:pt x="6776647" y="1775039"/>
                </a:moveTo>
                <a:lnTo>
                  <a:pt x="6776647" y="3615452"/>
                </a:lnTo>
                <a:lnTo>
                  <a:pt x="5493702" y="4898396"/>
                </a:lnTo>
                <a:cubicBezTo>
                  <a:pt x="5240995" y="5151104"/>
                  <a:pt x="4831276" y="5151103"/>
                  <a:pt x="4578567" y="4898396"/>
                </a:cubicBezTo>
                <a:lnTo>
                  <a:pt x="4560653" y="4880482"/>
                </a:lnTo>
                <a:cubicBezTo>
                  <a:pt x="4307946" y="4627775"/>
                  <a:pt x="4307946" y="4218054"/>
                  <a:pt x="4560653" y="3965347"/>
                </a:cubicBezTo>
                <a:lnTo>
                  <a:pt x="6660166" y="1865835"/>
                </a:lnTo>
                <a:cubicBezTo>
                  <a:pt x="6691755" y="1834247"/>
                  <a:pt x="6725796" y="1806607"/>
                  <a:pt x="6761678" y="1782916"/>
                </a:cubicBezTo>
                <a:close/>
                <a:moveTo>
                  <a:pt x="5881240" y="18786"/>
                </a:moveTo>
                <a:cubicBezTo>
                  <a:pt x="6096236" y="18786"/>
                  <a:pt x="6311231" y="100804"/>
                  <a:pt x="6475267" y="264840"/>
                </a:cubicBezTo>
                <a:lnTo>
                  <a:pt x="6498525" y="288097"/>
                </a:lnTo>
                <a:cubicBezTo>
                  <a:pt x="6826598" y="616169"/>
                  <a:pt x="6826598" y="1148079"/>
                  <a:pt x="6498525" y="1476151"/>
                </a:cubicBezTo>
                <a:lnTo>
                  <a:pt x="2949108" y="5025568"/>
                </a:lnTo>
                <a:cubicBezTo>
                  <a:pt x="2621036" y="5353640"/>
                  <a:pt x="2089127" y="5353640"/>
                  <a:pt x="1761054" y="5025568"/>
                </a:cubicBezTo>
                <a:lnTo>
                  <a:pt x="1737797" y="5002311"/>
                </a:lnTo>
                <a:cubicBezTo>
                  <a:pt x="1409725" y="4674239"/>
                  <a:pt x="1409725" y="4142329"/>
                  <a:pt x="1737797" y="3814257"/>
                </a:cubicBezTo>
                <a:lnTo>
                  <a:pt x="5287213" y="264840"/>
                </a:lnTo>
                <a:cubicBezTo>
                  <a:pt x="5451251" y="100804"/>
                  <a:pt x="5666245" y="18785"/>
                  <a:pt x="5881240" y="18786"/>
                </a:cubicBezTo>
                <a:close/>
                <a:moveTo>
                  <a:pt x="3421136" y="0"/>
                </a:moveTo>
                <a:lnTo>
                  <a:pt x="5065590" y="0"/>
                </a:lnTo>
                <a:lnTo>
                  <a:pt x="5058235" y="13976"/>
                </a:lnTo>
                <a:cubicBezTo>
                  <a:pt x="5037063" y="46043"/>
                  <a:pt x="5012362" y="76465"/>
                  <a:pt x="4984132" y="104695"/>
                </a:cubicBezTo>
                <a:lnTo>
                  <a:pt x="1478980" y="3609848"/>
                </a:lnTo>
                <a:cubicBezTo>
                  <a:pt x="1253141" y="3835687"/>
                  <a:pt x="886985" y="3835687"/>
                  <a:pt x="661145" y="3609848"/>
                </a:cubicBezTo>
                <a:lnTo>
                  <a:pt x="645135" y="3593837"/>
                </a:lnTo>
                <a:cubicBezTo>
                  <a:pt x="419295" y="3367998"/>
                  <a:pt x="419295" y="3001841"/>
                  <a:pt x="645135" y="2776002"/>
                </a:cubicBezTo>
                <a:close/>
                <a:moveTo>
                  <a:pt x="1313944" y="0"/>
                </a:moveTo>
                <a:lnTo>
                  <a:pt x="2570790" y="0"/>
                </a:lnTo>
                <a:lnTo>
                  <a:pt x="2582282" y="38778"/>
                </a:lnTo>
                <a:cubicBezTo>
                  <a:pt x="2617570" y="221036"/>
                  <a:pt x="2564639" y="416997"/>
                  <a:pt x="2423489" y="558147"/>
                </a:cubicBezTo>
                <a:lnTo>
                  <a:pt x="1003226" y="1978410"/>
                </a:lnTo>
                <a:cubicBezTo>
                  <a:pt x="777387" y="2204250"/>
                  <a:pt x="411230" y="2204250"/>
                  <a:pt x="185390" y="1978410"/>
                </a:cubicBezTo>
                <a:lnTo>
                  <a:pt x="169380" y="1962401"/>
                </a:lnTo>
                <a:cubicBezTo>
                  <a:pt x="-56460" y="1736561"/>
                  <a:pt x="-56460" y="1370404"/>
                  <a:pt x="169380" y="1144565"/>
                </a:cubicBezTo>
                <a:close/>
              </a:path>
            </a:pathLst>
          </a:cu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58C5928-10E9-780D-B37F-27DFCEE2839F}"/>
              </a:ext>
            </a:extLst>
          </p:cNvPr>
          <p:cNvSpPr txBox="1"/>
          <p:nvPr/>
        </p:nvSpPr>
        <p:spPr>
          <a:xfrm>
            <a:off x="-1140425" y="2672756"/>
            <a:ext cx="6776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  <a:ea typeface="Inter" panose="02000503000000020004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97775-B1E4-6DB4-05D4-31800DE9F888}"/>
              </a:ext>
            </a:extLst>
          </p:cNvPr>
          <p:cNvSpPr txBox="1"/>
          <p:nvPr/>
        </p:nvSpPr>
        <p:spPr>
          <a:xfrm>
            <a:off x="-1140424" y="4119047"/>
            <a:ext cx="6776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D65D26"/>
                </a:solidFill>
                <a:latin typeface="Montserrat" pitchFamily="2" charset="0"/>
                <a:ea typeface="Inter" panose="02000503000000020004" pitchFamily="2" charset="0"/>
              </a:rPr>
              <a:t>Questions?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112D78-66C6-7E26-03F3-0131D433F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128" y="-201933"/>
            <a:ext cx="2136272" cy="221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54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204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Faisal Naem</dc:creator>
  <cp:lastModifiedBy>Faisal Naem</cp:lastModifiedBy>
  <cp:revision>7</cp:revision>
  <dcterms:created xsi:type="dcterms:W3CDTF">2025-12-16T16:08:56Z</dcterms:created>
  <dcterms:modified xsi:type="dcterms:W3CDTF">2025-12-17T11:34:08Z</dcterms:modified>
</cp:coreProperties>
</file>